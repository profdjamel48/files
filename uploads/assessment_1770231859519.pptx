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315" r:id="rId3"/>
    <p:sldId id="317" r:id="rId4"/>
    <p:sldId id="304" r:id="rId5"/>
    <p:sldId id="263" r:id="rId6"/>
    <p:sldId id="266" r:id="rId7"/>
    <p:sldId id="267" r:id="rId8"/>
    <p:sldId id="268" r:id="rId9"/>
    <p:sldId id="329" r:id="rId10"/>
    <p:sldId id="330" r:id="rId11"/>
    <p:sldId id="281" r:id="rId12"/>
    <p:sldId id="295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C571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2034A-0077-4D1D-A886-54A2D9A68AE0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7FDC7-1019-4F58-B834-93E80C8160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906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 smtClean="0"/>
              <a:t>Permet la mesure des progrès et doit servir à la mise en place de la remédiation</a:t>
            </a:r>
          </a:p>
          <a:p>
            <a:r>
              <a:rPr lang="fr-FR" sz="1200" dirty="0" smtClean="0">
                <a:sym typeface="Wingdings"/>
              </a:rPr>
              <a:t> </a:t>
            </a:r>
            <a:r>
              <a:rPr lang="fr-FR" sz="1200" dirty="0" smtClean="0"/>
              <a:t>Demande </a:t>
            </a:r>
            <a:r>
              <a:rPr lang="fr-FR" sz="1200" b="1" dirty="0" smtClean="0"/>
              <a:t>d’expliciter (rendre plus clair) l’évaluation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F3DF06-2D44-E146-A0F6-7B9B4AD9AE2E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214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AAC53-AF6B-4865-B6DA-747AFC374B41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6EAC0-A771-477B-9FB2-D44ABAC715EB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908312" y="500042"/>
            <a:ext cx="3378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1" eaLnBrk="0" hangingPunct="0">
              <a:spcBef>
                <a:spcPct val="0"/>
              </a:spcBef>
            </a:pPr>
            <a:r>
              <a:rPr lang="ar-SA" sz="2400" b="1" dirty="0">
                <a:solidFill>
                  <a:schemeClr val="bg1"/>
                </a:solidFill>
                <a:latin typeface="ae_Cortoba" pitchFamily="18" charset="-78"/>
                <a:cs typeface="+mj-cs"/>
              </a:rPr>
              <a:t>وزارة التربية الوطنية 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57224" y="0"/>
            <a:ext cx="7391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1">
              <a:spcBef>
                <a:spcPct val="0"/>
              </a:spcBef>
            </a:pPr>
            <a:r>
              <a:rPr lang="ar-SA" sz="2400" b="1" dirty="0">
                <a:solidFill>
                  <a:schemeClr val="bg1"/>
                </a:solidFill>
                <a:latin typeface="ae_Cortoba" pitchFamily="18" charset="-78"/>
                <a:cs typeface="+mj-cs"/>
              </a:rPr>
              <a:t>الجمهورية الجزائرية الديمقراطية الشعبية</a:t>
            </a:r>
            <a:endParaRPr lang="fr-FR" sz="2400" b="1" dirty="0">
              <a:solidFill>
                <a:schemeClr val="bg1"/>
              </a:solidFill>
              <a:latin typeface="ae_Cortoba" pitchFamily="18" charset="-78"/>
              <a:cs typeface="+mj-cs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285984" y="1038509"/>
            <a:ext cx="4705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1" eaLnBrk="0" hangingPunct="0">
              <a:spcBef>
                <a:spcPct val="0"/>
              </a:spcBef>
            </a:pPr>
            <a:r>
              <a:rPr lang="ar-SA" sz="2400" b="1" dirty="0">
                <a:solidFill>
                  <a:schemeClr val="bg1"/>
                </a:solidFill>
                <a:latin typeface="ae_Cortoba" pitchFamily="18" charset="-78"/>
                <a:cs typeface="+mj-cs"/>
              </a:rPr>
              <a:t>المفشية العامة</a:t>
            </a:r>
            <a:r>
              <a:rPr lang="ar-DZ" sz="2400" b="1" dirty="0">
                <a:solidFill>
                  <a:schemeClr val="bg1"/>
                </a:solidFill>
                <a:latin typeface="ae_Cortoba" pitchFamily="18" charset="-78"/>
                <a:cs typeface="+mj-cs"/>
              </a:rPr>
              <a:t> للبيداغوجيا</a:t>
            </a:r>
            <a:r>
              <a:rPr lang="ar-SA" sz="2400" b="1" dirty="0">
                <a:solidFill>
                  <a:schemeClr val="bg1"/>
                </a:solidFill>
                <a:latin typeface="ae_Cortoba" pitchFamily="18" charset="-78"/>
                <a:cs typeface="+mj-cs"/>
              </a:rPr>
              <a:t> </a:t>
            </a:r>
            <a:endParaRPr lang="fr-FR" sz="2400" dirty="0">
              <a:solidFill>
                <a:schemeClr val="bg1"/>
              </a:solidFill>
              <a:latin typeface="ae_Cortoba" pitchFamily="18" charset="-78"/>
              <a:cs typeface="+mj-cs"/>
            </a:endParaRPr>
          </a:p>
        </p:txBody>
      </p:sp>
      <p:pic>
        <p:nvPicPr>
          <p:cNvPr id="8" name="Picture 2" descr="G:\IMAGES ET GIFS\758705algerie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15272" y="0"/>
            <a:ext cx="928694" cy="928694"/>
          </a:xfrm>
          <a:prstGeom prst="rect">
            <a:avLst/>
          </a:prstGeom>
          <a:noFill/>
        </p:spPr>
      </p:pic>
      <p:sp>
        <p:nvSpPr>
          <p:cNvPr id="10" name="ZoneTexte 9"/>
          <p:cNvSpPr txBox="1"/>
          <p:nvPr/>
        </p:nvSpPr>
        <p:spPr>
          <a:xfrm>
            <a:off x="2123728" y="3717032"/>
            <a:ext cx="4867606" cy="12003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ar-DZ" sz="3600" b="1" dirty="0" smtClean="0"/>
              <a:t>تقويم التعلمات </a:t>
            </a:r>
          </a:p>
          <a:p>
            <a:pPr algn="ctr" rtl="1"/>
            <a:r>
              <a:rPr lang="ar-DZ" sz="3600" b="1" dirty="0" smtClean="0"/>
              <a:t>في وضعيات مركبة</a:t>
            </a:r>
            <a:endParaRPr lang="fr-FR" sz="3600" b="1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2123728" y="1916832"/>
            <a:ext cx="4878304" cy="135732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2400" b="1" dirty="0">
                <a:solidFill>
                  <a:schemeClr val="tx1"/>
                </a:solidFill>
              </a:rPr>
              <a:t>يوم تكويني لأساتذة مادة علوم الطبيعة والحياة</a:t>
            </a:r>
          </a:p>
          <a:p>
            <a:pPr algn="ctr" rtl="1"/>
            <a:r>
              <a:rPr lang="ar-DZ" sz="2400" b="1" dirty="0">
                <a:solidFill>
                  <a:schemeClr val="tx1"/>
                </a:solidFill>
              </a:rPr>
              <a:t>ثانوية</a:t>
            </a:r>
            <a:r>
              <a:rPr lang="fr-FR" sz="2400" b="1" dirty="0">
                <a:solidFill>
                  <a:schemeClr val="tx1"/>
                </a:solidFill>
              </a:rPr>
              <a:t> </a:t>
            </a:r>
            <a:r>
              <a:rPr lang="ar-DZ" sz="2400" b="1" dirty="0">
                <a:solidFill>
                  <a:schemeClr val="tx1"/>
                </a:solidFill>
              </a:rPr>
              <a:t> شارع الشهداء/ واد رهيو</a:t>
            </a:r>
          </a:p>
          <a:p>
            <a:pPr algn="ctr" rtl="1"/>
            <a:r>
              <a:rPr lang="ar-DZ" sz="2400" b="1">
                <a:solidFill>
                  <a:schemeClr val="tx1"/>
                </a:solidFill>
              </a:rPr>
              <a:t>04 فيفري 2026</a:t>
            </a:r>
            <a:endParaRPr lang="fr-FR" sz="2400" b="1" dirty="0">
              <a:solidFill>
                <a:schemeClr val="tx1"/>
              </a:solidFill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928934"/>
            <a:ext cx="1178100" cy="142876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14" name="Organigramme : Multidocument 13"/>
          <p:cNvSpPr/>
          <p:nvPr/>
        </p:nvSpPr>
        <p:spPr>
          <a:xfrm>
            <a:off x="142844" y="214290"/>
            <a:ext cx="1143008" cy="2000264"/>
          </a:xfrm>
          <a:prstGeom prst="flowChartMultidocumen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b="1" dirty="0" smtClean="0"/>
              <a:t>علوم الطبيعة والحياة</a:t>
            </a:r>
            <a:endParaRPr lang="ar-SA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142844" y="166285"/>
            <a:ext cx="2643206" cy="3908762"/>
          </a:xfrm>
          <a:prstGeom prst="rect">
            <a:avLst/>
          </a:prstGeom>
          <a:solidFill>
            <a:srgbClr val="A9C57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 rtl="1"/>
            <a:endParaRPr lang="ar-DZ" sz="2400" dirty="0" smtClean="0"/>
          </a:p>
          <a:p>
            <a:pPr lvl="1" algn="r" rtl="1"/>
            <a:r>
              <a:rPr lang="ar-DZ" sz="2000" b="1" dirty="0" smtClean="0"/>
              <a:t>التجنيد = تحريك لمجموعة من العمليات العقلية والأدائية المركبة تتضمن:</a:t>
            </a:r>
          </a:p>
          <a:p>
            <a:pPr lvl="1" algn="r" rtl="1"/>
            <a:r>
              <a:rPr lang="ar-DZ" sz="2000" b="1" dirty="0" smtClean="0"/>
              <a:t>الاختيار والتوظيف، </a:t>
            </a:r>
          </a:p>
          <a:p>
            <a:pPr lvl="1" algn="r" rtl="1"/>
            <a:r>
              <a:rPr lang="ar-DZ" sz="2000" b="1" dirty="0" smtClean="0"/>
              <a:t>الاستعمال والتطبيق، </a:t>
            </a:r>
          </a:p>
          <a:p>
            <a:pPr lvl="1" algn="r" rtl="1"/>
            <a:r>
              <a:rPr lang="ar-DZ" sz="2000" b="1" dirty="0" smtClean="0"/>
              <a:t>التبني، التمييز، </a:t>
            </a:r>
          </a:p>
          <a:p>
            <a:pPr lvl="1" algn="r" rtl="1"/>
            <a:r>
              <a:rPr lang="ar-DZ" sz="2000" b="1" dirty="0" smtClean="0"/>
              <a:t>التعميم والتخصيص، </a:t>
            </a:r>
          </a:p>
          <a:p>
            <a:pPr lvl="1" algn="r" rtl="1"/>
            <a:r>
              <a:rPr lang="ar-DZ" sz="2000" b="1" dirty="0" smtClean="0"/>
              <a:t>التكييف والتنظيم ، </a:t>
            </a:r>
          </a:p>
          <a:p>
            <a:pPr lvl="1" algn="r" rtl="1"/>
            <a:r>
              <a:rPr lang="ar-DZ" sz="2000" b="1" dirty="0" smtClean="0"/>
              <a:t>التنسيق والإدماج.</a:t>
            </a:r>
          </a:p>
          <a:p>
            <a:pPr algn="r" rtl="1"/>
            <a:endParaRPr lang="fr-FR" sz="2400" dirty="0"/>
          </a:p>
        </p:txBody>
      </p:sp>
      <p:sp>
        <p:nvSpPr>
          <p:cNvPr id="5" name="Rectangle 4"/>
          <p:cNvSpPr/>
          <p:nvPr/>
        </p:nvSpPr>
        <p:spPr>
          <a:xfrm>
            <a:off x="3000364" y="142852"/>
            <a:ext cx="6000792" cy="6215106"/>
          </a:xfrm>
          <a:prstGeom prst="rect">
            <a:avLst/>
          </a:prstGeom>
          <a:solidFill>
            <a:srgbClr val="A9C57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ar-DZ" sz="2400" b="1" dirty="0" smtClean="0">
              <a:solidFill>
                <a:schemeClr val="tx1"/>
              </a:solidFill>
            </a:endParaRPr>
          </a:p>
          <a:p>
            <a:pPr algn="r" rtl="1"/>
            <a:endParaRPr lang="ar-DZ" sz="2400" b="1" dirty="0">
              <a:solidFill>
                <a:schemeClr val="tx1"/>
              </a:solidFill>
            </a:endParaRPr>
          </a:p>
          <a:p>
            <a:pPr algn="r" rtl="1"/>
            <a:endParaRPr lang="ar-DZ" sz="2400" b="1" dirty="0" smtClean="0">
              <a:solidFill>
                <a:schemeClr val="tx1"/>
              </a:solidFill>
            </a:endParaRPr>
          </a:p>
          <a:p>
            <a:pPr algn="r" rtl="1"/>
            <a:r>
              <a:rPr lang="ar-DZ" sz="2400" b="1" dirty="0" smtClean="0">
                <a:solidFill>
                  <a:schemeClr val="tx1"/>
                </a:solidFill>
              </a:rPr>
              <a:t>يتدرب التلميذ وفق المقاربة بالكفاءات على تجنيد الموارد من أجل حسن التصرف في وضعيات مشكلة مختارة من الحياة اليومية:</a:t>
            </a:r>
          </a:p>
          <a:p>
            <a:pPr algn="r" rtl="1"/>
            <a:r>
              <a:rPr lang="ar-DZ" sz="2400" b="1" dirty="0" smtClean="0">
                <a:solidFill>
                  <a:schemeClr val="tx1"/>
                </a:solidFill>
              </a:rPr>
              <a:t>      يمارس المسعى العلمي يتمعن في الوضعيات، يحلل ويستدل، يُعِدُّ فرضيات، يقترح استراتيجيات الحل يمارس، يستدل، ينجز، يختار المعلومات، يحللها وينظمها ويقومها لبناء حلول وجيهة ومنسجمة . </a:t>
            </a:r>
            <a:br>
              <a:rPr lang="ar-DZ" sz="2400" b="1" dirty="0" smtClean="0">
                <a:solidFill>
                  <a:schemeClr val="tx1"/>
                </a:solidFill>
              </a:rPr>
            </a:br>
            <a:r>
              <a:rPr lang="ar-DZ" sz="2400" dirty="0" smtClean="0">
                <a:solidFill>
                  <a:schemeClr val="tx1"/>
                </a:solidFill>
              </a:rPr>
              <a:t/>
            </a:r>
            <a:br>
              <a:rPr lang="ar-DZ" sz="2400" dirty="0" smtClean="0">
                <a:solidFill>
                  <a:schemeClr val="tx1"/>
                </a:solidFill>
              </a:rPr>
            </a:br>
            <a:r>
              <a:rPr lang="ar-DZ" sz="2400" dirty="0" smtClean="0">
                <a:solidFill>
                  <a:schemeClr val="tx1"/>
                </a:solidFill>
              </a:rPr>
              <a:t/>
            </a:r>
            <a:br>
              <a:rPr lang="ar-DZ" sz="2400" dirty="0" smtClean="0">
                <a:solidFill>
                  <a:schemeClr val="tx1"/>
                </a:solidFill>
              </a:rPr>
            </a:br>
            <a:r>
              <a:rPr lang="ar-DZ" sz="2400" dirty="0" smtClean="0">
                <a:solidFill>
                  <a:schemeClr val="tx1"/>
                </a:solidFill>
              </a:rPr>
              <a:t>   </a:t>
            </a:r>
            <a:r>
              <a:rPr lang="ar-DZ" sz="2400" b="1" dirty="0" smtClean="0">
                <a:solidFill>
                  <a:schemeClr val="tx1"/>
                </a:solidFill>
              </a:rPr>
              <a:t>الوضعيات فرص لإرساء وتعزيز وتمتين الكفاءات</a:t>
            </a:r>
            <a:r>
              <a:rPr lang="ar-DZ" sz="2400" dirty="0" smtClean="0">
                <a:solidFill>
                  <a:schemeClr val="tx1"/>
                </a:solidFill>
              </a:rPr>
              <a:t>.</a:t>
            </a:r>
            <a:endParaRPr lang="fr-FR" sz="2400" dirty="0"/>
          </a:p>
        </p:txBody>
      </p:sp>
      <p:cxnSp>
        <p:nvCxnSpPr>
          <p:cNvPr id="15" name="Connecteur en arc 14"/>
          <p:cNvCxnSpPr/>
          <p:nvPr/>
        </p:nvCxnSpPr>
        <p:spPr>
          <a:xfrm rot="10800000">
            <a:off x="2357422" y="785794"/>
            <a:ext cx="1000132" cy="571504"/>
          </a:xfrm>
          <a:prstGeom prst="curvedConnector3">
            <a:avLst>
              <a:gd name="adj1" fmla="val -57803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lipse 20"/>
          <p:cNvSpPr/>
          <p:nvPr/>
        </p:nvSpPr>
        <p:spPr>
          <a:xfrm>
            <a:off x="3071802" y="1214422"/>
            <a:ext cx="1071570" cy="64294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tx1"/>
                </a:solidFill>
              </a:rPr>
              <a:t>التجنيد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28992" y="428604"/>
            <a:ext cx="1891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 smtClean="0"/>
              <a:t>LA MOBILISATION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571472" y="3073633"/>
            <a:ext cx="7858180" cy="1661993"/>
          </a:xfrm>
          <a:prstGeom prst="rect">
            <a:avLst/>
          </a:prstGeom>
          <a:solidFill>
            <a:srgbClr val="A9C57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rtl="1"/>
            <a:r>
              <a:rPr lang="ar-DZ" sz="4800" b="1" dirty="0" smtClean="0">
                <a:solidFill>
                  <a:srgbClr val="FFFF00"/>
                </a:solidFill>
                <a:latin typeface="Traditional Arabic" pitchFamily="18" charset="-78"/>
                <a:cs typeface="Traditional Arabic" pitchFamily="18" charset="-78"/>
              </a:rPr>
              <a:t>الكفاءة </a:t>
            </a:r>
            <a:r>
              <a:rPr lang="ar-DZ" sz="4800" b="1" dirty="0" smtClean="0">
                <a:latin typeface="Traditional Arabic" pitchFamily="18" charset="-78"/>
                <a:cs typeface="Traditional Arabic" pitchFamily="18" charset="-78"/>
              </a:rPr>
              <a:t>= تجنيد مجموعة  </a:t>
            </a:r>
            <a:r>
              <a:rPr lang="ar-DZ" sz="5400" b="1" dirty="0" smtClean="0">
                <a:solidFill>
                  <a:srgbClr val="FFFF00"/>
                </a:solidFill>
                <a:latin typeface="Traditional Arabic" pitchFamily="18" charset="-78"/>
                <a:cs typeface="Traditional Arabic" pitchFamily="18" charset="-78"/>
              </a:rPr>
              <a:t>موارد </a:t>
            </a:r>
            <a:r>
              <a:rPr lang="ar-DZ" sz="4800" b="1" dirty="0" smtClean="0">
                <a:latin typeface="Traditional Arabic" pitchFamily="18" charset="-78"/>
                <a:cs typeface="Traditional Arabic" pitchFamily="18" charset="-78"/>
              </a:rPr>
              <a:t> قصد حل وضعية مشكلة تنتمي إلى عائلة من الوضعيات</a:t>
            </a:r>
            <a:endParaRPr lang="fr-FR" sz="4800" b="1" dirty="0">
              <a:latin typeface="Traditional Arabic" pitchFamily="18" charset="-78"/>
              <a:cs typeface="Traditional Arabic" pitchFamily="18" charset="-78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555776" y="1484784"/>
            <a:ext cx="4291980" cy="646331"/>
          </a:xfrm>
          <a:prstGeom prst="rect">
            <a:avLst/>
          </a:prstGeom>
          <a:solidFill>
            <a:srgbClr val="A9C571"/>
          </a:solidFill>
        </p:spPr>
        <p:txBody>
          <a:bodyPr wrap="square" rtlCol="0">
            <a:spAutoFit/>
          </a:bodyPr>
          <a:lstStyle/>
          <a:p>
            <a:pPr algn="ctr"/>
            <a:r>
              <a:rPr lang="ar-DZ" sz="3600" b="1" dirty="0" smtClean="0"/>
              <a:t>بالعودة إلى تعريف الكفاءة :</a:t>
            </a:r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55576" y="4302438"/>
            <a:ext cx="7560839" cy="17188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dirty="0" smtClean="0">
                <a:solidFill>
                  <a:srgbClr val="FFFF00"/>
                </a:solidFill>
              </a:rPr>
              <a:t>Un élève est « </a:t>
            </a:r>
            <a:r>
              <a:rPr lang="fr-FR" b="1" dirty="0" smtClean="0">
                <a:solidFill>
                  <a:srgbClr val="FFFF00"/>
                </a:solidFill>
              </a:rPr>
              <a:t>compétent</a:t>
            </a:r>
            <a:r>
              <a:rPr lang="fr-FR" dirty="0" smtClean="0">
                <a:solidFill>
                  <a:srgbClr val="FFFF00"/>
                </a:solidFill>
              </a:rPr>
              <a:t> » lorsqu’il parvient </a:t>
            </a:r>
            <a:r>
              <a:rPr lang="fr-FR" b="1" dirty="0" smtClean="0">
                <a:solidFill>
                  <a:srgbClr val="FFFF00"/>
                </a:solidFill>
              </a:rPr>
              <a:t>seul</a:t>
            </a:r>
            <a:r>
              <a:rPr lang="fr-FR" dirty="0" smtClean="0">
                <a:solidFill>
                  <a:srgbClr val="FFFF00"/>
                </a:solidFill>
              </a:rPr>
              <a:t> à réaliser </a:t>
            </a:r>
            <a:r>
              <a:rPr lang="fr-FR" b="1" u="sng" dirty="0" smtClean="0">
                <a:solidFill>
                  <a:srgbClr val="FFFF00"/>
                </a:solidFill>
              </a:rPr>
              <a:t>des tâches complexes</a:t>
            </a:r>
            <a:r>
              <a:rPr lang="fr-FR" b="1" dirty="0" smtClean="0">
                <a:solidFill>
                  <a:srgbClr val="FFFF00"/>
                </a:solidFill>
              </a:rPr>
              <a:t>. </a:t>
            </a:r>
            <a:endParaRPr lang="fr-FR" b="1" dirty="0">
              <a:solidFill>
                <a:srgbClr val="FFFF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571736" y="1571612"/>
            <a:ext cx="3714776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3200" b="1" dirty="0" smtClean="0"/>
              <a:t>متى يكون المتعلم كفء؟</a:t>
            </a:r>
            <a:endParaRPr lang="fr-FR" sz="32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1071538" y="3286124"/>
            <a:ext cx="6429420" cy="10156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/>
              <a:t>يكون المتعلم كفء عندما يتمكن لوحده من </a:t>
            </a:r>
            <a:r>
              <a:rPr lang="ar-DZ" sz="3200" b="1" dirty="0" smtClean="0"/>
              <a:t>إنجاز</a:t>
            </a:r>
            <a:r>
              <a:rPr lang="ar-DZ" sz="2800" b="1" dirty="0" smtClean="0"/>
              <a:t> مهمات مركبة</a:t>
            </a:r>
            <a:endParaRPr lang="fr-FR" sz="2800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6446-DE76-43B0-89CF-E535F3C79B2E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13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5536" y="2143116"/>
            <a:ext cx="8352928" cy="3231654"/>
          </a:xfrm>
          <a:prstGeom prst="rect">
            <a:avLst/>
          </a:prstGeom>
          <a:solidFill>
            <a:srgbClr val="AEC87A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 rtl="1"/>
            <a:r>
              <a:rPr lang="ar-DZ" sz="3600" b="1" dirty="0" smtClean="0"/>
              <a:t>*التقويم القائم على الكفاءة يعتمد على تقويم كفاءة المتعلمين من خلال وضعيات مركبة.</a:t>
            </a:r>
          </a:p>
          <a:p>
            <a:pPr algn="ctr" rtl="1"/>
            <a:endParaRPr lang="ar-DZ" sz="3600" b="1" dirty="0" smtClean="0"/>
          </a:p>
          <a:p>
            <a:pPr algn="ctr" rtl="1"/>
            <a:r>
              <a:rPr lang="ar-DZ" sz="3600" b="1" dirty="0" smtClean="0"/>
              <a:t>*الأولوية للفهم والحل الشامل، وهو يمنح الاستقلالية يشجع على اختيار استراتيجيات مختلفة</a:t>
            </a:r>
          </a:p>
          <a:p>
            <a:pPr algn="r" rtl="1"/>
            <a:endParaRPr lang="ar-DZ" sz="2400" b="1" dirty="0" smtClean="0"/>
          </a:p>
        </p:txBody>
      </p:sp>
      <p:sp>
        <p:nvSpPr>
          <p:cNvPr id="4" name="Rectangle 3"/>
          <p:cNvSpPr/>
          <p:nvPr/>
        </p:nvSpPr>
        <p:spPr>
          <a:xfrm>
            <a:off x="2813504" y="836712"/>
            <a:ext cx="3516992" cy="70788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 rtl="1"/>
            <a:r>
              <a:rPr lang="ar-DZ" sz="4000" b="1" dirty="0" smtClean="0"/>
              <a:t>التقويم بالكفاءات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6446-DE76-43B0-89CF-E535F3C79B2E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1521256" y="717521"/>
            <a:ext cx="5715040" cy="707886"/>
          </a:xfrm>
          <a:prstGeom prst="rect">
            <a:avLst/>
          </a:prstGeom>
          <a:solidFill>
            <a:srgbClr val="A9C571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4000" b="1" dirty="0" smtClean="0"/>
              <a:t>التقويم بالكفاءات </a:t>
            </a:r>
            <a:endParaRPr lang="fr-FR" sz="4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1835696" y="2275131"/>
            <a:ext cx="5165196" cy="646331"/>
          </a:xfrm>
          <a:prstGeom prst="rect">
            <a:avLst/>
          </a:prstGeom>
          <a:solidFill>
            <a:srgbClr val="A9C571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3600" b="1" dirty="0" smtClean="0"/>
              <a:t>لا ينفصل عن الوضعيات المركبة</a:t>
            </a:r>
            <a:endParaRPr lang="fr-FR" sz="36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250215" y="3573016"/>
            <a:ext cx="8568951" cy="2062103"/>
          </a:xfrm>
          <a:prstGeom prst="rect">
            <a:avLst/>
          </a:prstGeom>
          <a:solidFill>
            <a:srgbClr val="A9C57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DZ" sz="3200" b="1" dirty="0" smtClean="0"/>
              <a:t>المهمة المركبة هي مهمة تجند :</a:t>
            </a:r>
          </a:p>
          <a:p>
            <a:pPr algn="r" rtl="1"/>
            <a:r>
              <a:rPr lang="ar-DZ" sz="3200" b="1" dirty="0" smtClean="0"/>
              <a:t>* موارد داخلية (ثقافة، قدرات ، معارف، مواقف...) </a:t>
            </a:r>
          </a:p>
          <a:p>
            <a:pPr algn="r" rtl="1"/>
            <a:r>
              <a:rPr lang="ar-DZ" sz="3200" b="1" dirty="0" smtClean="0"/>
              <a:t>* موارد خارجية (محتويات وثائق، مساعدة منهجية، بروتوكول، بطاقة تقنية، برمجية...).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6446-DE76-43B0-89CF-E535F3C79B2E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053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07504" y="1512878"/>
            <a:ext cx="8640960" cy="4031873"/>
          </a:xfrm>
          <a:prstGeom prst="rect">
            <a:avLst/>
          </a:prstGeom>
          <a:solidFill>
            <a:srgbClr val="A9C571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DZ" sz="3200" b="1" dirty="0" smtClean="0"/>
              <a:t>تطرح مشكلا، يطلب حله من قبل المتعلم، تحدي واقعي يرفعه.</a:t>
            </a:r>
          </a:p>
          <a:p>
            <a:pPr algn="r" rtl="1"/>
            <a:r>
              <a:rPr lang="ar-DZ" sz="3200" b="1" dirty="0" smtClean="0"/>
              <a:t>تستدعي الإنجاز، التفكير، الانخراط </a:t>
            </a:r>
            <a:r>
              <a:rPr lang="ar-DZ" sz="3200" b="1" dirty="0"/>
              <a:t>والالتزام</a:t>
            </a:r>
            <a:r>
              <a:rPr lang="ar-DZ" sz="3200" b="1" dirty="0" smtClean="0"/>
              <a:t>.</a:t>
            </a:r>
          </a:p>
          <a:p>
            <a:pPr algn="r" rtl="1"/>
            <a:r>
              <a:rPr lang="ar-DZ" sz="3200" b="1" dirty="0" smtClean="0"/>
              <a:t>تضع عوائق تتغير حسب </a:t>
            </a:r>
            <a:r>
              <a:rPr lang="ar-DZ" sz="3200" b="1" dirty="0"/>
              <a:t>حاجات المتعلم</a:t>
            </a:r>
            <a:r>
              <a:rPr lang="ar-DZ" sz="3200" b="1" dirty="0" smtClean="0"/>
              <a:t>.</a:t>
            </a:r>
          </a:p>
          <a:p>
            <a:pPr algn="r" rtl="1"/>
            <a:r>
              <a:rPr lang="ar-DZ" sz="3200" b="1" dirty="0" smtClean="0"/>
              <a:t>تسمح بالقيام بمحاولات وأخطاء واختيارات.</a:t>
            </a:r>
          </a:p>
          <a:p>
            <a:pPr algn="r" rtl="1"/>
            <a:r>
              <a:rPr lang="ar-DZ" sz="3200" b="1" dirty="0" smtClean="0"/>
              <a:t>تدفع إلى تجنيد جملة من الموارد في آن واحد.</a:t>
            </a:r>
          </a:p>
          <a:p>
            <a:pPr algn="r" rtl="1"/>
            <a:r>
              <a:rPr lang="ar-DZ" sz="3200" b="1" dirty="0" smtClean="0"/>
              <a:t>تسمح للمتعلم ببناء إجابة شخصية ومقبولة.</a:t>
            </a:r>
          </a:p>
          <a:p>
            <a:pPr algn="r" rtl="1"/>
            <a:r>
              <a:rPr lang="ar-DZ" sz="3200" b="1" dirty="0" smtClean="0"/>
              <a:t>تسمح بالتشارك والتعاون والتفاعل من متعلمين آخرين أو المعلم.</a:t>
            </a:r>
          </a:p>
          <a:p>
            <a:pPr algn="r" rtl="1"/>
            <a:r>
              <a:rPr lang="ar-DZ" sz="3200" b="1" dirty="0" smtClean="0"/>
              <a:t>تسمح للمتعلم بأن يحدد موقعه من الكفاءات ويقوم ذاته. </a:t>
            </a:r>
            <a:endParaRPr lang="fr-FR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2982545" y="714356"/>
            <a:ext cx="2813591" cy="70788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 algn="ctr" rtl="1"/>
            <a:r>
              <a:rPr lang="ar-DZ" sz="4000" b="1" dirty="0" smtClean="0"/>
              <a:t>المهمة المركبة؟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6446-DE76-43B0-89CF-E535F3C79B2E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51520" y="2357430"/>
            <a:ext cx="8640960" cy="1446550"/>
          </a:xfrm>
          <a:prstGeom prst="rect">
            <a:avLst/>
          </a:prstGeom>
          <a:solidFill>
            <a:srgbClr val="AEC87A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 rtl="1"/>
            <a:r>
              <a:rPr lang="ar-DZ" sz="4400" b="1" dirty="0" smtClean="0"/>
              <a:t>تنطبق ممارسة المسعى العلمي على المهمات المركبة، لكونها وضعيات تجند الموارد</a:t>
            </a:r>
            <a:endParaRPr lang="fr-FR" sz="4400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6446-DE76-43B0-89CF-E535F3C79B2E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429298"/>
            <a:ext cx="8640960" cy="4401205"/>
          </a:xfrm>
          <a:prstGeom prst="rect">
            <a:avLst/>
          </a:prstGeom>
          <a:solidFill>
            <a:srgbClr val="A9C571"/>
          </a:solidFill>
        </p:spPr>
        <p:txBody>
          <a:bodyPr wrap="square">
            <a:spAutoFit/>
          </a:bodyPr>
          <a:lstStyle/>
          <a:p>
            <a:pPr algn="r" rtl="1"/>
            <a:r>
              <a:rPr lang="ar-DZ" sz="2400" b="1" dirty="0" smtClean="0"/>
              <a:t>• </a:t>
            </a:r>
            <a:r>
              <a:rPr lang="ar-DZ" sz="2800" b="1" dirty="0" smtClean="0"/>
              <a:t>المهمة المركبة تدرج في سياق </a:t>
            </a:r>
          </a:p>
          <a:p>
            <a:pPr algn="r" rtl="1"/>
            <a:r>
              <a:rPr lang="ar-DZ" sz="2800" b="1" dirty="0" smtClean="0"/>
              <a:t>• تمثل تحديا للمتعلم</a:t>
            </a:r>
          </a:p>
          <a:p>
            <a:pPr algn="r" rtl="1"/>
            <a:r>
              <a:rPr lang="ar-DZ" sz="2800" b="1" dirty="0" smtClean="0"/>
              <a:t>• تمثل مشكلة أو موقفا يتطلب معالجة أو نقصا تنشأ عنه حاجة وتستوجب التدخل والعمل.</a:t>
            </a:r>
          </a:p>
          <a:p>
            <a:pPr algn="r" rtl="1"/>
            <a:r>
              <a:rPr lang="ar-DZ" sz="2800" b="1" dirty="0" smtClean="0"/>
              <a:t>• المهمة المركبة لها غاية، فهي تقدم هدفاً يجب تحقيقه، انجازا ملموسا. هذا  الهدف الملموس – أي الناتج النهائي القابل للتحديد والملاحظ – هو الذي يساعد المعلم على تحقيق الأهداف التي اقترحها.</a:t>
            </a:r>
          </a:p>
          <a:p>
            <a:pPr algn="r" rtl="1"/>
            <a:r>
              <a:rPr lang="ar-DZ" sz="2800" b="1" dirty="0" smtClean="0"/>
              <a:t>• المهمة المركبة ذات طبيعة تفاعلية وديناميكية</a:t>
            </a:r>
          </a:p>
          <a:p>
            <a:pPr algn="r" rtl="1"/>
            <a:r>
              <a:rPr lang="ar-DZ" sz="2800" b="1" dirty="0" smtClean="0"/>
              <a:t>• تنطوي المهمة المركبة على وضع الوثائق في خدمة الإجراء وليس فقط المهام في خدمة الوثائق.</a:t>
            </a:r>
            <a:endParaRPr lang="fr-FR" sz="28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2699792" y="714918"/>
            <a:ext cx="3857652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3600" b="1" dirty="0" smtClean="0"/>
              <a:t>مميزات المهمة المركبة</a:t>
            </a:r>
            <a:endParaRPr lang="fr-FR" sz="3600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6446-DE76-43B0-89CF-E535F3C79B2E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1988840"/>
            <a:ext cx="8568952" cy="2308324"/>
          </a:xfrm>
          <a:prstGeom prst="rect">
            <a:avLst/>
          </a:prstGeom>
          <a:solidFill>
            <a:srgbClr val="A9C571"/>
          </a:solidFill>
        </p:spPr>
        <p:txBody>
          <a:bodyPr wrap="square">
            <a:spAutoFit/>
          </a:bodyPr>
          <a:lstStyle/>
          <a:p>
            <a:pPr algn="ctr" rtl="1"/>
            <a:r>
              <a:rPr lang="ar-DZ" sz="3600" b="1" dirty="0" smtClean="0"/>
              <a:t>تسمح بتنمية الاستقلالية</a:t>
            </a:r>
            <a:endParaRPr lang="ar-DZ" sz="3600" b="1" dirty="0"/>
          </a:p>
          <a:p>
            <a:pPr algn="ctr" rtl="1"/>
            <a:r>
              <a:rPr lang="ar-DZ" sz="3600" b="1" dirty="0" smtClean="0"/>
              <a:t>تدفع إلى تجنيد موارد</a:t>
            </a:r>
            <a:endParaRPr lang="ar-DZ" sz="3600" b="1" dirty="0"/>
          </a:p>
          <a:p>
            <a:pPr algn="ctr" rtl="1"/>
            <a:r>
              <a:rPr lang="ar-DZ" sz="3600" b="1" dirty="0" smtClean="0"/>
              <a:t>تنمي كفاءات عرضية</a:t>
            </a:r>
            <a:endParaRPr lang="ar-DZ" sz="3600" b="1" dirty="0"/>
          </a:p>
          <a:p>
            <a:pPr algn="ctr" rtl="1"/>
            <a:r>
              <a:rPr lang="ar-DZ" sz="3600" b="1" dirty="0" smtClean="0"/>
              <a:t>تفسح المجال لحلول </a:t>
            </a:r>
            <a:r>
              <a:rPr lang="ar-DZ" sz="3600" b="1" dirty="0" smtClean="0">
                <a:solidFill>
                  <a:schemeClr val="accent6">
                    <a:lumMod val="50000"/>
                  </a:schemeClr>
                </a:solidFill>
              </a:rPr>
              <a:t>مختلفة مقبولة</a:t>
            </a:r>
            <a:endParaRPr lang="fr-FR" sz="3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475656" y="714356"/>
            <a:ext cx="6480720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3600" b="1" dirty="0" smtClean="0"/>
              <a:t>مميزات المهمة المركبة الوجيهة</a:t>
            </a:r>
            <a:endParaRPr lang="fr-FR" sz="3600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6446-DE76-43B0-89CF-E535F3C79B2E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55776" y="219859"/>
            <a:ext cx="4826962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ar-DZ" sz="3600" b="1" dirty="0" smtClean="0"/>
              <a:t>1- خطوات تصميم مهمة مركبة</a:t>
            </a:r>
            <a:endParaRPr lang="fr-FR" sz="3600" b="1" dirty="0"/>
          </a:p>
        </p:txBody>
      </p:sp>
      <p:sp>
        <p:nvSpPr>
          <p:cNvPr id="4" name="Rectangle 3"/>
          <p:cNvSpPr/>
          <p:nvPr/>
        </p:nvSpPr>
        <p:spPr>
          <a:xfrm flipH="1">
            <a:off x="35496" y="908720"/>
            <a:ext cx="9036496" cy="5109091"/>
          </a:xfrm>
          <a:prstGeom prst="rect">
            <a:avLst/>
          </a:prstGeom>
          <a:solidFill>
            <a:srgbClr val="A9C571"/>
          </a:solidFill>
        </p:spPr>
        <p:txBody>
          <a:bodyPr wrap="square">
            <a:spAutoFit/>
          </a:bodyPr>
          <a:lstStyle/>
          <a:p>
            <a:pPr algn="r" rtl="1"/>
            <a:r>
              <a:rPr lang="ar-DZ" sz="2800" dirty="0" smtClean="0"/>
              <a:t>1 - إعداد وضعية مشكلة (مقدمة بسيناريو (</a:t>
            </a:r>
            <a:r>
              <a:rPr lang="fr-FR" sz="2400" dirty="0" smtClean="0"/>
              <a:t>scénarisée</a:t>
            </a:r>
            <a:r>
              <a:rPr lang="ar-DZ" sz="2800" dirty="0" smtClean="0"/>
              <a:t>))، ملموسة، جديدة،</a:t>
            </a:r>
          </a:p>
          <a:p>
            <a:pPr algn="r" rtl="1"/>
            <a:r>
              <a:rPr lang="ar-DZ" sz="2800" dirty="0"/>
              <a:t> </a:t>
            </a:r>
            <a:r>
              <a:rPr lang="ar-DZ" sz="2800" dirty="0" smtClean="0"/>
              <a:t>  مأخوذة من الواقع.  </a:t>
            </a:r>
            <a:r>
              <a:rPr lang="ar-DZ" sz="2800" b="1" u="sng" dirty="0" smtClean="0"/>
              <a:t>من أجل التحفيز</a:t>
            </a:r>
          </a:p>
          <a:p>
            <a:pPr algn="r" rtl="1"/>
            <a:endParaRPr lang="fr-FR" sz="1400" dirty="0" smtClean="0"/>
          </a:p>
          <a:p>
            <a:pPr algn="r" rtl="1"/>
            <a:r>
              <a:rPr lang="ar-DZ" sz="2800" dirty="0" smtClean="0"/>
              <a:t>2ـ إعطاء تعليمة شاملة ودقيقة في نفس الوقت: يجب على المتعلم أن يفهم ما هو</a:t>
            </a:r>
          </a:p>
          <a:p>
            <a:pPr algn="r" rtl="1"/>
            <a:r>
              <a:rPr lang="ar-DZ" sz="2800" dirty="0"/>
              <a:t> </a:t>
            </a:r>
            <a:r>
              <a:rPr lang="ar-DZ" sz="2800" dirty="0" smtClean="0"/>
              <a:t>  متوقع منه ، دون أن يسترشد بأسئلة مجزأة. </a:t>
            </a:r>
            <a:r>
              <a:rPr lang="ar-DZ" sz="2800" b="1" u="sng" dirty="0" smtClean="0"/>
              <a:t>من أجل الاستقلالية</a:t>
            </a:r>
          </a:p>
          <a:p>
            <a:pPr algn="r" rtl="1"/>
            <a:endParaRPr lang="ar-DZ" sz="1400" dirty="0" smtClean="0"/>
          </a:p>
          <a:p>
            <a:pPr algn="r" rtl="1"/>
            <a:r>
              <a:rPr lang="ar-DZ" sz="2800" dirty="0" smtClean="0"/>
              <a:t>3- تحديد الشكل المتوقع للإجابة.</a:t>
            </a:r>
          </a:p>
          <a:p>
            <a:pPr algn="r" rtl="1"/>
            <a:endParaRPr lang="ar-DZ" sz="1100" dirty="0" smtClean="0"/>
          </a:p>
          <a:p>
            <a:pPr algn="r" rtl="1"/>
            <a:r>
              <a:rPr lang="ar-DZ" sz="2800" dirty="0" smtClean="0"/>
              <a:t>4- توفير الموارد الخارجية: وثائق، حقائق ، صور، نتائج، برمجيات ...</a:t>
            </a:r>
          </a:p>
          <a:p>
            <a:pPr algn="r" rtl="1"/>
            <a:endParaRPr lang="ar-DZ" sz="2400" dirty="0" smtClean="0"/>
          </a:p>
          <a:p>
            <a:pPr algn="r" rtl="1"/>
            <a:r>
              <a:rPr lang="ar-DZ" sz="2800" dirty="0" smtClean="0"/>
              <a:t>5- تقديم المساعدة: المنهجية والتقنية والإجرائية والمعرفية ...</a:t>
            </a:r>
            <a:r>
              <a:rPr lang="ar-DZ" sz="2800" b="1" u="sng" dirty="0" smtClean="0"/>
              <a:t> من أجل التفريد</a:t>
            </a:r>
          </a:p>
          <a:p>
            <a:pPr algn="r" rtl="1"/>
            <a:endParaRPr lang="ar-DZ" sz="1100" dirty="0" smtClean="0"/>
          </a:p>
          <a:p>
            <a:pPr algn="r" rtl="1"/>
            <a:r>
              <a:rPr lang="ar-DZ" sz="2800" dirty="0" smtClean="0"/>
              <a:t>6ـ توفير معايير ومؤشرات النجاح لتحديد ما ننتظره في المنتوج. </a:t>
            </a:r>
            <a:r>
              <a:rPr lang="ar-DZ" sz="2800" b="1" u="sng" dirty="0" smtClean="0"/>
              <a:t>من أجل </a:t>
            </a:r>
          </a:p>
          <a:p>
            <a:pPr algn="r" rtl="1"/>
            <a:r>
              <a:rPr lang="ar-DZ" sz="2800" b="1" dirty="0"/>
              <a:t> </a:t>
            </a:r>
            <a:r>
              <a:rPr lang="ar-DZ" sz="2800" b="1" dirty="0" smtClean="0"/>
              <a:t> </a:t>
            </a:r>
            <a:r>
              <a:rPr lang="ar-DZ" sz="2800" b="1" u="sng" dirty="0" smtClean="0"/>
              <a:t>التقييم، التقييم الذاتي، المعالجة.</a:t>
            </a:r>
            <a:endParaRPr lang="fr-FR" sz="2800" b="1" u="sng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6446-DE76-43B0-89CF-E535F3C79B2E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142976" y="260648"/>
            <a:ext cx="6715172" cy="58477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 rtl="1"/>
            <a:r>
              <a:rPr lang="ar-DZ" sz="3200" b="1" dirty="0" smtClean="0"/>
              <a:t>شروط تقويم الكفاءات بالوضعيات المركبة</a:t>
            </a:r>
            <a:endParaRPr lang="fr-FR" sz="32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285720" y="1405015"/>
            <a:ext cx="8358246" cy="5016758"/>
          </a:xfrm>
          <a:prstGeom prst="rect">
            <a:avLst/>
          </a:prstGeom>
          <a:solidFill>
            <a:srgbClr val="A9C571"/>
          </a:solidFill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DZ" sz="3200" b="1" dirty="0" smtClean="0"/>
              <a:t>الشروط: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3200" b="1" dirty="0" smtClean="0"/>
              <a:t>التأكد من امتلاك المتعلم لكل الموارد؛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3200" b="1" dirty="0" smtClean="0"/>
              <a:t>أن يكون المتعلم قد تناول وضعيتين على الأقل من نفس المستوى ومن نفس عائلة الكفاءات؛</a:t>
            </a:r>
          </a:p>
          <a:p>
            <a:pPr algn="r" rtl="1">
              <a:buFont typeface="Wingdings" pitchFamily="2" charset="2"/>
              <a:buChar char="ü"/>
            </a:pPr>
            <a:r>
              <a:rPr lang="ar-DZ" sz="3200" b="1" dirty="0" smtClean="0"/>
              <a:t>الحرص كي لا تكون الوضعية أصعب من الوضعيات المتناولة أثناء التعلمات.</a:t>
            </a:r>
          </a:p>
          <a:p>
            <a:pPr algn="r" rtl="1"/>
            <a:r>
              <a:rPr lang="ar-DZ" sz="3200" b="1" dirty="0" smtClean="0"/>
              <a:t>يجب أن تكون نظرة المعلم متعددة وتنتظم حول معايير ومؤشرات، وعلى هذا الأساس تتم المصادقة أو عدم المصادقة على الكفاءة وكذلك تحديد الصعوبات التي واجهت المتعلمين واقتراح إجراءات المعالجة.</a:t>
            </a:r>
            <a:endParaRPr lang="fr-FR" sz="32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6446-DE76-43B0-89CF-E535F3C79B2E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597</TotalTime>
  <Words>645</Words>
  <Application>Microsoft Office PowerPoint</Application>
  <PresentationFormat>Affichage à l'écran (4:3)</PresentationFormat>
  <Paragraphs>93</Paragraphs>
  <Slides>12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PC</dc:creator>
  <cp:lastModifiedBy>ASUS</cp:lastModifiedBy>
  <cp:revision>33</cp:revision>
  <dcterms:created xsi:type="dcterms:W3CDTF">2019-01-19T04:24:36Z</dcterms:created>
  <dcterms:modified xsi:type="dcterms:W3CDTF">2026-02-03T22:09:07Z</dcterms:modified>
</cp:coreProperties>
</file>