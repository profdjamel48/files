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handoutMasterIdLst>
    <p:handoutMasterId r:id="rId22"/>
  </p:handoutMasterIdLst>
  <p:sldIdLst>
    <p:sldId id="360" r:id="rId2"/>
    <p:sldId id="361" r:id="rId3"/>
    <p:sldId id="348" r:id="rId4"/>
    <p:sldId id="349" r:id="rId5"/>
    <p:sldId id="347" r:id="rId6"/>
    <p:sldId id="350" r:id="rId7"/>
    <p:sldId id="324" r:id="rId8"/>
    <p:sldId id="326" r:id="rId9"/>
    <p:sldId id="327" r:id="rId10"/>
    <p:sldId id="300" r:id="rId11"/>
    <p:sldId id="301" r:id="rId12"/>
    <p:sldId id="353" r:id="rId13"/>
    <p:sldId id="344" r:id="rId14"/>
    <p:sldId id="346" r:id="rId15"/>
    <p:sldId id="355" r:id="rId16"/>
    <p:sldId id="328" r:id="rId17"/>
    <p:sldId id="329" r:id="rId18"/>
    <p:sldId id="341" r:id="rId19"/>
    <p:sldId id="359" r:id="rId20"/>
  </p:sldIdLst>
  <p:sldSz cx="9144000" cy="6858000" type="screen4x3"/>
  <p:notesSz cx="9144000" cy="6858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5995F"/>
    <a:srgbClr val="009E47"/>
    <a:srgbClr val="B2DE82"/>
    <a:srgbClr val="45C783"/>
    <a:srgbClr val="ABC674"/>
    <a:srgbClr val="FFCC99"/>
    <a:srgbClr val="C9676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0" d="100"/>
          <a:sy n="60" d="100"/>
        </p:scale>
        <p:origin x="-1656" y="-2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5179484" y="0"/>
            <a:ext cx="3962400" cy="342900"/>
          </a:xfrm>
          <a:prstGeom prst="rect">
            <a:avLst/>
          </a:prstGeom>
        </p:spPr>
        <p:txBody>
          <a:bodyPr vert="horz" lIns="91440" tIns="45720" rIns="91440" bIns="45720" rtlCol="0"/>
          <a:lstStyle>
            <a:lvl1pPr algn="r">
              <a:defRPr sz="1200"/>
            </a:lvl1pPr>
          </a:lstStyle>
          <a:p>
            <a:fld id="{3AA93DA2-EFC5-4FD8-AD30-A9E4B535DE05}" type="datetimeFigureOut">
              <a:rPr lang="fr-FR" smtClean="0"/>
              <a:t>03/02/2026</a:t>
            </a:fld>
            <a:endParaRPr lang="fr-FR"/>
          </a:p>
        </p:txBody>
      </p:sp>
      <p:sp>
        <p:nvSpPr>
          <p:cNvPr id="4" name="Espace réservé du pied de page 3"/>
          <p:cNvSpPr>
            <a:spLocks noGrp="1"/>
          </p:cNvSpPr>
          <p:nvPr>
            <p:ph type="ftr" sz="quarter" idx="2"/>
          </p:nvPr>
        </p:nvSpPr>
        <p:spPr>
          <a:xfrm>
            <a:off x="0" y="6513910"/>
            <a:ext cx="3962400" cy="342900"/>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5179484" y="6513910"/>
            <a:ext cx="3962400" cy="342900"/>
          </a:xfrm>
          <a:prstGeom prst="rect">
            <a:avLst/>
          </a:prstGeom>
        </p:spPr>
        <p:txBody>
          <a:bodyPr vert="horz" lIns="91440" tIns="45720" rIns="91440" bIns="45720" rtlCol="0" anchor="b"/>
          <a:lstStyle>
            <a:lvl1pPr algn="r">
              <a:defRPr sz="1200"/>
            </a:lvl1pPr>
          </a:lstStyle>
          <a:p>
            <a:fld id="{5A983F1B-B7DB-4A5B-B38C-42F8BEED87FE}" type="slidenum">
              <a:rPr lang="fr-FR" smtClean="0"/>
              <a:t>‹N°›</a:t>
            </a:fld>
            <a:endParaRPr lang="fr-FR"/>
          </a:p>
        </p:txBody>
      </p:sp>
    </p:spTree>
    <p:extLst>
      <p:ext uri="{BB962C8B-B14F-4D97-AF65-F5344CB8AC3E}">
        <p14:creationId xmlns:p14="http://schemas.microsoft.com/office/powerpoint/2010/main" val="18044170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fld id="{E879DD3F-1586-404B-B15C-369C1101550F}" type="datetimeFigureOut">
              <a:rPr lang="fr-FR" smtClean="0"/>
              <a:t>03/02/2026</a:t>
            </a:fld>
            <a:endParaRPr lang="fr-FR"/>
          </a:p>
        </p:txBody>
      </p:sp>
      <p:sp>
        <p:nvSpPr>
          <p:cNvPr id="4" name="Espace réservé de l'image des diapositives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278AF6F4-B8F4-4420-9EBB-48526FB1BFBF}" type="slidenum">
              <a:rPr lang="fr-FR" smtClean="0"/>
              <a:t>‹N°›</a:t>
            </a:fld>
            <a:endParaRPr lang="fr-FR"/>
          </a:p>
        </p:txBody>
      </p:sp>
    </p:spTree>
    <p:extLst>
      <p:ext uri="{BB962C8B-B14F-4D97-AF65-F5344CB8AC3E}">
        <p14:creationId xmlns:p14="http://schemas.microsoft.com/office/powerpoint/2010/main" val="2531761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smtClean="0"/>
              <a:t>Cliquez pour modifier le style du titre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lang="fr-FR"/>
          </a:p>
        </p:txBody>
      </p:sp>
      <p:sp>
        <p:nvSpPr>
          <p:cNvPr id="4" name="Espace réservé de la date 3"/>
          <p:cNvSpPr>
            <a:spLocks noGrp="1"/>
          </p:cNvSpPr>
          <p:nvPr>
            <p:ph type="dt" sz="half" idx="10"/>
          </p:nvPr>
        </p:nvSpPr>
        <p:spPr/>
        <p:txBody>
          <a:bodyPr/>
          <a:lstStyle/>
          <a:p>
            <a:fld id="{E80BAE95-EB3F-4F23-B911-0F509E160AE8}" type="datetime1">
              <a:rPr lang="fr-FR" smtClean="0"/>
              <a:t>03/02/2026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0BFA6C5E-AA5E-44D9-98D8-E3BF1AB628E5}"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71D0307C-85F9-4E7B-A6AE-BB937B6C433C}" type="datetime1">
              <a:rPr lang="fr-FR" smtClean="0"/>
              <a:t>03/02/2026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0BFA6C5E-AA5E-44D9-98D8-E3BF1AB628E5}"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Cliquez pour modifier le style du titre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Cliquez pour modifier les styles du texte du masque</a:t>
            </a:r>
          </a:p>
        </p:txBody>
      </p:sp>
      <p:sp>
        <p:nvSpPr>
          <p:cNvPr id="4" name="Espace réservé de la date 3"/>
          <p:cNvSpPr>
            <a:spLocks noGrp="1"/>
          </p:cNvSpPr>
          <p:nvPr>
            <p:ph type="dt" sz="half" idx="10"/>
          </p:nvPr>
        </p:nvSpPr>
        <p:spPr/>
        <p:txBody>
          <a:bodyPr/>
          <a:lstStyle/>
          <a:p>
            <a:fld id="{12E747F8-DCD6-41F2-8D14-0905AD259C1F}" type="datetime1">
              <a:rPr lang="fr-FR" smtClean="0"/>
              <a:t>03/02/2026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0BFA6C5E-AA5E-44D9-98D8-E3BF1AB628E5}"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1A0B7A57-8300-4738-B876-D8774827E345}" type="datetime1">
              <a:rPr lang="fr-FR" smtClean="0"/>
              <a:t>03/02/2026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0BFA6C5E-AA5E-44D9-98D8-E3BF1AB628E5}"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9A6BF04B-3790-49BD-AAC1-C38440E114C9}" type="datetime1">
              <a:rPr lang="fr-FR" smtClean="0"/>
              <a:t>03/02/2026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0BFA6C5E-AA5E-44D9-98D8-E3BF1AB628E5}"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e la date 2"/>
          <p:cNvSpPr>
            <a:spLocks noGrp="1"/>
          </p:cNvSpPr>
          <p:nvPr>
            <p:ph type="dt" sz="half" idx="10"/>
          </p:nvPr>
        </p:nvSpPr>
        <p:spPr/>
        <p:txBody>
          <a:bodyPr/>
          <a:lstStyle/>
          <a:p>
            <a:fld id="{3336E75A-B77C-462D-BC37-4460CEEF19EB}" type="datetime1">
              <a:rPr lang="fr-FR" smtClean="0"/>
              <a:t>03/02/2026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0BFA6C5E-AA5E-44D9-98D8-E3BF1AB628E5}"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40408841-070A-47B7-863C-67392C24513C}" type="datetime1">
              <a:rPr lang="fr-FR" smtClean="0"/>
              <a:t>03/02/2026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0BFA6C5E-AA5E-44D9-98D8-E3BF1AB628E5}"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Cliquez pour modifier le style du titre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36319CE8-65C4-4125-A607-963B6854C2C4}" type="datetime1">
              <a:rPr lang="fr-FR" smtClean="0"/>
              <a:t>03/02/2026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0BFA6C5E-AA5E-44D9-98D8-E3BF1AB628E5}"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Cliquez pour modifier le style du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CD28F8CF-AF1B-43C6-9749-6FDD9444562E}" type="datetime1">
              <a:rPr lang="fr-FR" smtClean="0"/>
              <a:t>03/02/2026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0BFA6C5E-AA5E-44D9-98D8-E3BF1AB628E5}"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77EED86E-548C-4599-874B-D0FAFF10E3BF}" type="datetime1">
              <a:rPr lang="fr-FR" smtClean="0"/>
              <a:t>03/02/2026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0BFA6C5E-AA5E-44D9-98D8-E3BF1AB628E5}"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Cliquez pour modifier le style du titre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D9956595-03B6-4E55-B440-1603DAE72DD2}" type="datetime1">
              <a:rPr lang="fr-FR" smtClean="0"/>
              <a:t>03/02/2026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0BFA6C5E-AA5E-44D9-98D8-E3BF1AB628E5}"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D2C733-40AD-4B3F-98C4-560F5ABFE895}" type="datetime1">
              <a:rPr lang="fr-FR" smtClean="0"/>
              <a:t>03/02/2026</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FA6C5E-AA5E-44D9-98D8-E3BF1AB628E5}"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Image associÃ©e"/>
          <p:cNvPicPr>
            <a:picLocks noChangeAspect="1" noChangeArrowheads="1"/>
          </p:cNvPicPr>
          <p:nvPr/>
        </p:nvPicPr>
        <p:blipFill>
          <a:blip r:embed="rId2" cstate="print"/>
          <a:srcRect/>
          <a:stretch>
            <a:fillRect/>
          </a:stretch>
        </p:blipFill>
        <p:spPr bwMode="auto">
          <a:xfrm>
            <a:off x="-23784" y="0"/>
            <a:ext cx="9144000" cy="6786586"/>
          </a:xfrm>
          <a:prstGeom prst="rect">
            <a:avLst/>
          </a:prstGeom>
          <a:noFill/>
        </p:spPr>
      </p:pic>
      <p:sp>
        <p:nvSpPr>
          <p:cNvPr id="3" name="Organigramme : Multidocument 2"/>
          <p:cNvSpPr/>
          <p:nvPr/>
        </p:nvSpPr>
        <p:spPr>
          <a:xfrm>
            <a:off x="214282" y="285728"/>
            <a:ext cx="1143008" cy="2000264"/>
          </a:xfrm>
          <a:prstGeom prst="flowChartMultidocument">
            <a:avLst/>
          </a:prstGeom>
          <a:solidFill>
            <a:srgbClr val="ABC674"/>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b="1" dirty="0" smtClean="0">
                <a:solidFill>
                  <a:schemeClr val="tx1"/>
                </a:solidFill>
                <a:cs typeface="Al-Hadith1" pitchFamily="2" charset="-78"/>
              </a:rPr>
              <a:t>علوم الطبيعة والحياة</a:t>
            </a:r>
            <a:endParaRPr lang="ar-SA" b="1" dirty="0">
              <a:solidFill>
                <a:schemeClr val="tx1"/>
              </a:solidFill>
              <a:cs typeface="Al-Hadith1" pitchFamily="2" charset="-78"/>
            </a:endParaRPr>
          </a:p>
        </p:txBody>
      </p:sp>
      <p:sp>
        <p:nvSpPr>
          <p:cNvPr id="4" name="Rectangle à coins arrondis 3"/>
          <p:cNvSpPr/>
          <p:nvPr/>
        </p:nvSpPr>
        <p:spPr>
          <a:xfrm>
            <a:off x="2786050" y="3717032"/>
            <a:ext cx="3714776" cy="1571636"/>
          </a:xfrm>
          <a:prstGeom prst="roundRect">
            <a:avLst/>
          </a:prstGeom>
          <a:solidFill>
            <a:srgbClr val="B2DE82"/>
          </a:solidFill>
          <a:ln>
            <a:solidFill>
              <a:srgbClr val="009E4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3200" b="1" dirty="0" smtClean="0">
                <a:solidFill>
                  <a:schemeClr val="tx1"/>
                </a:solidFill>
              </a:rPr>
              <a:t>توظيف المسعى العلمي</a:t>
            </a:r>
          </a:p>
          <a:p>
            <a:pPr algn="ctr"/>
            <a:r>
              <a:rPr lang="ar-DZ" sz="3200" b="1" dirty="0" smtClean="0">
                <a:solidFill>
                  <a:schemeClr val="tx1"/>
                </a:solidFill>
              </a:rPr>
              <a:t> في بناء التعلمات</a:t>
            </a:r>
            <a:endParaRPr lang="fr-FR" sz="3200" b="1" dirty="0">
              <a:solidFill>
                <a:schemeClr val="tx1"/>
              </a:solidFill>
            </a:endParaRPr>
          </a:p>
        </p:txBody>
      </p:sp>
      <p:sp>
        <p:nvSpPr>
          <p:cNvPr id="5" name="Rectangle 4"/>
          <p:cNvSpPr/>
          <p:nvPr/>
        </p:nvSpPr>
        <p:spPr>
          <a:xfrm>
            <a:off x="2143108" y="214290"/>
            <a:ext cx="5000660" cy="1384995"/>
          </a:xfrm>
          <a:prstGeom prst="rect">
            <a:avLst/>
          </a:prstGeom>
        </p:spPr>
        <p:txBody>
          <a:bodyPr wrap="square">
            <a:spAutoFit/>
          </a:bodyPr>
          <a:lstStyle/>
          <a:p>
            <a:pPr lvl="0" algn="ctr" rtl="1" fontAlgn="base">
              <a:spcBef>
                <a:spcPct val="0"/>
              </a:spcBef>
              <a:spcAft>
                <a:spcPct val="0"/>
              </a:spcAft>
            </a:pPr>
            <a:r>
              <a:rPr lang="ar-SA" sz="2800" b="1" dirty="0" smtClean="0">
                <a:latin typeface="Times New Roman" pitchFamily="18" charset="0"/>
                <a:ea typeface="Times New Roman" pitchFamily="18" charset="0"/>
                <a:cs typeface="Alawi Kufi" pitchFamily="2" charset="-78"/>
              </a:rPr>
              <a:t>الجمهورية الجزائرية الديمقراطية الشعبية</a:t>
            </a:r>
            <a:endParaRPr lang="fr-FR" sz="2800" dirty="0" smtClean="0">
              <a:latin typeface="Arial" pitchFamily="34" charset="0"/>
              <a:cs typeface="Alawi Kufi" pitchFamily="2" charset="-78"/>
            </a:endParaRPr>
          </a:p>
          <a:p>
            <a:pPr lvl="0" algn="ctr" rtl="1" eaLnBrk="0" fontAlgn="base" hangingPunct="0">
              <a:spcBef>
                <a:spcPct val="0"/>
              </a:spcBef>
              <a:spcAft>
                <a:spcPct val="0"/>
              </a:spcAft>
            </a:pPr>
            <a:r>
              <a:rPr lang="ar-SA" sz="2800" b="1" dirty="0" smtClean="0">
                <a:latin typeface="Times New Roman" pitchFamily="18" charset="0"/>
                <a:ea typeface="Times New Roman" pitchFamily="18" charset="0"/>
                <a:cs typeface="Alawi Kufi" pitchFamily="2" charset="-78"/>
              </a:rPr>
              <a:t>وزارة التربية الوطنية</a:t>
            </a:r>
            <a:endParaRPr lang="en-US" sz="2800" b="1" dirty="0" smtClean="0">
              <a:latin typeface="Times New Roman" pitchFamily="18" charset="0"/>
              <a:ea typeface="Times New Roman" pitchFamily="18" charset="0"/>
              <a:cs typeface="Alawi Kufi" pitchFamily="2" charset="-78"/>
            </a:endParaRPr>
          </a:p>
          <a:p>
            <a:pPr lvl="0" algn="ctr" rtl="1" eaLnBrk="0" fontAlgn="base" hangingPunct="0">
              <a:spcBef>
                <a:spcPct val="0"/>
              </a:spcBef>
              <a:spcAft>
                <a:spcPct val="0"/>
              </a:spcAft>
            </a:pPr>
            <a:r>
              <a:rPr lang="ar-SA" sz="2800" b="1" dirty="0" smtClean="0">
                <a:latin typeface="Times New Roman" pitchFamily="18" charset="0"/>
                <a:ea typeface="Times New Roman" pitchFamily="18" charset="0"/>
                <a:cs typeface="Alawi Kufi" pitchFamily="2" charset="-78"/>
              </a:rPr>
              <a:t>المفتشية العامة للبيداغوجيا</a:t>
            </a:r>
            <a:r>
              <a:rPr lang="fr-FR" sz="2800" dirty="0" smtClean="0">
                <a:latin typeface="Arial" pitchFamily="34" charset="0"/>
                <a:cs typeface="Alawi Kufi" pitchFamily="2" charset="-78"/>
              </a:rPr>
              <a:t> </a:t>
            </a:r>
          </a:p>
        </p:txBody>
      </p:sp>
      <p:sp>
        <p:nvSpPr>
          <p:cNvPr id="6" name="Rectangle à coins arrondis 5"/>
          <p:cNvSpPr/>
          <p:nvPr/>
        </p:nvSpPr>
        <p:spPr>
          <a:xfrm>
            <a:off x="2051720" y="1785926"/>
            <a:ext cx="5400600" cy="1357322"/>
          </a:xfrm>
          <a:prstGeom prst="roundRect">
            <a:avLst/>
          </a:prstGeom>
          <a:solidFill>
            <a:srgbClr val="B2DE82"/>
          </a:solidFill>
          <a:ln>
            <a:solidFill>
              <a:srgbClr val="009E4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DZ" sz="2400" b="1" dirty="0">
                <a:solidFill>
                  <a:schemeClr val="tx1"/>
                </a:solidFill>
              </a:rPr>
              <a:t>يوم تكويني لأساتذة مادة علوم الطبيعة والحياة</a:t>
            </a:r>
          </a:p>
          <a:p>
            <a:pPr algn="ctr" rtl="1"/>
            <a:r>
              <a:rPr lang="ar-DZ" sz="2400" b="1" dirty="0">
                <a:solidFill>
                  <a:schemeClr val="tx1"/>
                </a:solidFill>
              </a:rPr>
              <a:t>ثانوية</a:t>
            </a:r>
            <a:r>
              <a:rPr lang="fr-FR" sz="2400" b="1" dirty="0">
                <a:solidFill>
                  <a:schemeClr val="tx1"/>
                </a:solidFill>
              </a:rPr>
              <a:t> </a:t>
            </a:r>
            <a:r>
              <a:rPr lang="ar-DZ" sz="2400" b="1" dirty="0">
                <a:solidFill>
                  <a:schemeClr val="tx1"/>
                </a:solidFill>
              </a:rPr>
              <a:t> شارع الشهداء/ واد رهيو</a:t>
            </a:r>
          </a:p>
          <a:p>
            <a:pPr algn="ctr" rtl="1"/>
            <a:r>
              <a:rPr lang="ar-DZ" sz="2400" b="1" dirty="0" smtClean="0">
                <a:solidFill>
                  <a:schemeClr val="tx1"/>
                </a:solidFill>
              </a:rPr>
              <a:t>04 فيفري 2026</a:t>
            </a:r>
            <a:endParaRPr lang="fr-FR" sz="2400" b="1" dirty="0">
              <a:solidFill>
                <a:schemeClr val="tx1"/>
              </a:solidFill>
            </a:endParaRPr>
          </a:p>
        </p:txBody>
      </p:sp>
      <p:pic>
        <p:nvPicPr>
          <p:cNvPr id="7" name="Picture 2" descr="https://image.jimcdn.com/app/cms/image/transf/none/path/sbd34e3ef36d57a7f/image/i232772884a18adc5/version/1279235956/image.gif"/>
          <p:cNvPicPr>
            <a:picLocks noChangeAspect="1" noChangeArrowheads="1" noCrop="1"/>
          </p:cNvPicPr>
          <p:nvPr/>
        </p:nvPicPr>
        <p:blipFill>
          <a:blip r:embed="rId3"/>
          <a:srcRect/>
          <a:stretch>
            <a:fillRect/>
          </a:stretch>
        </p:blipFill>
        <p:spPr bwMode="auto">
          <a:xfrm>
            <a:off x="7380942" y="428604"/>
            <a:ext cx="1263024" cy="928694"/>
          </a:xfrm>
          <a:prstGeom prst="rect">
            <a:avLst/>
          </a:prstGeom>
          <a:noFill/>
        </p:spPr>
      </p:pic>
      <p:sp>
        <p:nvSpPr>
          <p:cNvPr id="9" name="Espace réservé du numéro de diapositive 8"/>
          <p:cNvSpPr>
            <a:spLocks noGrp="1"/>
          </p:cNvSpPr>
          <p:nvPr>
            <p:ph type="sldNum" sz="quarter" idx="12"/>
          </p:nvPr>
        </p:nvSpPr>
        <p:spPr/>
        <p:txBody>
          <a:bodyPr/>
          <a:lstStyle/>
          <a:p>
            <a:fld id="{0BFA6C5E-AA5E-44D9-98D8-E3BF1AB628E5}" type="slidenum">
              <a:rPr lang="fr-FR" smtClean="0"/>
              <a:pPr/>
              <a:t>1</a:t>
            </a:fld>
            <a:endParaRPr lang="fr-F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p:cNvSpPr txBox="1"/>
          <p:nvPr/>
        </p:nvSpPr>
        <p:spPr>
          <a:xfrm>
            <a:off x="2357422" y="357166"/>
            <a:ext cx="4857784" cy="1200329"/>
          </a:xfrm>
          <a:prstGeom prst="rect">
            <a:avLst/>
          </a:prstGeom>
          <a:solidFill>
            <a:srgbClr val="00B0F0"/>
          </a:solidFill>
          <a:ln>
            <a:solidFill>
              <a:schemeClr val="tx1"/>
            </a:solidFill>
          </a:ln>
        </p:spPr>
        <p:txBody>
          <a:bodyPr wrap="square" rtlCol="1">
            <a:spAutoFit/>
          </a:bodyPr>
          <a:lstStyle/>
          <a:p>
            <a:r>
              <a:rPr lang="ar-DZ" sz="7200" b="1" dirty="0" smtClean="0">
                <a:latin typeface="Arial" pitchFamily="34" charset="0"/>
                <a:cs typeface="Arial" pitchFamily="34" charset="0"/>
              </a:rPr>
              <a:t>المسعى العلمي </a:t>
            </a:r>
            <a:endParaRPr lang="ar-SA" sz="7200" b="1" dirty="0">
              <a:latin typeface="Arial" pitchFamily="34" charset="0"/>
              <a:cs typeface="Arial" pitchFamily="34" charset="0"/>
            </a:endParaRPr>
          </a:p>
        </p:txBody>
      </p:sp>
      <p:sp>
        <p:nvSpPr>
          <p:cNvPr id="3" name="مربع نص 2"/>
          <p:cNvSpPr txBox="1"/>
          <p:nvPr/>
        </p:nvSpPr>
        <p:spPr>
          <a:xfrm>
            <a:off x="4714844" y="3214686"/>
            <a:ext cx="4429156" cy="1569660"/>
          </a:xfrm>
          <a:prstGeom prst="rect">
            <a:avLst/>
          </a:prstGeom>
          <a:solidFill>
            <a:srgbClr val="FFFF00"/>
          </a:solidFill>
          <a:ln>
            <a:solidFill>
              <a:schemeClr val="tx1"/>
            </a:solidFill>
          </a:ln>
        </p:spPr>
        <p:txBody>
          <a:bodyPr wrap="square" rtlCol="1">
            <a:spAutoFit/>
          </a:bodyPr>
          <a:lstStyle/>
          <a:p>
            <a:pPr algn="ctr"/>
            <a:r>
              <a:rPr lang="ar-DZ" sz="3200" b="1" dirty="0" smtClean="0">
                <a:latin typeface="Arial" pitchFamily="34" charset="0"/>
                <a:cs typeface="Arial" pitchFamily="34" charset="0"/>
              </a:rPr>
              <a:t>مجموعة الإجراءات والطرائق المتبناة من أجل الوصول إلى نتيجة ( إجراءات تنظيم البحث )</a:t>
            </a:r>
            <a:endParaRPr lang="ar-SA" sz="3200" b="1" dirty="0">
              <a:latin typeface="Arial" pitchFamily="34" charset="0"/>
              <a:cs typeface="Arial" pitchFamily="34" charset="0"/>
            </a:endParaRPr>
          </a:p>
        </p:txBody>
      </p:sp>
      <p:sp>
        <p:nvSpPr>
          <p:cNvPr id="4" name="مربع نص 3"/>
          <p:cNvSpPr txBox="1"/>
          <p:nvPr/>
        </p:nvSpPr>
        <p:spPr>
          <a:xfrm>
            <a:off x="0" y="3286124"/>
            <a:ext cx="3714776" cy="1077218"/>
          </a:xfrm>
          <a:prstGeom prst="rect">
            <a:avLst/>
          </a:prstGeom>
          <a:solidFill>
            <a:srgbClr val="FFFF00"/>
          </a:solidFill>
          <a:ln>
            <a:solidFill>
              <a:schemeClr val="tx1"/>
            </a:solidFill>
          </a:ln>
        </p:spPr>
        <p:txBody>
          <a:bodyPr wrap="square" rtlCol="1">
            <a:spAutoFit/>
          </a:bodyPr>
          <a:lstStyle/>
          <a:p>
            <a:pPr algn="ctr"/>
            <a:r>
              <a:rPr lang="ar-DZ" sz="3200" b="1" dirty="0" smtClean="0">
                <a:latin typeface="Arial" pitchFamily="34" charset="0"/>
                <a:cs typeface="Arial" pitchFamily="34" charset="0"/>
              </a:rPr>
              <a:t>نشاط منتج للمعرفة ، منتج للحل .  عن طريق البحث </a:t>
            </a:r>
            <a:endParaRPr lang="ar-SA" sz="3200" b="1" dirty="0">
              <a:latin typeface="Arial" pitchFamily="34" charset="0"/>
              <a:cs typeface="Arial" pitchFamily="34" charset="0"/>
            </a:endParaRPr>
          </a:p>
        </p:txBody>
      </p:sp>
      <p:sp>
        <p:nvSpPr>
          <p:cNvPr id="12" name="سهم للأسفل 11"/>
          <p:cNvSpPr/>
          <p:nvPr/>
        </p:nvSpPr>
        <p:spPr>
          <a:xfrm rot="19439025">
            <a:off x="5176567" y="1342359"/>
            <a:ext cx="556729" cy="2029341"/>
          </a:xfrm>
          <a:prstGeom prst="downArrow">
            <a:avLst>
              <a:gd name="adj1" fmla="val 50000"/>
              <a:gd name="adj2" fmla="val 108495"/>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13" name="سهم للأسفل 12"/>
          <p:cNvSpPr/>
          <p:nvPr/>
        </p:nvSpPr>
        <p:spPr>
          <a:xfrm rot="1831522">
            <a:off x="3511216" y="1473453"/>
            <a:ext cx="503329" cy="1887053"/>
          </a:xfrm>
          <a:prstGeom prst="downArrow">
            <a:avLst>
              <a:gd name="adj1" fmla="val 50000"/>
              <a:gd name="adj2" fmla="val 123592"/>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7" name="مربع نص 6"/>
          <p:cNvSpPr txBox="1"/>
          <p:nvPr/>
        </p:nvSpPr>
        <p:spPr>
          <a:xfrm>
            <a:off x="0" y="5143512"/>
            <a:ext cx="9001156" cy="1478418"/>
          </a:xfrm>
          <a:prstGeom prst="rect">
            <a:avLst/>
          </a:prstGeom>
          <a:solidFill>
            <a:schemeClr val="bg2">
              <a:lumMod val="75000"/>
            </a:schemeClr>
          </a:solidFill>
        </p:spPr>
        <p:txBody>
          <a:bodyPr wrap="square" rtlCol="1">
            <a:spAutoFit/>
          </a:bodyPr>
          <a:lstStyle/>
          <a:p>
            <a:pPr algn="ctr">
              <a:lnSpc>
                <a:spcPct val="150000"/>
              </a:lnSpc>
            </a:pPr>
            <a:r>
              <a:rPr lang="ar-DZ" sz="3200" b="1" dirty="0" smtClean="0">
                <a:solidFill>
                  <a:srgbClr val="002060"/>
                </a:solidFill>
                <a:latin typeface="Calibri" pitchFamily="34" charset="0"/>
                <a:ea typeface="Calibri" pitchFamily="34" charset="0"/>
                <a:cs typeface="Arial" pitchFamily="34" charset="0"/>
              </a:rPr>
              <a:t>المسعى العلمي هو  اتخاذ إجراءات وإتباع طرائق مناسبة لحل مشكلة معينة . </a:t>
            </a:r>
            <a:r>
              <a:rPr lang="ar-DZ" sz="3200" b="1" dirty="0" smtClean="0">
                <a:solidFill>
                  <a:srgbClr val="C00000"/>
                </a:solidFill>
                <a:latin typeface="Calibri" pitchFamily="34" charset="0"/>
                <a:ea typeface="Calibri" pitchFamily="34" charset="0"/>
                <a:cs typeface="Arial" pitchFamily="34" charset="0"/>
              </a:rPr>
              <a:t>{عن ماذا ابحث وكيف ابحث } .</a:t>
            </a:r>
            <a:endParaRPr lang="ar-DZ" sz="3200" b="1" dirty="0" smtClean="0">
              <a:solidFill>
                <a:srgbClr val="C00000"/>
              </a:solidFill>
            </a:endParaRPr>
          </a:p>
        </p:txBody>
      </p:sp>
    </p:spTree>
    <p:extLst>
      <p:ext uri="{BB962C8B-B14F-4D97-AF65-F5344CB8AC3E}">
        <p14:creationId xmlns:p14="http://schemas.microsoft.com/office/powerpoint/2010/main" val="3116893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2000" fill="hold"/>
                                        <p:tgtEl>
                                          <p:spTgt spid="12"/>
                                        </p:tgtEl>
                                        <p:attrNameLst>
                                          <p:attrName>ppt_x</p:attrName>
                                        </p:attrNameLst>
                                      </p:cBhvr>
                                      <p:tavLst>
                                        <p:tav tm="0">
                                          <p:val>
                                            <p:strVal val="0-#ppt_w/2"/>
                                          </p:val>
                                        </p:tav>
                                        <p:tav tm="100000">
                                          <p:val>
                                            <p:strVal val="#ppt_x"/>
                                          </p:val>
                                        </p:tav>
                                      </p:tavLst>
                                    </p:anim>
                                    <p:anim calcmode="lin" valueType="num">
                                      <p:cBhvr additive="base">
                                        <p:cTn id="8" dur="2000" fill="hold"/>
                                        <p:tgtEl>
                                          <p:spTgt spid="12"/>
                                        </p:tgtEl>
                                        <p:attrNameLst>
                                          <p:attrName>ppt_y</p:attrName>
                                        </p:attrNameLst>
                                      </p:cBhvr>
                                      <p:tavLst>
                                        <p:tav tm="0">
                                          <p:val>
                                            <p:strVal val="0-#ppt_h/2"/>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2000" fill="hold"/>
                                        <p:tgtEl>
                                          <p:spTgt spid="3"/>
                                        </p:tgtEl>
                                        <p:attrNameLst>
                                          <p:attrName>ppt_x</p:attrName>
                                        </p:attrNameLst>
                                      </p:cBhvr>
                                      <p:tavLst>
                                        <p:tav tm="0">
                                          <p:val>
                                            <p:strVal val="1+#ppt_w/2"/>
                                          </p:val>
                                        </p:tav>
                                        <p:tav tm="100000">
                                          <p:val>
                                            <p:strVal val="#ppt_x"/>
                                          </p:val>
                                        </p:tav>
                                      </p:tavLst>
                                    </p:anim>
                                    <p:anim calcmode="lin" valueType="num">
                                      <p:cBhvr additive="base">
                                        <p:cTn id="12" dur="20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3"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2000" fill="hold"/>
                                        <p:tgtEl>
                                          <p:spTgt spid="13"/>
                                        </p:tgtEl>
                                        <p:attrNameLst>
                                          <p:attrName>ppt_x</p:attrName>
                                        </p:attrNameLst>
                                      </p:cBhvr>
                                      <p:tavLst>
                                        <p:tav tm="0">
                                          <p:val>
                                            <p:strVal val="1+#ppt_w/2"/>
                                          </p:val>
                                        </p:tav>
                                        <p:tav tm="100000">
                                          <p:val>
                                            <p:strVal val="#ppt_x"/>
                                          </p:val>
                                        </p:tav>
                                      </p:tavLst>
                                    </p:anim>
                                    <p:anim calcmode="lin" valueType="num">
                                      <p:cBhvr additive="base">
                                        <p:cTn id="18" dur="2000" fill="hold"/>
                                        <p:tgtEl>
                                          <p:spTgt spid="13"/>
                                        </p:tgtEl>
                                        <p:attrNameLst>
                                          <p:attrName>ppt_y</p:attrName>
                                        </p:attrNameLst>
                                      </p:cBhvr>
                                      <p:tavLst>
                                        <p:tav tm="0">
                                          <p:val>
                                            <p:strVal val="0-#ppt_h/2"/>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2000" fill="hold"/>
                                        <p:tgtEl>
                                          <p:spTgt spid="4"/>
                                        </p:tgtEl>
                                        <p:attrNameLst>
                                          <p:attrName>ppt_x</p:attrName>
                                        </p:attrNameLst>
                                      </p:cBhvr>
                                      <p:tavLst>
                                        <p:tav tm="0">
                                          <p:val>
                                            <p:strVal val="0-#ppt_w/2"/>
                                          </p:val>
                                        </p:tav>
                                        <p:tav tm="100000">
                                          <p:val>
                                            <p:strVal val="#ppt_x"/>
                                          </p:val>
                                        </p:tav>
                                      </p:tavLst>
                                    </p:anim>
                                    <p:anim calcmode="lin" valueType="num">
                                      <p:cBhvr additive="base">
                                        <p:cTn id="22" dur="20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6"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down)">
                                      <p:cBhvr>
                                        <p:cTn id="27" dur="580">
                                          <p:stCondLst>
                                            <p:cond delay="0"/>
                                          </p:stCondLst>
                                        </p:cTn>
                                        <p:tgtEl>
                                          <p:spTgt spid="7"/>
                                        </p:tgtEl>
                                      </p:cBhvr>
                                    </p:animEffect>
                                    <p:anim calcmode="lin" valueType="num">
                                      <p:cBhvr>
                                        <p:cTn id="28"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29"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30"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31"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32"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33" dur="26">
                                          <p:stCondLst>
                                            <p:cond delay="650"/>
                                          </p:stCondLst>
                                        </p:cTn>
                                        <p:tgtEl>
                                          <p:spTgt spid="7"/>
                                        </p:tgtEl>
                                      </p:cBhvr>
                                      <p:to x="100000" y="60000"/>
                                    </p:animScale>
                                    <p:animScale>
                                      <p:cBhvr>
                                        <p:cTn id="34" dur="166" decel="50000">
                                          <p:stCondLst>
                                            <p:cond delay="676"/>
                                          </p:stCondLst>
                                        </p:cTn>
                                        <p:tgtEl>
                                          <p:spTgt spid="7"/>
                                        </p:tgtEl>
                                      </p:cBhvr>
                                      <p:to x="100000" y="100000"/>
                                    </p:animScale>
                                    <p:animScale>
                                      <p:cBhvr>
                                        <p:cTn id="35" dur="26">
                                          <p:stCondLst>
                                            <p:cond delay="1312"/>
                                          </p:stCondLst>
                                        </p:cTn>
                                        <p:tgtEl>
                                          <p:spTgt spid="7"/>
                                        </p:tgtEl>
                                      </p:cBhvr>
                                      <p:to x="100000" y="80000"/>
                                    </p:animScale>
                                    <p:animScale>
                                      <p:cBhvr>
                                        <p:cTn id="36" dur="166" decel="50000">
                                          <p:stCondLst>
                                            <p:cond delay="1338"/>
                                          </p:stCondLst>
                                        </p:cTn>
                                        <p:tgtEl>
                                          <p:spTgt spid="7"/>
                                        </p:tgtEl>
                                      </p:cBhvr>
                                      <p:to x="100000" y="100000"/>
                                    </p:animScale>
                                    <p:animScale>
                                      <p:cBhvr>
                                        <p:cTn id="37" dur="26">
                                          <p:stCondLst>
                                            <p:cond delay="1642"/>
                                          </p:stCondLst>
                                        </p:cTn>
                                        <p:tgtEl>
                                          <p:spTgt spid="7"/>
                                        </p:tgtEl>
                                      </p:cBhvr>
                                      <p:to x="100000" y="90000"/>
                                    </p:animScale>
                                    <p:animScale>
                                      <p:cBhvr>
                                        <p:cTn id="38" dur="166" decel="50000">
                                          <p:stCondLst>
                                            <p:cond delay="1668"/>
                                          </p:stCondLst>
                                        </p:cTn>
                                        <p:tgtEl>
                                          <p:spTgt spid="7"/>
                                        </p:tgtEl>
                                      </p:cBhvr>
                                      <p:to x="100000" y="100000"/>
                                    </p:animScale>
                                    <p:animScale>
                                      <p:cBhvr>
                                        <p:cTn id="39" dur="26">
                                          <p:stCondLst>
                                            <p:cond delay="1808"/>
                                          </p:stCondLst>
                                        </p:cTn>
                                        <p:tgtEl>
                                          <p:spTgt spid="7"/>
                                        </p:tgtEl>
                                      </p:cBhvr>
                                      <p:to x="100000" y="95000"/>
                                    </p:animScale>
                                    <p:animScale>
                                      <p:cBhvr>
                                        <p:cTn id="40" dur="166" decel="50000">
                                          <p:stCondLst>
                                            <p:cond delay="1834"/>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2" grpId="0" animBg="1"/>
      <p:bldP spid="13" grpId="0" animBg="1"/>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2357422" y="428604"/>
            <a:ext cx="4214842" cy="369332"/>
          </a:xfrm>
          <a:prstGeom prst="rect">
            <a:avLst/>
          </a:prstGeom>
          <a:noFill/>
        </p:spPr>
        <p:txBody>
          <a:bodyPr wrap="square" rtlCol="0">
            <a:spAutoFit/>
          </a:bodyPr>
          <a:lstStyle/>
          <a:p>
            <a:pPr algn="ctr" rtl="1"/>
            <a:endParaRPr lang="fr-FR" dirty="0"/>
          </a:p>
        </p:txBody>
      </p:sp>
      <p:sp>
        <p:nvSpPr>
          <p:cNvPr id="3" name="ZoneTexte 2"/>
          <p:cNvSpPr txBox="1"/>
          <p:nvPr/>
        </p:nvSpPr>
        <p:spPr>
          <a:xfrm>
            <a:off x="2071670" y="214290"/>
            <a:ext cx="5429288" cy="461665"/>
          </a:xfrm>
          <a:prstGeom prst="rect">
            <a:avLst/>
          </a:prstGeom>
          <a:solidFill>
            <a:srgbClr val="C96765"/>
          </a:solidFill>
        </p:spPr>
        <p:txBody>
          <a:bodyPr wrap="square" rtlCol="0">
            <a:spAutoFit/>
          </a:bodyPr>
          <a:lstStyle/>
          <a:p>
            <a:pPr algn="ctr" rtl="1"/>
            <a:r>
              <a:rPr lang="ar-DZ" sz="2400" b="1" dirty="0" smtClean="0">
                <a:solidFill>
                  <a:schemeClr val="bg1"/>
                </a:solidFill>
              </a:rPr>
              <a:t>عرض حال حول ممارسة المسعى العلمي في الميدان </a:t>
            </a:r>
            <a:endParaRPr lang="fr-FR" sz="2400" b="1" dirty="0">
              <a:solidFill>
                <a:schemeClr val="bg1"/>
              </a:solidFill>
            </a:endParaRPr>
          </a:p>
        </p:txBody>
      </p:sp>
      <p:graphicFrame>
        <p:nvGraphicFramePr>
          <p:cNvPr id="4" name="Tableau 3"/>
          <p:cNvGraphicFramePr>
            <a:graphicFrameLocks noGrp="1"/>
          </p:cNvGraphicFramePr>
          <p:nvPr>
            <p:extLst>
              <p:ext uri="{D42A27DB-BD31-4B8C-83A1-F6EECF244321}">
                <p14:modId xmlns:p14="http://schemas.microsoft.com/office/powerpoint/2010/main" val="512873270"/>
              </p:ext>
            </p:extLst>
          </p:nvPr>
        </p:nvGraphicFramePr>
        <p:xfrm>
          <a:off x="3286116" y="1000108"/>
          <a:ext cx="2786082" cy="5699760"/>
        </p:xfrm>
        <a:graphic>
          <a:graphicData uri="http://schemas.openxmlformats.org/drawingml/2006/table">
            <a:tbl>
              <a:tblPr firstRow="1" bandRow="1">
                <a:tableStyleId>{22838BEF-8BB2-4498-84A7-C5851F593DF1}</a:tableStyleId>
              </a:tblPr>
              <a:tblGrid>
                <a:gridCol w="2786082"/>
              </a:tblGrid>
              <a:tr h="370840">
                <a:tc>
                  <a:txBody>
                    <a:bodyPr/>
                    <a:lstStyle/>
                    <a:p>
                      <a:pPr algn="ctr" rtl="1"/>
                      <a:r>
                        <a:rPr lang="ar-DZ" b="1" dirty="0" smtClean="0"/>
                        <a:t>3ـ المكانة المعطاة للفرضيات</a:t>
                      </a:r>
                    </a:p>
                    <a:p>
                      <a:pPr algn="ctr" rtl="1"/>
                      <a:endParaRPr lang="fr-FR" b="1" dirty="0"/>
                    </a:p>
                  </a:txBody>
                  <a:tcPr>
                    <a:solidFill>
                      <a:schemeClr val="bg2">
                        <a:lumMod val="90000"/>
                      </a:schemeClr>
                    </a:solidFill>
                  </a:tcPr>
                </a:tc>
              </a:tr>
              <a:tr h="370840">
                <a:tc>
                  <a:txBody>
                    <a:bodyPr/>
                    <a:lstStyle/>
                    <a:p>
                      <a:pPr algn="ctr" rtl="1"/>
                      <a:r>
                        <a:rPr lang="ar-DZ" b="1" dirty="0" smtClean="0">
                          <a:solidFill>
                            <a:srgbClr val="FF0000"/>
                          </a:solidFill>
                        </a:rPr>
                        <a:t>الفرضيات لاتهم</a:t>
                      </a:r>
                      <a:endParaRPr lang="fr-FR" b="1" dirty="0">
                        <a:solidFill>
                          <a:srgbClr val="FF0000"/>
                        </a:solidFill>
                      </a:endParaRPr>
                    </a:p>
                  </a:txBody>
                  <a:tcPr>
                    <a:solidFill>
                      <a:schemeClr val="bg1">
                        <a:lumMod val="95000"/>
                      </a:schemeClr>
                    </a:solidFill>
                  </a:tcPr>
                </a:tc>
              </a:tr>
              <a:tr h="370840">
                <a:tc>
                  <a:txBody>
                    <a:bodyPr/>
                    <a:lstStyle/>
                    <a:p>
                      <a:pPr algn="ctr" rtl="1"/>
                      <a:r>
                        <a:rPr lang="ar-DZ" b="1" dirty="0" smtClean="0">
                          <a:solidFill>
                            <a:srgbClr val="FF0000"/>
                          </a:solidFill>
                        </a:rPr>
                        <a:t>ننتظر فرضية واحدة، يقترحها الأستاذ</a:t>
                      </a:r>
                      <a:endParaRPr lang="fr-FR" b="1" dirty="0">
                        <a:solidFill>
                          <a:srgbClr val="FF0000"/>
                        </a:solidFill>
                      </a:endParaRPr>
                    </a:p>
                  </a:txBody>
                  <a:tcPr>
                    <a:solidFill>
                      <a:schemeClr val="bg1">
                        <a:lumMod val="95000"/>
                      </a:schemeClr>
                    </a:solidFill>
                  </a:tcPr>
                </a:tc>
              </a:tr>
              <a:tr h="370840">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ar-DZ" b="1" dirty="0" smtClean="0">
                          <a:solidFill>
                            <a:srgbClr val="FF0000"/>
                          </a:solidFill>
                        </a:rPr>
                        <a:t>ننتظر فرضية واحدة، يقترحها متعلم</a:t>
                      </a:r>
                      <a:r>
                        <a:rPr lang="ar-DZ" b="1" baseline="0" dirty="0" smtClean="0">
                          <a:solidFill>
                            <a:srgbClr val="FF0000"/>
                          </a:solidFill>
                        </a:rPr>
                        <a:t> واحد فقط</a:t>
                      </a:r>
                      <a:endParaRPr lang="fr-FR" b="1" dirty="0">
                        <a:solidFill>
                          <a:srgbClr val="FF0000"/>
                        </a:solidFill>
                      </a:endParaRPr>
                    </a:p>
                  </a:txBody>
                  <a:tcPr>
                    <a:solidFill>
                      <a:schemeClr val="bg1">
                        <a:lumMod val="95000"/>
                      </a:schemeClr>
                    </a:solidFill>
                  </a:tcPr>
                </a:tc>
              </a:tr>
              <a:tr h="370840">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endParaRPr lang="fr-FR" b="1" dirty="0">
                        <a:solidFill>
                          <a:srgbClr val="FF0000"/>
                        </a:solidFill>
                      </a:endParaRPr>
                    </a:p>
                  </a:txBody>
                  <a:tcPr>
                    <a:solidFill>
                      <a:schemeClr val="bg1">
                        <a:lumMod val="95000"/>
                      </a:schemeClr>
                    </a:solidFill>
                  </a:tcPr>
                </a:tc>
              </a:tr>
              <a:tr h="370840">
                <a:tc>
                  <a:txBody>
                    <a:bodyPr/>
                    <a:lstStyle/>
                    <a:p>
                      <a:pPr algn="ctr" rtl="1"/>
                      <a:r>
                        <a:rPr lang="ar-DZ" b="1" dirty="0" smtClean="0"/>
                        <a:t>4ـ صياغة الفرضيات</a:t>
                      </a:r>
                      <a:endParaRPr lang="fr-FR" b="1" dirty="0"/>
                    </a:p>
                  </a:txBody>
                  <a:tcPr>
                    <a:solidFill>
                      <a:schemeClr val="bg2">
                        <a:lumMod val="90000"/>
                      </a:schemeClr>
                    </a:solidFill>
                  </a:tcPr>
                </a:tc>
              </a:tr>
              <a:tr h="370840">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r>
                        <a:rPr lang="ar-DZ" b="1" dirty="0" smtClean="0">
                          <a:solidFill>
                            <a:srgbClr val="FF0000"/>
                          </a:solidFill>
                        </a:rPr>
                        <a:t>بالنسبة للمتعلمين الأستاذ ينتظر الصياغة الصحيحة وحركات وجهه تعبر عن قبولها أو رفضها. </a:t>
                      </a:r>
                      <a:endParaRPr lang="fr-FR" b="1" dirty="0" smtClean="0">
                        <a:solidFill>
                          <a:srgbClr val="FF0000"/>
                        </a:solidFill>
                      </a:endParaRPr>
                    </a:p>
                  </a:txBody>
                  <a:tcPr>
                    <a:solidFill>
                      <a:schemeClr val="bg1">
                        <a:lumMod val="95000"/>
                      </a:schemeClr>
                    </a:solidFill>
                  </a:tcPr>
                </a:tc>
              </a:tr>
              <a:tr h="370840">
                <a:tc>
                  <a:txBody>
                    <a:bodyPr/>
                    <a:lstStyle/>
                    <a:p>
                      <a:pPr marL="0" marR="0" indent="0" algn="ctr" defTabSz="914400" rtl="1" eaLnBrk="1" fontAlgn="auto" latinLnBrk="0" hangingPunct="1">
                        <a:lnSpc>
                          <a:spcPct val="100000"/>
                        </a:lnSpc>
                        <a:spcBef>
                          <a:spcPts val="0"/>
                        </a:spcBef>
                        <a:spcAft>
                          <a:spcPts val="0"/>
                        </a:spcAft>
                        <a:buClrTx/>
                        <a:buSzTx/>
                        <a:buFontTx/>
                        <a:buNone/>
                        <a:tabLst/>
                        <a:defRPr/>
                      </a:pPr>
                      <a:endParaRPr lang="fr-FR" b="1" dirty="0" smtClean="0">
                        <a:solidFill>
                          <a:srgbClr val="FF0000"/>
                        </a:solidFill>
                      </a:endParaRPr>
                    </a:p>
                  </a:txBody>
                  <a:tcPr>
                    <a:solidFill>
                      <a:schemeClr val="bg1">
                        <a:lumMod val="95000"/>
                      </a:schemeClr>
                    </a:solidFill>
                  </a:tcPr>
                </a:tc>
              </a:tr>
              <a:tr h="370840">
                <a:tc>
                  <a:txBody>
                    <a:bodyPr/>
                    <a:lstStyle/>
                    <a:p>
                      <a:pPr algn="ctr" rtl="1"/>
                      <a:r>
                        <a:rPr lang="ar-DZ" b="1" dirty="0" smtClean="0"/>
                        <a:t>5ـ مناقشة الفرضيات</a:t>
                      </a:r>
                      <a:endParaRPr lang="fr-FR" b="1" dirty="0"/>
                    </a:p>
                  </a:txBody>
                  <a:tcPr>
                    <a:solidFill>
                      <a:schemeClr val="bg2">
                        <a:lumMod val="90000"/>
                      </a:schemeClr>
                    </a:solidFill>
                  </a:tcPr>
                </a:tc>
              </a:tr>
              <a:tr h="370840">
                <a:tc>
                  <a:txBody>
                    <a:bodyPr/>
                    <a:lstStyle/>
                    <a:p>
                      <a:pPr algn="ctr" rtl="1"/>
                      <a:r>
                        <a:rPr lang="ar-DZ" b="1" dirty="0" smtClean="0">
                          <a:solidFill>
                            <a:srgbClr val="FF0000"/>
                          </a:solidFill>
                        </a:rPr>
                        <a:t>تقبل الفرضيات مهما كانت</a:t>
                      </a:r>
                    </a:p>
                    <a:p>
                      <a:pPr algn="ctr" rtl="1"/>
                      <a:r>
                        <a:rPr lang="ar-DZ" b="1" dirty="0" smtClean="0">
                          <a:solidFill>
                            <a:srgbClr val="FF0000"/>
                          </a:solidFill>
                        </a:rPr>
                        <a:t>صيغتها دون مناقشة جادة.</a:t>
                      </a:r>
                      <a:endParaRPr lang="fr-FR" b="1" dirty="0">
                        <a:solidFill>
                          <a:srgbClr val="FF0000"/>
                        </a:solidFill>
                      </a:endParaRPr>
                    </a:p>
                  </a:txBody>
                  <a:tcPr>
                    <a:solidFill>
                      <a:schemeClr val="bg1">
                        <a:lumMod val="95000"/>
                      </a:schemeClr>
                    </a:solidFill>
                  </a:tcPr>
                </a:tc>
              </a:tr>
              <a:tr h="370840">
                <a:tc>
                  <a:txBody>
                    <a:bodyPr/>
                    <a:lstStyle/>
                    <a:p>
                      <a:pPr algn="ctr" rtl="1"/>
                      <a:r>
                        <a:rPr lang="ar-DZ" b="1" dirty="0" smtClean="0">
                          <a:solidFill>
                            <a:srgbClr val="FF0000"/>
                          </a:solidFill>
                        </a:rPr>
                        <a:t>عدد الفرضيات غير مضبوط</a:t>
                      </a:r>
                      <a:endParaRPr lang="fr-FR" b="1" dirty="0">
                        <a:solidFill>
                          <a:srgbClr val="FF0000"/>
                        </a:solidFill>
                      </a:endParaRPr>
                    </a:p>
                  </a:txBody>
                  <a:tcPr>
                    <a:solidFill>
                      <a:schemeClr val="bg1">
                        <a:lumMod val="95000"/>
                      </a:schemeClr>
                    </a:solidFill>
                  </a:tcPr>
                </a:tc>
              </a:tr>
            </a:tbl>
          </a:graphicData>
        </a:graphic>
      </p:graphicFrame>
      <p:graphicFrame>
        <p:nvGraphicFramePr>
          <p:cNvPr id="11" name="Tableau 10"/>
          <p:cNvGraphicFramePr>
            <a:graphicFrameLocks noGrp="1"/>
          </p:cNvGraphicFramePr>
          <p:nvPr>
            <p:extLst>
              <p:ext uri="{D42A27DB-BD31-4B8C-83A1-F6EECF244321}">
                <p14:modId xmlns:p14="http://schemas.microsoft.com/office/powerpoint/2010/main" val="1198442313"/>
              </p:ext>
            </p:extLst>
          </p:nvPr>
        </p:nvGraphicFramePr>
        <p:xfrm>
          <a:off x="714348" y="1000108"/>
          <a:ext cx="2262182" cy="3235960"/>
        </p:xfrm>
        <a:graphic>
          <a:graphicData uri="http://schemas.openxmlformats.org/drawingml/2006/table">
            <a:tbl>
              <a:tblPr firstRow="1" bandRow="1">
                <a:tableStyleId>{22838BEF-8BB2-4498-84A7-C5851F593DF1}</a:tableStyleId>
              </a:tblPr>
              <a:tblGrid>
                <a:gridCol w="2262182"/>
              </a:tblGrid>
              <a:tr h="370840">
                <a:tc>
                  <a:txBody>
                    <a:bodyPr/>
                    <a:lstStyle/>
                    <a:p>
                      <a:pPr algn="ctr" rtl="1"/>
                      <a:r>
                        <a:rPr lang="ar-DZ" b="1" dirty="0" smtClean="0"/>
                        <a:t>6ـ المناقشة الجماعية لإستراتيجية الحل</a:t>
                      </a:r>
                      <a:endParaRPr lang="fr-FR" b="1" dirty="0"/>
                    </a:p>
                  </a:txBody>
                  <a:tcPr>
                    <a:solidFill>
                      <a:schemeClr val="bg2">
                        <a:lumMod val="90000"/>
                      </a:schemeClr>
                    </a:solidFill>
                  </a:tcPr>
                </a:tc>
              </a:tr>
              <a:tr h="370840">
                <a:tc>
                  <a:txBody>
                    <a:bodyPr/>
                    <a:lstStyle/>
                    <a:p>
                      <a:pPr algn="ctr" rtl="1"/>
                      <a:r>
                        <a:rPr lang="ar-DZ" b="1" dirty="0" smtClean="0">
                          <a:solidFill>
                            <a:srgbClr val="FF0000"/>
                          </a:solidFill>
                        </a:rPr>
                        <a:t>غير موجودة</a:t>
                      </a:r>
                      <a:endParaRPr lang="fr-FR" b="1" dirty="0">
                        <a:solidFill>
                          <a:srgbClr val="FF0000"/>
                        </a:solidFill>
                      </a:endParaRPr>
                    </a:p>
                  </a:txBody>
                  <a:tcPr>
                    <a:solidFill>
                      <a:schemeClr val="bg1">
                        <a:lumMod val="95000"/>
                      </a:schemeClr>
                    </a:solidFill>
                  </a:tcPr>
                </a:tc>
              </a:tr>
              <a:tr h="370840">
                <a:tc>
                  <a:txBody>
                    <a:bodyPr/>
                    <a:lstStyle/>
                    <a:p>
                      <a:pPr algn="ctr" rtl="1"/>
                      <a:r>
                        <a:rPr lang="ar-DZ" b="1" dirty="0" smtClean="0">
                          <a:solidFill>
                            <a:srgbClr val="FF0000"/>
                          </a:solidFill>
                        </a:rPr>
                        <a:t>موجودة لكنها محدودة </a:t>
                      </a:r>
                      <a:endParaRPr lang="fr-FR" b="1" dirty="0">
                        <a:solidFill>
                          <a:srgbClr val="FF0000"/>
                        </a:solidFill>
                      </a:endParaRPr>
                    </a:p>
                  </a:txBody>
                  <a:tcPr>
                    <a:solidFill>
                      <a:schemeClr val="bg1">
                        <a:lumMod val="95000"/>
                      </a:schemeClr>
                    </a:solidFill>
                  </a:tcPr>
                </a:tc>
              </a:tr>
              <a:tr h="370840">
                <a:tc>
                  <a:txBody>
                    <a:bodyPr/>
                    <a:lstStyle/>
                    <a:p>
                      <a:pPr algn="ctr" rtl="1"/>
                      <a:endParaRPr lang="fr-FR" b="1" dirty="0">
                        <a:solidFill>
                          <a:srgbClr val="FF0000"/>
                        </a:solidFill>
                      </a:endParaRPr>
                    </a:p>
                  </a:txBody>
                  <a:tcPr>
                    <a:solidFill>
                      <a:schemeClr val="bg1">
                        <a:lumMod val="95000"/>
                      </a:schemeClr>
                    </a:solidFill>
                  </a:tcPr>
                </a:tc>
              </a:tr>
              <a:tr h="370840">
                <a:tc>
                  <a:txBody>
                    <a:bodyPr/>
                    <a:lstStyle/>
                    <a:p>
                      <a:pPr algn="ctr" rtl="1"/>
                      <a:r>
                        <a:rPr lang="ar-DZ" b="1" dirty="0" smtClean="0"/>
                        <a:t>7ـ تقنيات البحث</a:t>
                      </a:r>
                      <a:endParaRPr lang="fr-FR" b="1" dirty="0"/>
                    </a:p>
                  </a:txBody>
                  <a:tcPr>
                    <a:solidFill>
                      <a:schemeClr val="bg2">
                        <a:lumMod val="90000"/>
                      </a:schemeClr>
                    </a:solidFill>
                  </a:tcPr>
                </a:tc>
              </a:tr>
              <a:tr h="370840">
                <a:tc>
                  <a:txBody>
                    <a:bodyPr/>
                    <a:lstStyle/>
                    <a:p>
                      <a:pPr algn="ctr" rtl="1"/>
                      <a:r>
                        <a:rPr lang="ar-DZ" b="1" dirty="0" smtClean="0">
                          <a:solidFill>
                            <a:srgbClr val="FF0000"/>
                          </a:solidFill>
                        </a:rPr>
                        <a:t>غير معلنة</a:t>
                      </a:r>
                      <a:endParaRPr lang="fr-FR" b="1" dirty="0">
                        <a:solidFill>
                          <a:srgbClr val="FF0000"/>
                        </a:solidFill>
                      </a:endParaRPr>
                    </a:p>
                  </a:txBody>
                  <a:tcPr>
                    <a:solidFill>
                      <a:schemeClr val="bg1">
                        <a:lumMod val="95000"/>
                      </a:schemeClr>
                    </a:solidFill>
                  </a:tcPr>
                </a:tc>
              </a:tr>
              <a:tr h="370840">
                <a:tc>
                  <a:txBody>
                    <a:bodyPr/>
                    <a:lstStyle/>
                    <a:p>
                      <a:pPr algn="ctr" rtl="1"/>
                      <a:r>
                        <a:rPr lang="ar-DZ" b="1" dirty="0" smtClean="0">
                          <a:solidFill>
                            <a:srgbClr val="FF0000"/>
                          </a:solidFill>
                        </a:rPr>
                        <a:t>لم تناقش</a:t>
                      </a:r>
                      <a:endParaRPr lang="fr-FR" b="1" dirty="0">
                        <a:solidFill>
                          <a:srgbClr val="FF0000"/>
                        </a:solidFill>
                      </a:endParaRPr>
                    </a:p>
                  </a:txBody>
                  <a:tcPr>
                    <a:solidFill>
                      <a:schemeClr val="bg1">
                        <a:lumMod val="95000"/>
                      </a:schemeClr>
                    </a:solidFill>
                  </a:tcPr>
                </a:tc>
              </a:tr>
              <a:tr h="370840">
                <a:tc>
                  <a:txBody>
                    <a:bodyPr/>
                    <a:lstStyle/>
                    <a:p>
                      <a:pPr algn="ctr" rtl="1"/>
                      <a:r>
                        <a:rPr lang="ar-DZ" b="1" dirty="0" smtClean="0">
                          <a:solidFill>
                            <a:srgbClr val="FF0000"/>
                          </a:solidFill>
                        </a:rPr>
                        <a:t>ثابتة غير متنوعة</a:t>
                      </a:r>
                      <a:endParaRPr lang="fr-FR" b="1" dirty="0">
                        <a:solidFill>
                          <a:srgbClr val="FF0000"/>
                        </a:solidFill>
                      </a:endParaRPr>
                    </a:p>
                  </a:txBody>
                  <a:tcPr>
                    <a:solidFill>
                      <a:schemeClr val="bg1">
                        <a:lumMod val="95000"/>
                      </a:schemeClr>
                    </a:solidFill>
                  </a:tcPr>
                </a:tc>
              </a:tr>
            </a:tbl>
          </a:graphicData>
        </a:graphic>
      </p:graphicFrame>
      <p:graphicFrame>
        <p:nvGraphicFramePr>
          <p:cNvPr id="12" name="Tableau 11"/>
          <p:cNvGraphicFramePr>
            <a:graphicFrameLocks noGrp="1"/>
          </p:cNvGraphicFramePr>
          <p:nvPr>
            <p:extLst>
              <p:ext uri="{D42A27DB-BD31-4B8C-83A1-F6EECF244321}">
                <p14:modId xmlns:p14="http://schemas.microsoft.com/office/powerpoint/2010/main" val="2739911773"/>
              </p:ext>
            </p:extLst>
          </p:nvPr>
        </p:nvGraphicFramePr>
        <p:xfrm>
          <a:off x="6500826" y="1009346"/>
          <a:ext cx="2000264" cy="4246880"/>
        </p:xfrm>
        <a:graphic>
          <a:graphicData uri="http://schemas.openxmlformats.org/drawingml/2006/table">
            <a:tbl>
              <a:tblPr firstRow="1" bandRow="1">
                <a:tableStyleId>{22838BEF-8BB2-4498-84A7-C5851F593DF1}</a:tableStyleId>
              </a:tblPr>
              <a:tblGrid>
                <a:gridCol w="2000264"/>
              </a:tblGrid>
              <a:tr h="370840">
                <a:tc>
                  <a:txBody>
                    <a:bodyPr/>
                    <a:lstStyle/>
                    <a:p>
                      <a:pPr algn="ctr" rtl="1"/>
                      <a:r>
                        <a:rPr lang="ar-DZ" dirty="0" smtClean="0"/>
                        <a:t>1ـ التسيير العام للمسعى</a:t>
                      </a:r>
                    </a:p>
                    <a:p>
                      <a:pPr algn="ctr" rtl="1"/>
                      <a:endParaRPr lang="fr-FR" dirty="0"/>
                    </a:p>
                  </a:txBody>
                  <a:tcPr>
                    <a:solidFill>
                      <a:schemeClr val="bg2">
                        <a:lumMod val="90000"/>
                      </a:schemeClr>
                    </a:solidFill>
                  </a:tcPr>
                </a:tc>
              </a:tr>
              <a:tr h="370840">
                <a:tc>
                  <a:txBody>
                    <a:bodyPr/>
                    <a:lstStyle/>
                    <a:p>
                      <a:pPr algn="ctr" rtl="1"/>
                      <a:r>
                        <a:rPr lang="ar-DZ" b="1" dirty="0" smtClean="0">
                          <a:solidFill>
                            <a:srgbClr val="FF0000"/>
                          </a:solidFill>
                        </a:rPr>
                        <a:t>اصطناعي</a:t>
                      </a:r>
                      <a:endParaRPr lang="fr-FR" b="1" dirty="0">
                        <a:solidFill>
                          <a:srgbClr val="FF0000"/>
                        </a:solidFill>
                      </a:endParaRPr>
                    </a:p>
                  </a:txBody>
                  <a:tcPr>
                    <a:solidFill>
                      <a:schemeClr val="bg1">
                        <a:lumMod val="95000"/>
                      </a:schemeClr>
                    </a:solidFill>
                  </a:tcPr>
                </a:tc>
              </a:tr>
              <a:tr h="370840">
                <a:tc>
                  <a:txBody>
                    <a:bodyPr/>
                    <a:lstStyle/>
                    <a:p>
                      <a:pPr algn="ctr" rtl="1"/>
                      <a:r>
                        <a:rPr lang="ar-DZ" b="1" dirty="0" smtClean="0">
                          <a:solidFill>
                            <a:srgbClr val="FF0000"/>
                          </a:solidFill>
                        </a:rPr>
                        <a:t>محفز محدود</a:t>
                      </a:r>
                      <a:endParaRPr lang="fr-FR" b="1" dirty="0">
                        <a:solidFill>
                          <a:srgbClr val="FF0000"/>
                        </a:solidFill>
                      </a:endParaRPr>
                    </a:p>
                  </a:txBody>
                  <a:tcPr>
                    <a:solidFill>
                      <a:schemeClr val="bg1">
                        <a:lumMod val="95000"/>
                      </a:schemeClr>
                    </a:solidFill>
                  </a:tcPr>
                </a:tc>
              </a:tr>
              <a:tr h="370840">
                <a:tc>
                  <a:txBody>
                    <a:bodyPr/>
                    <a:lstStyle/>
                    <a:p>
                      <a:pPr algn="ctr" rtl="1"/>
                      <a:r>
                        <a:rPr lang="ar-DZ" b="1" dirty="0" smtClean="0">
                          <a:solidFill>
                            <a:srgbClr val="FF0000"/>
                          </a:solidFill>
                        </a:rPr>
                        <a:t>استقلالي</a:t>
                      </a:r>
                      <a:endParaRPr lang="fr-FR" b="1" dirty="0">
                        <a:solidFill>
                          <a:srgbClr val="FF0000"/>
                        </a:solidFill>
                      </a:endParaRPr>
                    </a:p>
                  </a:txBody>
                  <a:tcPr>
                    <a:solidFill>
                      <a:schemeClr val="bg1">
                        <a:lumMod val="95000"/>
                      </a:schemeClr>
                    </a:solidFill>
                  </a:tcPr>
                </a:tc>
              </a:tr>
              <a:tr h="370840">
                <a:tc>
                  <a:txBody>
                    <a:bodyPr/>
                    <a:lstStyle/>
                    <a:p>
                      <a:pPr algn="ctr" rtl="1"/>
                      <a:endParaRPr lang="fr-FR" b="1" dirty="0">
                        <a:solidFill>
                          <a:srgbClr val="FF0000"/>
                        </a:solidFill>
                      </a:endParaRPr>
                    </a:p>
                  </a:txBody>
                  <a:tcPr>
                    <a:solidFill>
                      <a:schemeClr val="bg1">
                        <a:lumMod val="95000"/>
                      </a:schemeClr>
                    </a:solidFill>
                  </a:tcPr>
                </a:tc>
              </a:tr>
              <a:tr h="370840">
                <a:tc>
                  <a:txBody>
                    <a:bodyPr/>
                    <a:lstStyle/>
                    <a:p>
                      <a:pPr algn="ctr" rtl="1"/>
                      <a:r>
                        <a:rPr lang="ar-DZ" b="1" dirty="0" smtClean="0"/>
                        <a:t>2ـ المشكلة</a:t>
                      </a:r>
                      <a:endParaRPr lang="fr-FR" b="1" dirty="0" smtClean="0"/>
                    </a:p>
                  </a:txBody>
                  <a:tcPr>
                    <a:solidFill>
                      <a:schemeClr val="bg2">
                        <a:lumMod val="90000"/>
                      </a:schemeClr>
                    </a:solidFill>
                  </a:tcPr>
                </a:tc>
              </a:tr>
              <a:tr h="370840">
                <a:tc>
                  <a:txBody>
                    <a:bodyPr/>
                    <a:lstStyle/>
                    <a:p>
                      <a:pPr algn="ctr" rtl="1"/>
                      <a:r>
                        <a:rPr lang="ar-DZ" b="1" dirty="0" smtClean="0">
                          <a:solidFill>
                            <a:srgbClr val="FF0000"/>
                          </a:solidFill>
                        </a:rPr>
                        <a:t>لا توجد وضعية انطلاق</a:t>
                      </a:r>
                      <a:endParaRPr lang="fr-FR" b="1" dirty="0">
                        <a:solidFill>
                          <a:srgbClr val="FF0000"/>
                        </a:solidFill>
                      </a:endParaRPr>
                    </a:p>
                  </a:txBody>
                  <a:tcPr>
                    <a:solidFill>
                      <a:schemeClr val="bg1">
                        <a:lumMod val="95000"/>
                      </a:schemeClr>
                    </a:solidFill>
                  </a:tcPr>
                </a:tc>
              </a:tr>
              <a:tr h="370840">
                <a:tc>
                  <a:txBody>
                    <a:bodyPr/>
                    <a:lstStyle/>
                    <a:p>
                      <a:pPr algn="ctr" rtl="1"/>
                      <a:r>
                        <a:rPr lang="ar-DZ" b="1" dirty="0" smtClean="0">
                          <a:solidFill>
                            <a:srgbClr val="FF0000"/>
                          </a:solidFill>
                        </a:rPr>
                        <a:t>يطرحها الأستاذ</a:t>
                      </a:r>
                      <a:endParaRPr lang="fr-FR" b="1" dirty="0">
                        <a:solidFill>
                          <a:srgbClr val="FF0000"/>
                        </a:solidFill>
                      </a:endParaRPr>
                    </a:p>
                  </a:txBody>
                  <a:tcPr>
                    <a:solidFill>
                      <a:schemeClr val="bg1">
                        <a:lumMod val="95000"/>
                      </a:schemeClr>
                    </a:solidFill>
                  </a:tcPr>
                </a:tc>
              </a:tr>
              <a:tr h="370840">
                <a:tc>
                  <a:txBody>
                    <a:bodyPr/>
                    <a:lstStyle/>
                    <a:p>
                      <a:pPr algn="ctr" rtl="1"/>
                      <a:r>
                        <a:rPr lang="ar-DZ" b="1" dirty="0" smtClean="0">
                          <a:solidFill>
                            <a:srgbClr val="FF0000"/>
                          </a:solidFill>
                        </a:rPr>
                        <a:t>أهميتها لا تناقش </a:t>
                      </a:r>
                      <a:endParaRPr lang="fr-FR" b="1" dirty="0">
                        <a:solidFill>
                          <a:srgbClr val="FF0000"/>
                        </a:solidFill>
                      </a:endParaRPr>
                    </a:p>
                  </a:txBody>
                  <a:tcPr>
                    <a:solidFill>
                      <a:schemeClr val="bg1">
                        <a:lumMod val="95000"/>
                      </a:schemeClr>
                    </a:solidFill>
                  </a:tcPr>
                </a:tc>
              </a:tr>
              <a:tr h="370840">
                <a:tc>
                  <a:txBody>
                    <a:bodyPr/>
                    <a:lstStyle/>
                    <a:p>
                      <a:pPr algn="ctr" rtl="1"/>
                      <a:r>
                        <a:rPr lang="ar-DZ" b="1" dirty="0" smtClean="0">
                          <a:solidFill>
                            <a:srgbClr val="FF0000"/>
                          </a:solidFill>
                        </a:rPr>
                        <a:t>تطرح المشكلة في منتصف الوقت</a:t>
                      </a:r>
                      <a:endParaRPr lang="fr-FR" b="1" dirty="0">
                        <a:solidFill>
                          <a:srgbClr val="FF0000"/>
                        </a:solidFill>
                      </a:endParaRPr>
                    </a:p>
                  </a:txBody>
                  <a:tcPr>
                    <a:solidFill>
                      <a:schemeClr val="bg1">
                        <a:lumMod val="95000"/>
                      </a:schemeClr>
                    </a:solidFill>
                  </a:tcPr>
                </a:tc>
              </a:tr>
            </a:tbl>
          </a:graphicData>
        </a:graphic>
      </p:graphicFrame>
      <p:sp>
        <p:nvSpPr>
          <p:cNvPr id="7" name="Rectangle 6"/>
          <p:cNvSpPr/>
          <p:nvPr/>
        </p:nvSpPr>
        <p:spPr>
          <a:xfrm>
            <a:off x="0" y="-24"/>
            <a:ext cx="9144000" cy="6858000"/>
          </a:xfrm>
          <a:prstGeom prst="rect">
            <a:avLst/>
          </a:prstGeom>
          <a:noFill/>
          <a:ln w="76200">
            <a:solidFill>
              <a:srgbClr val="4599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space réservé du numéro de diapositive 7"/>
          <p:cNvSpPr>
            <a:spLocks noGrp="1"/>
          </p:cNvSpPr>
          <p:nvPr>
            <p:ph type="sldNum" sz="quarter" idx="12"/>
          </p:nvPr>
        </p:nvSpPr>
        <p:spPr/>
        <p:txBody>
          <a:bodyPr/>
          <a:lstStyle/>
          <a:p>
            <a:fld id="{0BFA6C5E-AA5E-44D9-98D8-E3BF1AB628E5}" type="slidenum">
              <a:rPr lang="fr-FR" smtClean="0"/>
              <a:pPr/>
              <a:t>3</a:t>
            </a:fld>
            <a:endParaRPr lang="fr-F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2357422" y="428604"/>
            <a:ext cx="4214842" cy="369332"/>
          </a:xfrm>
          <a:prstGeom prst="rect">
            <a:avLst/>
          </a:prstGeom>
          <a:noFill/>
        </p:spPr>
        <p:txBody>
          <a:bodyPr wrap="square" rtlCol="0">
            <a:spAutoFit/>
          </a:bodyPr>
          <a:lstStyle/>
          <a:p>
            <a:pPr algn="ctr" rtl="1"/>
            <a:endParaRPr lang="fr-FR" dirty="0"/>
          </a:p>
        </p:txBody>
      </p:sp>
      <p:sp>
        <p:nvSpPr>
          <p:cNvPr id="3" name="ZoneTexte 2"/>
          <p:cNvSpPr txBox="1"/>
          <p:nvPr/>
        </p:nvSpPr>
        <p:spPr>
          <a:xfrm>
            <a:off x="2071670" y="214290"/>
            <a:ext cx="5429288" cy="461665"/>
          </a:xfrm>
          <a:prstGeom prst="rect">
            <a:avLst/>
          </a:prstGeom>
          <a:solidFill>
            <a:srgbClr val="C96765"/>
          </a:solidFill>
        </p:spPr>
        <p:txBody>
          <a:bodyPr wrap="square" rtlCol="0">
            <a:spAutoFit/>
          </a:bodyPr>
          <a:lstStyle/>
          <a:p>
            <a:pPr algn="ctr" rtl="1"/>
            <a:r>
              <a:rPr lang="ar-DZ" sz="2400" b="1" dirty="0" smtClean="0">
                <a:solidFill>
                  <a:schemeClr val="bg1"/>
                </a:solidFill>
              </a:rPr>
              <a:t>عرض حال حول ممارسة المسعى العلمي في الميدان </a:t>
            </a:r>
            <a:endParaRPr lang="fr-FR" sz="2400" b="1" dirty="0">
              <a:solidFill>
                <a:schemeClr val="bg1"/>
              </a:solidFill>
            </a:endParaRPr>
          </a:p>
        </p:txBody>
      </p:sp>
      <p:graphicFrame>
        <p:nvGraphicFramePr>
          <p:cNvPr id="10" name="Tableau 9"/>
          <p:cNvGraphicFramePr>
            <a:graphicFrameLocks noGrp="1"/>
          </p:cNvGraphicFramePr>
          <p:nvPr/>
        </p:nvGraphicFramePr>
        <p:xfrm>
          <a:off x="571472" y="928670"/>
          <a:ext cx="3786214" cy="5072101"/>
        </p:xfrm>
        <a:graphic>
          <a:graphicData uri="http://schemas.openxmlformats.org/drawingml/2006/table">
            <a:tbl>
              <a:tblPr firstRow="1" bandRow="1">
                <a:tableStyleId>{22838BEF-8BB2-4498-84A7-C5851F593DF1}</a:tableStyleId>
              </a:tblPr>
              <a:tblGrid>
                <a:gridCol w="3786214"/>
              </a:tblGrid>
              <a:tr h="414049">
                <a:tc>
                  <a:txBody>
                    <a:bodyPr/>
                    <a:lstStyle/>
                    <a:p>
                      <a:pPr algn="ctr" rtl="1"/>
                      <a:r>
                        <a:rPr lang="ar-DZ" dirty="0" smtClean="0"/>
                        <a:t>11ـ الإجابة</a:t>
                      </a:r>
                      <a:r>
                        <a:rPr lang="ar-DZ" baseline="0" dirty="0" smtClean="0"/>
                        <a:t> عن التعليمات</a:t>
                      </a:r>
                      <a:endParaRPr lang="fr-FR" dirty="0"/>
                    </a:p>
                  </a:txBody>
                  <a:tcPr>
                    <a:solidFill>
                      <a:schemeClr val="bg2">
                        <a:lumMod val="90000"/>
                      </a:schemeClr>
                    </a:solidFill>
                  </a:tcPr>
                </a:tc>
              </a:tr>
              <a:tr h="724586">
                <a:tc>
                  <a:txBody>
                    <a:bodyPr/>
                    <a:lstStyle/>
                    <a:p>
                      <a:pPr algn="ctr" rtl="1"/>
                      <a:r>
                        <a:rPr lang="ar-DZ" b="1" dirty="0" smtClean="0">
                          <a:solidFill>
                            <a:srgbClr val="FF0000"/>
                          </a:solidFill>
                        </a:rPr>
                        <a:t>تكتب كل الإجابات على السبورة دون مناقشة</a:t>
                      </a:r>
                      <a:endParaRPr lang="fr-FR" b="1" dirty="0">
                        <a:solidFill>
                          <a:srgbClr val="FF0000"/>
                        </a:solidFill>
                      </a:endParaRPr>
                    </a:p>
                  </a:txBody>
                  <a:tcPr>
                    <a:solidFill>
                      <a:schemeClr val="bg1">
                        <a:lumMod val="95000"/>
                      </a:schemeClr>
                    </a:solidFill>
                  </a:tcPr>
                </a:tc>
              </a:tr>
              <a:tr h="414049">
                <a:tc>
                  <a:txBody>
                    <a:bodyPr/>
                    <a:lstStyle/>
                    <a:p>
                      <a:pPr algn="ctr" rtl="1"/>
                      <a:r>
                        <a:rPr lang="ar-DZ" b="1" dirty="0" smtClean="0">
                          <a:solidFill>
                            <a:srgbClr val="FF0000"/>
                          </a:solidFill>
                        </a:rPr>
                        <a:t>الأستاذ يكتب أو يملي الإجابات</a:t>
                      </a:r>
                      <a:endParaRPr lang="fr-FR" b="1" dirty="0">
                        <a:solidFill>
                          <a:srgbClr val="FF0000"/>
                        </a:solidFill>
                      </a:endParaRPr>
                    </a:p>
                  </a:txBody>
                  <a:tcPr>
                    <a:solidFill>
                      <a:schemeClr val="bg1">
                        <a:lumMod val="95000"/>
                      </a:schemeClr>
                    </a:solidFill>
                  </a:tcPr>
                </a:tc>
              </a:tr>
              <a:tr h="414049">
                <a:tc>
                  <a:txBody>
                    <a:bodyPr/>
                    <a:lstStyle/>
                    <a:p>
                      <a:pPr algn="ctr"/>
                      <a:endParaRPr lang="fr-FR" dirty="0"/>
                    </a:p>
                  </a:txBody>
                  <a:tcPr>
                    <a:solidFill>
                      <a:schemeClr val="bg1">
                        <a:lumMod val="95000"/>
                      </a:schemeClr>
                    </a:solidFill>
                  </a:tcPr>
                </a:tc>
              </a:tr>
              <a:tr h="414049">
                <a:tc>
                  <a:txBody>
                    <a:bodyPr/>
                    <a:lstStyle/>
                    <a:p>
                      <a:pPr algn="ctr" rtl="1"/>
                      <a:r>
                        <a:rPr lang="ar-DZ" b="1" dirty="0" smtClean="0"/>
                        <a:t>12ـ زمن</a:t>
                      </a:r>
                      <a:r>
                        <a:rPr lang="ar-DZ" b="1" baseline="0" dirty="0" smtClean="0"/>
                        <a:t> الإنجاز</a:t>
                      </a:r>
                      <a:endParaRPr lang="fr-FR" b="1" dirty="0"/>
                    </a:p>
                  </a:txBody>
                  <a:tcPr>
                    <a:solidFill>
                      <a:schemeClr val="bg2">
                        <a:lumMod val="90000"/>
                      </a:schemeClr>
                    </a:solidFill>
                  </a:tcPr>
                </a:tc>
              </a:tr>
              <a:tr h="724586">
                <a:tc>
                  <a:txBody>
                    <a:bodyPr/>
                    <a:lstStyle/>
                    <a:p>
                      <a:pPr algn="ctr" rtl="1"/>
                      <a:r>
                        <a:rPr lang="ar-DZ" b="1" dirty="0" smtClean="0">
                          <a:solidFill>
                            <a:srgbClr val="FF0000"/>
                          </a:solidFill>
                        </a:rPr>
                        <a:t>الأستاذ</a:t>
                      </a:r>
                      <a:r>
                        <a:rPr lang="ar-DZ" b="1" baseline="0" dirty="0" smtClean="0">
                          <a:solidFill>
                            <a:srgbClr val="FF0000"/>
                          </a:solidFill>
                        </a:rPr>
                        <a:t> منشغل بزمن الإنجاز، لا يفكر في التعلمات.</a:t>
                      </a:r>
                      <a:endParaRPr lang="fr-FR" b="1" dirty="0">
                        <a:solidFill>
                          <a:srgbClr val="FF0000"/>
                        </a:solidFill>
                      </a:endParaRPr>
                    </a:p>
                  </a:txBody>
                  <a:tcPr>
                    <a:solidFill>
                      <a:schemeClr val="bg1">
                        <a:lumMod val="95000"/>
                      </a:schemeClr>
                    </a:solidFill>
                  </a:tcPr>
                </a:tc>
              </a:tr>
              <a:tr h="724586">
                <a:tc>
                  <a:txBody>
                    <a:bodyPr/>
                    <a:lstStyle/>
                    <a:p>
                      <a:pPr algn="ctr" rtl="1"/>
                      <a:r>
                        <a:rPr lang="ar-DZ" b="1" dirty="0" smtClean="0">
                          <a:solidFill>
                            <a:srgbClr val="FF0000"/>
                          </a:solidFill>
                        </a:rPr>
                        <a:t>الأستاذ</a:t>
                      </a:r>
                      <a:r>
                        <a:rPr lang="ar-DZ" b="1" baseline="0" dirty="0" smtClean="0">
                          <a:solidFill>
                            <a:srgbClr val="FF0000"/>
                          </a:solidFill>
                        </a:rPr>
                        <a:t> لا </a:t>
                      </a:r>
                      <a:r>
                        <a:rPr lang="ar-DZ" b="1" baseline="0" dirty="0" err="1" smtClean="0">
                          <a:solidFill>
                            <a:srgbClr val="FF0000"/>
                          </a:solidFill>
                        </a:rPr>
                        <a:t>يهمه</a:t>
                      </a:r>
                      <a:r>
                        <a:rPr lang="ar-DZ" b="1" baseline="0" dirty="0" smtClean="0">
                          <a:solidFill>
                            <a:srgbClr val="FF0000"/>
                          </a:solidFill>
                        </a:rPr>
                        <a:t> زمن الإنجاز، سيكمل في الحصة القادمة.</a:t>
                      </a:r>
                      <a:endParaRPr lang="fr-FR" b="1" dirty="0">
                        <a:solidFill>
                          <a:srgbClr val="FF0000"/>
                        </a:solidFill>
                      </a:endParaRPr>
                    </a:p>
                  </a:txBody>
                  <a:tcPr>
                    <a:solidFill>
                      <a:schemeClr val="bg1">
                        <a:lumMod val="95000"/>
                      </a:schemeClr>
                    </a:solidFill>
                  </a:tcPr>
                </a:tc>
              </a:tr>
              <a:tr h="414049">
                <a:tc>
                  <a:txBody>
                    <a:bodyPr/>
                    <a:lstStyle/>
                    <a:p>
                      <a:pPr algn="ctr" rtl="1"/>
                      <a:endParaRPr lang="fr-FR" b="1" dirty="0"/>
                    </a:p>
                  </a:txBody>
                  <a:tcPr>
                    <a:solidFill>
                      <a:schemeClr val="bg1">
                        <a:lumMod val="95000"/>
                      </a:schemeClr>
                    </a:solidFill>
                  </a:tcPr>
                </a:tc>
              </a:tr>
              <a:tr h="414049">
                <a:tc>
                  <a:txBody>
                    <a:bodyPr/>
                    <a:lstStyle/>
                    <a:p>
                      <a:pPr algn="ctr" rtl="1"/>
                      <a:r>
                        <a:rPr lang="ar-DZ" b="1" dirty="0" smtClean="0">
                          <a:solidFill>
                            <a:schemeClr val="tx1"/>
                          </a:solidFill>
                        </a:rPr>
                        <a:t>13ـ تقديم المنتوج (البناء)</a:t>
                      </a:r>
                      <a:endParaRPr lang="fr-FR" b="1" dirty="0">
                        <a:solidFill>
                          <a:schemeClr val="tx1"/>
                        </a:solidFill>
                      </a:endParaRPr>
                    </a:p>
                  </a:txBody>
                  <a:tcPr>
                    <a:solidFill>
                      <a:schemeClr val="bg2">
                        <a:lumMod val="90000"/>
                      </a:schemeClr>
                    </a:solidFill>
                  </a:tcPr>
                </a:tc>
              </a:tr>
              <a:tr h="414049">
                <a:tc>
                  <a:txBody>
                    <a:bodyPr/>
                    <a:lstStyle/>
                    <a:p>
                      <a:pPr algn="ctr" rtl="1"/>
                      <a:r>
                        <a:rPr lang="ar-DZ" b="1" dirty="0" smtClean="0">
                          <a:solidFill>
                            <a:srgbClr val="FF0000"/>
                          </a:solidFill>
                        </a:rPr>
                        <a:t>الأستاذ يملي أو ينجز الخلاصة</a:t>
                      </a:r>
                      <a:endParaRPr lang="fr-FR" b="1" dirty="0">
                        <a:solidFill>
                          <a:srgbClr val="FF0000"/>
                        </a:solidFill>
                      </a:endParaRPr>
                    </a:p>
                  </a:txBody>
                  <a:tcPr>
                    <a:solidFill>
                      <a:schemeClr val="bg1">
                        <a:lumMod val="95000"/>
                      </a:schemeClr>
                    </a:solidFill>
                  </a:tcPr>
                </a:tc>
              </a:tr>
            </a:tbl>
          </a:graphicData>
        </a:graphic>
      </p:graphicFrame>
      <p:graphicFrame>
        <p:nvGraphicFramePr>
          <p:cNvPr id="13" name="Tableau 12"/>
          <p:cNvGraphicFramePr>
            <a:graphicFrameLocks noGrp="1"/>
          </p:cNvGraphicFramePr>
          <p:nvPr/>
        </p:nvGraphicFramePr>
        <p:xfrm>
          <a:off x="4646613" y="928670"/>
          <a:ext cx="3282973" cy="5066519"/>
        </p:xfrm>
        <a:graphic>
          <a:graphicData uri="http://schemas.openxmlformats.org/drawingml/2006/table">
            <a:tbl>
              <a:tblPr firstRow="1" bandRow="1">
                <a:tableStyleId>{22838BEF-8BB2-4498-84A7-C5851F593DF1}</a:tableStyleId>
              </a:tblPr>
              <a:tblGrid>
                <a:gridCol w="3282973"/>
              </a:tblGrid>
              <a:tr h="353465">
                <a:tc>
                  <a:txBody>
                    <a:bodyPr/>
                    <a:lstStyle/>
                    <a:p>
                      <a:pPr algn="ctr" rtl="1"/>
                      <a:r>
                        <a:rPr lang="ar-DZ" dirty="0" smtClean="0"/>
                        <a:t>8ـ ادراج النشاطات</a:t>
                      </a:r>
                      <a:endParaRPr lang="fr-FR" dirty="0"/>
                    </a:p>
                  </a:txBody>
                  <a:tcPr>
                    <a:solidFill>
                      <a:schemeClr val="bg2">
                        <a:lumMod val="90000"/>
                      </a:schemeClr>
                    </a:solidFill>
                  </a:tcPr>
                </a:tc>
              </a:tr>
              <a:tr h="353465">
                <a:tc>
                  <a:txBody>
                    <a:bodyPr/>
                    <a:lstStyle/>
                    <a:p>
                      <a:pPr algn="ctr" rtl="1"/>
                      <a:r>
                        <a:rPr lang="ar-DZ" b="1" dirty="0" smtClean="0">
                          <a:solidFill>
                            <a:srgbClr val="FF0000"/>
                          </a:solidFill>
                        </a:rPr>
                        <a:t>إدراج</a:t>
                      </a:r>
                      <a:r>
                        <a:rPr lang="ar-DZ" b="1" baseline="0" dirty="0" smtClean="0">
                          <a:solidFill>
                            <a:srgbClr val="FF0000"/>
                          </a:solidFill>
                        </a:rPr>
                        <a:t> مباشر بعد المشكلة</a:t>
                      </a:r>
                      <a:endParaRPr lang="fr-FR" b="1" dirty="0">
                        <a:solidFill>
                          <a:srgbClr val="FF0000"/>
                        </a:solidFill>
                      </a:endParaRPr>
                    </a:p>
                  </a:txBody>
                  <a:tcPr>
                    <a:solidFill>
                      <a:schemeClr val="bg2"/>
                    </a:solidFill>
                  </a:tcPr>
                </a:tc>
              </a:tr>
              <a:tr h="353465">
                <a:tc>
                  <a:txBody>
                    <a:bodyPr/>
                    <a:lstStyle/>
                    <a:p>
                      <a:pPr algn="ctr" rtl="1"/>
                      <a:r>
                        <a:rPr lang="ar-DZ" b="1" dirty="0" smtClean="0">
                          <a:solidFill>
                            <a:srgbClr val="FF0000"/>
                          </a:solidFill>
                        </a:rPr>
                        <a:t>إدراج من قبل الأستاذ</a:t>
                      </a:r>
                      <a:endParaRPr lang="fr-FR" b="1" dirty="0">
                        <a:solidFill>
                          <a:srgbClr val="FF0000"/>
                        </a:solidFill>
                      </a:endParaRPr>
                    </a:p>
                  </a:txBody>
                  <a:tcPr>
                    <a:solidFill>
                      <a:schemeClr val="bg1">
                        <a:lumMod val="95000"/>
                      </a:schemeClr>
                    </a:solidFill>
                  </a:tcPr>
                </a:tc>
              </a:tr>
              <a:tr h="353465">
                <a:tc>
                  <a:txBody>
                    <a:bodyPr/>
                    <a:lstStyle/>
                    <a:p>
                      <a:pPr algn="ctr" rtl="1"/>
                      <a:r>
                        <a:rPr lang="ar-DZ" b="1" dirty="0" smtClean="0">
                          <a:solidFill>
                            <a:srgbClr val="FF0000"/>
                          </a:solidFill>
                        </a:rPr>
                        <a:t>إدراج من التلاميذ دون مناقشة</a:t>
                      </a:r>
                      <a:endParaRPr lang="fr-FR" b="1" dirty="0">
                        <a:solidFill>
                          <a:srgbClr val="FF0000"/>
                        </a:solidFill>
                      </a:endParaRPr>
                    </a:p>
                  </a:txBody>
                  <a:tcPr>
                    <a:solidFill>
                      <a:schemeClr val="bg1">
                        <a:lumMod val="95000"/>
                      </a:schemeClr>
                    </a:solidFill>
                  </a:tcPr>
                </a:tc>
              </a:tr>
              <a:tr h="353465">
                <a:tc>
                  <a:txBody>
                    <a:bodyPr/>
                    <a:lstStyle/>
                    <a:p>
                      <a:pPr algn="ctr" rtl="1"/>
                      <a:r>
                        <a:rPr lang="ar-DZ" b="1" dirty="0" smtClean="0">
                          <a:solidFill>
                            <a:srgbClr val="FF0000"/>
                          </a:solidFill>
                        </a:rPr>
                        <a:t>نوع النشاطات غير مضبوط</a:t>
                      </a:r>
                      <a:endParaRPr lang="fr-FR" b="1" dirty="0">
                        <a:solidFill>
                          <a:srgbClr val="FF0000"/>
                        </a:solidFill>
                      </a:endParaRPr>
                    </a:p>
                  </a:txBody>
                  <a:tcPr>
                    <a:solidFill>
                      <a:schemeClr val="bg1">
                        <a:lumMod val="95000"/>
                      </a:schemeClr>
                    </a:solidFill>
                  </a:tcPr>
                </a:tc>
              </a:tr>
              <a:tr h="353465">
                <a:tc>
                  <a:txBody>
                    <a:bodyPr/>
                    <a:lstStyle/>
                    <a:p>
                      <a:pPr algn="ctr" rtl="1"/>
                      <a:endParaRPr lang="fr-FR" b="1" dirty="0"/>
                    </a:p>
                  </a:txBody>
                  <a:tcPr>
                    <a:solidFill>
                      <a:schemeClr val="bg1">
                        <a:lumMod val="95000"/>
                      </a:schemeClr>
                    </a:solidFill>
                  </a:tcPr>
                </a:tc>
              </a:tr>
              <a:tr h="382920">
                <a:tc>
                  <a:txBody>
                    <a:bodyPr/>
                    <a:lstStyle/>
                    <a:p>
                      <a:pPr algn="ctr" rtl="1"/>
                      <a:r>
                        <a:rPr lang="ar-DZ" sz="2000" b="1" dirty="0" smtClean="0">
                          <a:solidFill>
                            <a:schemeClr val="tx1"/>
                          </a:solidFill>
                        </a:rPr>
                        <a:t>9ـ الوثائق</a:t>
                      </a:r>
                      <a:endParaRPr lang="fr-FR" sz="2000" b="1" dirty="0">
                        <a:solidFill>
                          <a:schemeClr val="tx1"/>
                        </a:solidFill>
                      </a:endParaRPr>
                    </a:p>
                  </a:txBody>
                  <a:tcPr>
                    <a:solidFill>
                      <a:schemeClr val="bg2">
                        <a:lumMod val="90000"/>
                      </a:schemeClr>
                    </a:solidFill>
                  </a:tcPr>
                </a:tc>
              </a:tr>
              <a:tr h="353465">
                <a:tc>
                  <a:txBody>
                    <a:bodyPr/>
                    <a:lstStyle/>
                    <a:p>
                      <a:pPr algn="ctr" rtl="1"/>
                      <a:r>
                        <a:rPr lang="ar-DZ" b="1" dirty="0" smtClean="0">
                          <a:solidFill>
                            <a:srgbClr val="FF0000"/>
                          </a:solidFill>
                        </a:rPr>
                        <a:t>قراءة الوثائق بتدخل سلبي للأستاذ</a:t>
                      </a:r>
                      <a:endParaRPr lang="fr-FR" b="1" dirty="0">
                        <a:solidFill>
                          <a:srgbClr val="FF0000"/>
                        </a:solidFill>
                      </a:endParaRPr>
                    </a:p>
                  </a:txBody>
                  <a:tcPr>
                    <a:solidFill>
                      <a:schemeClr val="bg1">
                        <a:lumMod val="95000"/>
                      </a:schemeClr>
                    </a:solidFill>
                  </a:tcPr>
                </a:tc>
              </a:tr>
              <a:tr h="353465">
                <a:tc>
                  <a:txBody>
                    <a:bodyPr/>
                    <a:lstStyle/>
                    <a:p>
                      <a:pPr algn="ctr" rtl="1"/>
                      <a:r>
                        <a:rPr lang="ar-DZ" b="1" dirty="0" smtClean="0">
                          <a:solidFill>
                            <a:srgbClr val="FF0000"/>
                          </a:solidFill>
                        </a:rPr>
                        <a:t>عدم إدراج الوثائق الضرورية للحل</a:t>
                      </a:r>
                      <a:endParaRPr lang="fr-FR" b="1" dirty="0">
                        <a:solidFill>
                          <a:srgbClr val="FF0000"/>
                        </a:solidFill>
                      </a:endParaRPr>
                    </a:p>
                  </a:txBody>
                  <a:tcPr>
                    <a:solidFill>
                      <a:schemeClr val="bg1">
                        <a:lumMod val="95000"/>
                      </a:schemeClr>
                    </a:solidFill>
                  </a:tcPr>
                </a:tc>
              </a:tr>
              <a:tr h="353465">
                <a:tc>
                  <a:txBody>
                    <a:bodyPr/>
                    <a:lstStyle/>
                    <a:p>
                      <a:pPr algn="ctr" rtl="1"/>
                      <a:endParaRPr lang="fr-FR" b="1" dirty="0"/>
                    </a:p>
                  </a:txBody>
                  <a:tcPr>
                    <a:solidFill>
                      <a:schemeClr val="bg1">
                        <a:lumMod val="95000"/>
                      </a:schemeClr>
                    </a:solidFill>
                  </a:tcPr>
                </a:tc>
              </a:tr>
              <a:tr h="382920">
                <a:tc>
                  <a:txBody>
                    <a:bodyPr/>
                    <a:lstStyle/>
                    <a:p>
                      <a:pPr algn="ctr" rtl="1"/>
                      <a:r>
                        <a:rPr lang="ar-DZ" sz="2000" b="1" dirty="0" smtClean="0">
                          <a:solidFill>
                            <a:schemeClr val="tx1"/>
                          </a:solidFill>
                        </a:rPr>
                        <a:t>10ـ التعليمات</a:t>
                      </a:r>
                      <a:endParaRPr lang="fr-FR" b="1" dirty="0">
                        <a:solidFill>
                          <a:schemeClr val="tx1"/>
                        </a:solidFill>
                      </a:endParaRPr>
                    </a:p>
                  </a:txBody>
                  <a:tcPr>
                    <a:solidFill>
                      <a:schemeClr val="bg2">
                        <a:lumMod val="90000"/>
                      </a:schemeClr>
                    </a:solidFill>
                  </a:tcPr>
                </a:tc>
              </a:tr>
              <a:tr h="375547">
                <a:tc>
                  <a:txBody>
                    <a:bodyPr/>
                    <a:lstStyle/>
                    <a:p>
                      <a:pPr algn="ctr" rtl="1"/>
                      <a:r>
                        <a:rPr lang="ar-DZ" b="1" dirty="0" smtClean="0">
                          <a:solidFill>
                            <a:srgbClr val="FF0000"/>
                          </a:solidFill>
                        </a:rPr>
                        <a:t>لا توجد</a:t>
                      </a:r>
                      <a:endParaRPr lang="fr-FR" b="1" dirty="0">
                        <a:solidFill>
                          <a:srgbClr val="FF0000"/>
                        </a:solidFill>
                      </a:endParaRPr>
                    </a:p>
                  </a:txBody>
                  <a:tcPr>
                    <a:solidFill>
                      <a:schemeClr val="bg1">
                        <a:lumMod val="95000"/>
                      </a:schemeClr>
                    </a:solidFill>
                  </a:tcPr>
                </a:tc>
              </a:tr>
              <a:tr h="606652">
                <a:tc>
                  <a:txBody>
                    <a:bodyPr/>
                    <a:lstStyle/>
                    <a:p>
                      <a:pPr algn="ctr" rtl="1"/>
                      <a:r>
                        <a:rPr lang="ar-DZ" b="1" dirty="0" smtClean="0">
                          <a:solidFill>
                            <a:srgbClr val="FF0000"/>
                          </a:solidFill>
                        </a:rPr>
                        <a:t>أسئلة عشوائية لا تخدم المشكل المطروح</a:t>
                      </a:r>
                      <a:endParaRPr lang="fr-FR" b="1" dirty="0">
                        <a:solidFill>
                          <a:srgbClr val="FF0000"/>
                        </a:solidFill>
                      </a:endParaRPr>
                    </a:p>
                  </a:txBody>
                  <a:tcPr>
                    <a:solidFill>
                      <a:schemeClr val="bg1">
                        <a:lumMod val="95000"/>
                      </a:schemeClr>
                    </a:solidFill>
                  </a:tcPr>
                </a:tc>
              </a:tr>
            </a:tbl>
          </a:graphicData>
        </a:graphic>
      </p:graphicFrame>
      <p:sp>
        <p:nvSpPr>
          <p:cNvPr id="6" name="Rectangle 5"/>
          <p:cNvSpPr/>
          <p:nvPr/>
        </p:nvSpPr>
        <p:spPr>
          <a:xfrm>
            <a:off x="0" y="0"/>
            <a:ext cx="9144000" cy="6858000"/>
          </a:xfrm>
          <a:prstGeom prst="rect">
            <a:avLst/>
          </a:prstGeom>
          <a:noFill/>
          <a:ln w="76200">
            <a:solidFill>
              <a:srgbClr val="4599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space réservé du numéro de diapositive 6"/>
          <p:cNvSpPr>
            <a:spLocks noGrp="1"/>
          </p:cNvSpPr>
          <p:nvPr>
            <p:ph type="sldNum" sz="quarter" idx="12"/>
          </p:nvPr>
        </p:nvSpPr>
        <p:spPr/>
        <p:txBody>
          <a:bodyPr/>
          <a:lstStyle/>
          <a:p>
            <a:fld id="{0BFA6C5E-AA5E-44D9-98D8-E3BF1AB628E5}" type="slidenum">
              <a:rPr lang="fr-FR" smtClean="0"/>
              <a:pPr/>
              <a:t>4</a:t>
            </a:fld>
            <a:endParaRPr lang="fr-F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642910" y="1071546"/>
            <a:ext cx="7715304" cy="1200329"/>
          </a:xfrm>
          <a:prstGeom prst="rect">
            <a:avLst/>
          </a:prstGeom>
          <a:solidFill>
            <a:schemeClr val="accent4">
              <a:lumMod val="20000"/>
              <a:lumOff val="80000"/>
            </a:schemeClr>
          </a:solidFill>
          <a:ln w="9525">
            <a:solidFill>
              <a:schemeClr val="accent1"/>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Low" defTabSz="914400" rtl="1" eaLnBrk="1" fontAlgn="base" latinLnBrk="0" hangingPunct="1">
              <a:lnSpc>
                <a:spcPct val="100000"/>
              </a:lnSpc>
              <a:spcBef>
                <a:spcPct val="0"/>
              </a:spcBef>
              <a:spcAft>
                <a:spcPct val="0"/>
              </a:spcAft>
              <a:buClrTx/>
              <a:buSzTx/>
              <a:buFontTx/>
              <a:buNone/>
              <a:tabLst/>
            </a:pPr>
            <a:r>
              <a:rPr kumimoji="0" lang="ar-DZ" sz="2400" b="1" i="0" u="none" strike="noStrike" cap="none" normalizeH="0" baseline="0" dirty="0" smtClean="0">
                <a:ln>
                  <a:noFill/>
                </a:ln>
                <a:solidFill>
                  <a:schemeClr val="tx1"/>
                </a:solidFill>
                <a:effectLst/>
                <a:latin typeface="Calibri" pitchFamily="34" charset="0"/>
                <a:ea typeface="Calibri" pitchFamily="34" charset="0"/>
                <a:cs typeface="Arial" pitchFamily="34" charset="0"/>
              </a:rPr>
              <a:t>نلاحظ من خلال معاينة الممارسات الميدانية ذات العلاقة بممارسة المسعى العلمي </a:t>
            </a:r>
            <a:r>
              <a:rPr kumimoji="0" lang="ar-DZ" sz="2400" b="1" i="0" u="none" strike="noStrike" cap="none" normalizeH="0" baseline="0" dirty="0" smtClean="0">
                <a:ln>
                  <a:noFill/>
                </a:ln>
                <a:solidFill>
                  <a:srgbClr val="FF0000"/>
                </a:solidFill>
                <a:effectLst/>
                <a:latin typeface="Calibri" pitchFamily="34" charset="0"/>
                <a:ea typeface="Calibri" pitchFamily="34" charset="0"/>
                <a:cs typeface="Arial" pitchFamily="34" charset="0"/>
              </a:rPr>
              <a:t>قلة التحكم في ممارسة مفهوم المسعى العلمي وفي مراحله؛ رغم كل ما يكتسيه من أثر في تنمية كفاءات المتعلمين.</a:t>
            </a:r>
          </a:p>
        </p:txBody>
      </p:sp>
      <p:sp>
        <p:nvSpPr>
          <p:cNvPr id="6" name="Rectangle 5"/>
          <p:cNvSpPr/>
          <p:nvPr/>
        </p:nvSpPr>
        <p:spPr>
          <a:xfrm>
            <a:off x="3929036" y="285728"/>
            <a:ext cx="1651414" cy="461665"/>
          </a:xfrm>
          <a:prstGeom prst="rect">
            <a:avLst/>
          </a:prstGeom>
          <a:solidFill>
            <a:schemeClr val="accent2">
              <a:lumMod val="20000"/>
              <a:lumOff val="80000"/>
            </a:schemeClr>
          </a:solidFill>
          <a:ln>
            <a:solidFill>
              <a:schemeClr val="accent1"/>
            </a:solidFill>
          </a:ln>
        </p:spPr>
        <p:txBody>
          <a:bodyPr wrap="none">
            <a:spAutoFit/>
          </a:bodyPr>
          <a:lstStyle/>
          <a:p>
            <a:pPr lvl="0" algn="justLow" rtl="1" fontAlgn="base">
              <a:spcBef>
                <a:spcPct val="0"/>
              </a:spcBef>
              <a:spcAft>
                <a:spcPct val="0"/>
              </a:spcAft>
            </a:pPr>
            <a:r>
              <a:rPr lang="ar-DZ" sz="2400" b="1" dirty="0" smtClean="0">
                <a:latin typeface="Calibri" pitchFamily="34" charset="0"/>
                <a:ea typeface="Calibri" pitchFamily="34" charset="0"/>
                <a:cs typeface="Arial" pitchFamily="34" charset="0"/>
              </a:rPr>
              <a:t>خلاصة الوضع</a:t>
            </a:r>
          </a:p>
        </p:txBody>
      </p:sp>
      <p:sp>
        <p:nvSpPr>
          <p:cNvPr id="7" name="Flèche vers le bas 6"/>
          <p:cNvSpPr/>
          <p:nvPr/>
        </p:nvSpPr>
        <p:spPr>
          <a:xfrm>
            <a:off x="4429124" y="2428868"/>
            <a:ext cx="285752" cy="64294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642910" y="3071810"/>
            <a:ext cx="7643866" cy="1569660"/>
          </a:xfrm>
          <a:prstGeom prst="rect">
            <a:avLst/>
          </a:prstGeom>
          <a:solidFill>
            <a:schemeClr val="accent4">
              <a:lumMod val="20000"/>
              <a:lumOff val="80000"/>
            </a:schemeClr>
          </a:solidFill>
          <a:ln>
            <a:solidFill>
              <a:schemeClr val="accent1"/>
            </a:solidFill>
          </a:ln>
        </p:spPr>
        <p:txBody>
          <a:bodyPr wrap="square">
            <a:spAutoFit/>
          </a:bodyPr>
          <a:lstStyle/>
          <a:p>
            <a:pPr lvl="0" algn="justLow" rtl="1" eaLnBrk="0" fontAlgn="base" hangingPunct="0">
              <a:spcBef>
                <a:spcPct val="0"/>
              </a:spcBef>
              <a:spcAft>
                <a:spcPct val="0"/>
              </a:spcAft>
            </a:pPr>
            <a:r>
              <a:rPr lang="ar-DZ" sz="2400" b="1" dirty="0" smtClean="0">
                <a:latin typeface="Calibri" pitchFamily="34" charset="0"/>
                <a:ea typeface="Calibri" pitchFamily="34" charset="0"/>
                <a:cs typeface="Arial" pitchFamily="34" charset="0"/>
              </a:rPr>
              <a:t>تَدَنِّي قدرة المتعلمين على تفسير الظواهر العلمية وسحب المواقف التعلمية اللاحقة على المواقف السابقة إضافة إلى ضعفهم في وضع الفرضيات واختبارها، والاستدلال بربط المفاهيم والحقائق والخروج باستنتاجات،، وعجزهم على حل المشكلات.</a:t>
            </a:r>
            <a:endParaRPr lang="ar-DZ" sz="2400" b="1" dirty="0" smtClean="0">
              <a:latin typeface="Arial" pitchFamily="34" charset="0"/>
              <a:cs typeface="Arial" pitchFamily="34" charset="0"/>
            </a:endParaRPr>
          </a:p>
        </p:txBody>
      </p:sp>
      <p:sp>
        <p:nvSpPr>
          <p:cNvPr id="9" name="Flèche vers le bas 8"/>
          <p:cNvSpPr/>
          <p:nvPr/>
        </p:nvSpPr>
        <p:spPr>
          <a:xfrm>
            <a:off x="4429124" y="4714884"/>
            <a:ext cx="285752" cy="64294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26" name="Picture 2"/>
          <p:cNvPicPr>
            <a:picLocks noChangeAspect="1" noChangeArrowheads="1"/>
          </p:cNvPicPr>
          <p:nvPr/>
        </p:nvPicPr>
        <p:blipFill>
          <a:blip r:embed="rId2"/>
          <a:srcRect/>
          <a:stretch>
            <a:fillRect/>
          </a:stretch>
        </p:blipFill>
        <p:spPr bwMode="auto">
          <a:xfrm>
            <a:off x="500034" y="5429264"/>
            <a:ext cx="8166611" cy="928694"/>
          </a:xfrm>
          <a:prstGeom prst="rect">
            <a:avLst/>
          </a:prstGeom>
          <a:noFill/>
          <a:ln w="9525">
            <a:solidFill>
              <a:schemeClr val="tx1"/>
            </a:solidFill>
            <a:miter lim="800000"/>
            <a:headEnd/>
            <a:tailEnd/>
          </a:ln>
          <a:effectLst/>
        </p:spPr>
      </p:pic>
      <p:sp>
        <p:nvSpPr>
          <p:cNvPr id="10" name="Rectangle 9"/>
          <p:cNvSpPr/>
          <p:nvPr/>
        </p:nvSpPr>
        <p:spPr>
          <a:xfrm>
            <a:off x="0" y="0"/>
            <a:ext cx="9144000" cy="6858000"/>
          </a:xfrm>
          <a:prstGeom prst="rect">
            <a:avLst/>
          </a:prstGeom>
          <a:noFill/>
          <a:ln w="76200">
            <a:solidFill>
              <a:srgbClr val="4599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space réservé du numéro de diapositive 10"/>
          <p:cNvSpPr>
            <a:spLocks noGrp="1"/>
          </p:cNvSpPr>
          <p:nvPr>
            <p:ph type="sldNum" sz="quarter" idx="12"/>
          </p:nvPr>
        </p:nvSpPr>
        <p:spPr/>
        <p:txBody>
          <a:bodyPr/>
          <a:lstStyle/>
          <a:p>
            <a:fld id="{0BFA6C5E-AA5E-44D9-98D8-E3BF1AB628E5}" type="slidenum">
              <a:rPr lang="fr-FR" smtClean="0"/>
              <a:pPr/>
              <a:t>5</a:t>
            </a:fld>
            <a:endParaRPr lang="fr-F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28678" y="2500306"/>
            <a:ext cx="7000908" cy="2862322"/>
          </a:xfrm>
          <a:prstGeom prst="rect">
            <a:avLst/>
          </a:prstGeom>
          <a:solidFill>
            <a:schemeClr val="accent3">
              <a:lumMod val="60000"/>
              <a:lumOff val="40000"/>
            </a:schemeClr>
          </a:solidFill>
          <a:ln>
            <a:solidFill>
              <a:schemeClr val="tx1"/>
            </a:solidFill>
          </a:ln>
        </p:spPr>
        <p:txBody>
          <a:bodyPr wrap="square">
            <a:spAutoFit/>
          </a:bodyPr>
          <a:lstStyle/>
          <a:p>
            <a:pPr algn="ctr" rtl="1"/>
            <a:r>
              <a:rPr lang="ar-DZ" sz="3600" b="1" dirty="0" smtClean="0"/>
              <a:t>كيف يمكن تطوير ممارسة المسعى العلمي في القسم أولا اعتمادا على استراتيجيات التعليم والتعلم بحل المشكلات المتضمنة في المناهج ليتمكن من </a:t>
            </a:r>
            <a:r>
              <a:rPr lang="ar-DZ" sz="3600" b="1" dirty="0" err="1" smtClean="0"/>
              <a:t>ممراستها</a:t>
            </a:r>
            <a:r>
              <a:rPr lang="ar-DZ" sz="3600" b="1" dirty="0" smtClean="0"/>
              <a:t> في مواضيع </a:t>
            </a:r>
            <a:r>
              <a:rPr lang="ar-DZ" sz="3600" b="1" dirty="0" err="1" smtClean="0"/>
              <a:t>الإختبارات</a:t>
            </a:r>
            <a:r>
              <a:rPr lang="ar-DZ" sz="3600" b="1" dirty="0" smtClean="0"/>
              <a:t> </a:t>
            </a:r>
            <a:r>
              <a:rPr lang="ar-DZ" sz="3600" b="1" dirty="0" err="1" smtClean="0"/>
              <a:t>الإشهادية</a:t>
            </a:r>
            <a:r>
              <a:rPr lang="ar-DZ" sz="3600" b="1" dirty="0" smtClean="0"/>
              <a:t>؟</a:t>
            </a:r>
          </a:p>
        </p:txBody>
      </p:sp>
      <p:sp>
        <p:nvSpPr>
          <p:cNvPr id="3" name="Rectangle 2"/>
          <p:cNvSpPr/>
          <p:nvPr/>
        </p:nvSpPr>
        <p:spPr>
          <a:xfrm>
            <a:off x="928678" y="692696"/>
            <a:ext cx="7000908" cy="1368152"/>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DZ" sz="4400" b="1" dirty="0" smtClean="0"/>
              <a:t>المشكلة التكوينية المراد معالجته</a:t>
            </a:r>
            <a:r>
              <a:rPr lang="ar-DZ" sz="4400" b="1" dirty="0"/>
              <a:t>ا:</a:t>
            </a:r>
            <a:endParaRPr lang="fr-FR" sz="4400" b="1" dirty="0"/>
          </a:p>
        </p:txBody>
      </p:sp>
      <p:sp>
        <p:nvSpPr>
          <p:cNvPr id="4" name="Rectangle 3"/>
          <p:cNvSpPr/>
          <p:nvPr/>
        </p:nvSpPr>
        <p:spPr>
          <a:xfrm>
            <a:off x="0" y="0"/>
            <a:ext cx="9144000" cy="6858000"/>
          </a:xfrm>
          <a:prstGeom prst="rect">
            <a:avLst/>
          </a:prstGeom>
          <a:noFill/>
          <a:ln w="76200">
            <a:solidFill>
              <a:srgbClr val="4599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space réservé du numéro de diapositive 4"/>
          <p:cNvSpPr>
            <a:spLocks noGrp="1"/>
          </p:cNvSpPr>
          <p:nvPr>
            <p:ph type="sldNum" sz="quarter" idx="12"/>
          </p:nvPr>
        </p:nvSpPr>
        <p:spPr/>
        <p:txBody>
          <a:bodyPr/>
          <a:lstStyle/>
          <a:p>
            <a:fld id="{0BFA6C5E-AA5E-44D9-98D8-E3BF1AB628E5}" type="slidenum">
              <a:rPr lang="fr-FR" smtClean="0"/>
              <a:pPr/>
              <a:t>6</a:t>
            </a:fld>
            <a:endParaRPr lang="fr-F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1928794" y="1928802"/>
            <a:ext cx="5786446" cy="830997"/>
          </a:xfrm>
          <a:prstGeom prst="rect">
            <a:avLst/>
          </a:prstGeom>
          <a:solidFill>
            <a:schemeClr val="accent6">
              <a:lumMod val="60000"/>
              <a:lumOff val="40000"/>
            </a:schemeClr>
          </a:solidFill>
          <a:ln w="9525">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1" eaLnBrk="1" fontAlgn="base" latinLnBrk="0" hangingPunct="1">
              <a:lnSpc>
                <a:spcPct val="100000"/>
              </a:lnSpc>
              <a:spcBef>
                <a:spcPct val="0"/>
              </a:spcBef>
              <a:spcAft>
                <a:spcPct val="0"/>
              </a:spcAft>
              <a:buClrTx/>
              <a:buSzTx/>
              <a:buFontTx/>
              <a:buNone/>
              <a:tabLst/>
            </a:pPr>
            <a:r>
              <a:rPr kumimoji="0" lang="ar-DZ" sz="2400" b="1" i="0" u="none" strike="noStrike" cap="none" normalizeH="0" baseline="0" dirty="0" smtClean="0">
                <a:ln>
                  <a:noFill/>
                </a:ln>
                <a:solidFill>
                  <a:schemeClr val="tx1"/>
                </a:solidFill>
                <a:effectLst/>
                <a:latin typeface="Calibri" pitchFamily="34" charset="0"/>
                <a:ea typeface="Calibri" pitchFamily="34" charset="0"/>
                <a:cs typeface="Arial" pitchFamily="34" charset="0"/>
              </a:rPr>
              <a:t>الاستدلال العلمي</a:t>
            </a:r>
          </a:p>
          <a:p>
            <a:pPr marL="0" marR="0" lvl="0" indent="0" algn="ctr" defTabSz="914400" rtl="1" eaLnBrk="1" fontAlgn="base" latinLnBrk="0" hangingPunct="1">
              <a:lnSpc>
                <a:spcPct val="100000"/>
              </a:lnSpc>
              <a:spcBef>
                <a:spcPct val="0"/>
              </a:spcBef>
              <a:spcAft>
                <a:spcPct val="0"/>
              </a:spcAft>
              <a:buClrTx/>
              <a:buSzTx/>
              <a:buFontTx/>
              <a:buNone/>
              <a:tabLst/>
            </a:pPr>
            <a:r>
              <a:rPr kumimoji="0" lang="ar-DZ" sz="2400" b="1" i="0" u="none" strike="noStrike" cap="none" normalizeH="0" baseline="0" dirty="0" smtClean="0">
                <a:ln>
                  <a:noFill/>
                </a:ln>
                <a:solidFill>
                  <a:schemeClr val="tx1"/>
                </a:solidFill>
                <a:effectLst/>
                <a:latin typeface="Calibri" pitchFamily="34" charset="0"/>
                <a:ea typeface="Calibri" pitchFamily="34" charset="0"/>
                <a:cs typeface="Arial" pitchFamily="34" charset="0"/>
              </a:rPr>
              <a:t>  (</a:t>
            </a:r>
            <a:r>
              <a:rPr kumimoji="0" lang="fr-FR" sz="2400" b="1" i="0" u="none" strike="noStrike" cap="none" normalizeH="0" baseline="0" dirty="0" smtClean="0">
                <a:ln>
                  <a:noFill/>
                </a:ln>
                <a:solidFill>
                  <a:schemeClr val="tx1"/>
                </a:solidFill>
                <a:effectLst/>
                <a:latin typeface="Calibri" pitchFamily="34" charset="0"/>
                <a:ea typeface="Calibri" pitchFamily="34" charset="0"/>
                <a:cs typeface="Arial" pitchFamily="34" charset="0"/>
              </a:rPr>
              <a:t>le raisonnement scientifique</a:t>
            </a:r>
            <a:r>
              <a:rPr kumimoji="0" lang="ar-DZ" sz="2400" b="1" i="0" u="none" strike="noStrike" cap="none" normalizeH="0" baseline="0" dirty="0" smtClean="0">
                <a:ln>
                  <a:noFill/>
                </a:ln>
                <a:solidFill>
                  <a:schemeClr val="tx1"/>
                </a:solidFill>
                <a:effectLst/>
                <a:latin typeface="Calibri" pitchFamily="34" charset="0"/>
                <a:ea typeface="Calibri" pitchFamily="34" charset="0"/>
                <a:cs typeface="Arial" pitchFamily="34" charset="0"/>
              </a:rPr>
              <a:t>)</a:t>
            </a:r>
            <a:endParaRPr kumimoji="0" lang="ar-DZ" sz="2400" b="0" i="0" u="none" strike="noStrike" cap="none" normalizeH="0" baseline="0" dirty="0" smtClean="0">
              <a:ln>
                <a:noFill/>
              </a:ln>
              <a:solidFill>
                <a:schemeClr val="tx1"/>
              </a:solidFill>
              <a:effectLst/>
              <a:latin typeface="Arial" pitchFamily="34" charset="0"/>
              <a:cs typeface="Arial" pitchFamily="34" charset="0"/>
            </a:endParaRPr>
          </a:p>
        </p:txBody>
      </p:sp>
      <p:sp>
        <p:nvSpPr>
          <p:cNvPr id="1026" name="Rectangle 2"/>
          <p:cNvSpPr>
            <a:spLocks noChangeArrowheads="1"/>
          </p:cNvSpPr>
          <p:nvPr/>
        </p:nvSpPr>
        <p:spPr bwMode="auto">
          <a:xfrm>
            <a:off x="714316" y="3428976"/>
            <a:ext cx="7715304" cy="2677656"/>
          </a:xfrm>
          <a:prstGeom prst="rect">
            <a:avLst/>
          </a:prstGeom>
          <a:solidFill>
            <a:schemeClr val="accent6">
              <a:lumMod val="60000"/>
              <a:lumOff val="40000"/>
            </a:schemeClr>
          </a:solidFill>
          <a:ln w="9525">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1" eaLnBrk="1" fontAlgn="base" latinLnBrk="0" hangingPunct="1">
              <a:lnSpc>
                <a:spcPct val="100000"/>
              </a:lnSpc>
              <a:spcBef>
                <a:spcPct val="0"/>
              </a:spcBef>
              <a:spcAft>
                <a:spcPct val="0"/>
              </a:spcAft>
              <a:buClrTx/>
              <a:buSzTx/>
              <a:buFontTx/>
              <a:buNone/>
              <a:tabLst/>
            </a:pPr>
            <a:r>
              <a:rPr kumimoji="0" lang="ar-DZ" sz="2800" b="1" i="0" u="none" strike="noStrike" cap="none" normalizeH="0" baseline="0" dirty="0" smtClean="0">
                <a:ln>
                  <a:noFill/>
                </a:ln>
                <a:solidFill>
                  <a:schemeClr val="tx1"/>
                </a:solidFill>
                <a:effectLst/>
                <a:latin typeface="Calibri" pitchFamily="34" charset="0"/>
                <a:ea typeface="Calibri" pitchFamily="34" charset="0"/>
                <a:cs typeface="Arial" pitchFamily="34" charset="0"/>
              </a:rPr>
              <a:t>يعرف الاستدلال العلمي بأنه مجموعة العمليات العقلية التي تضع الحقائق أو المعلومات بطريقة منظمة، للوصول إلى نتائج معينة على أساسٍ من الأدلة والحقائق المناسبة الكافية، حيث يربط المتعلم ملاحظاته ومعلوماته المتوفرة عن ظاهرة ما بمعلوماته السابقة عنها أو معلومات أخرى بحيث يؤدي المنتوج إلى استنتاج أو اتخاذ قرار أو حل مشكلة.</a:t>
            </a:r>
            <a:endParaRPr kumimoji="0" lang="en-US" sz="2800" b="1" i="0" u="none" strike="noStrike" cap="none" normalizeH="0" baseline="0" dirty="0" smtClean="0">
              <a:ln>
                <a:noFill/>
              </a:ln>
              <a:solidFill>
                <a:schemeClr val="tx1"/>
              </a:solidFill>
              <a:effectLst/>
              <a:latin typeface="Calibri" pitchFamily="34" charset="0"/>
              <a:ea typeface="Calibri" pitchFamily="34" charset="0"/>
              <a:cs typeface="Arial" pitchFamily="34" charset="0"/>
            </a:endParaRPr>
          </a:p>
        </p:txBody>
      </p:sp>
      <p:sp>
        <p:nvSpPr>
          <p:cNvPr id="5" name="Rectangle 4"/>
          <p:cNvSpPr/>
          <p:nvPr/>
        </p:nvSpPr>
        <p:spPr>
          <a:xfrm>
            <a:off x="3181202" y="970794"/>
            <a:ext cx="2781531" cy="584775"/>
          </a:xfrm>
          <a:prstGeom prst="rect">
            <a:avLst/>
          </a:prstGeom>
          <a:solidFill>
            <a:schemeClr val="accent6">
              <a:lumMod val="60000"/>
              <a:lumOff val="40000"/>
            </a:schemeClr>
          </a:solidFill>
          <a:ln>
            <a:solidFill>
              <a:srgbClr val="FF0000"/>
            </a:solidFill>
          </a:ln>
        </p:spPr>
        <p:txBody>
          <a:bodyPr wrap="none">
            <a:spAutoFit/>
          </a:bodyPr>
          <a:lstStyle/>
          <a:p>
            <a:pPr algn="r" rtl="1"/>
            <a:r>
              <a:rPr lang="ar-DZ" sz="3200" b="1" dirty="0" smtClean="0">
                <a:solidFill>
                  <a:srgbClr val="FF0000"/>
                </a:solidFill>
              </a:rPr>
              <a:t>التوجيه البيداغوجي</a:t>
            </a:r>
          </a:p>
        </p:txBody>
      </p:sp>
      <p:sp>
        <p:nvSpPr>
          <p:cNvPr id="6" name="Rectangle 5"/>
          <p:cNvSpPr/>
          <p:nvPr/>
        </p:nvSpPr>
        <p:spPr>
          <a:xfrm>
            <a:off x="-32" y="-24"/>
            <a:ext cx="9144000" cy="6858000"/>
          </a:xfrm>
          <a:prstGeom prst="rect">
            <a:avLst/>
          </a:prstGeom>
          <a:noFill/>
          <a:ln w="76200">
            <a:solidFill>
              <a:srgbClr val="4599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space réservé du numéro de diapositive 6"/>
          <p:cNvSpPr>
            <a:spLocks noGrp="1"/>
          </p:cNvSpPr>
          <p:nvPr>
            <p:ph type="sldNum" sz="quarter" idx="12"/>
          </p:nvPr>
        </p:nvSpPr>
        <p:spPr/>
        <p:txBody>
          <a:bodyPr/>
          <a:lstStyle/>
          <a:p>
            <a:fld id="{0BFA6C5E-AA5E-44D9-98D8-E3BF1AB628E5}" type="slidenum">
              <a:rPr lang="fr-FR" smtClean="0"/>
              <a:pPr/>
              <a:t>7</a:t>
            </a:fld>
            <a:endParaRPr lang="fr-F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p:nvPr/>
        </p:nvPicPr>
        <p:blipFill>
          <a:blip r:embed="rId2"/>
          <a:srcRect/>
          <a:stretch>
            <a:fillRect/>
          </a:stretch>
        </p:blipFill>
        <p:spPr bwMode="auto">
          <a:xfrm>
            <a:off x="928662" y="1428736"/>
            <a:ext cx="6786610" cy="4071965"/>
          </a:xfrm>
          <a:prstGeom prst="rect">
            <a:avLst/>
          </a:prstGeom>
          <a:noFill/>
          <a:ln w="9525">
            <a:solidFill>
              <a:schemeClr val="tx1"/>
            </a:solidFill>
            <a:miter lim="800000"/>
            <a:headEnd/>
            <a:tailEnd/>
          </a:ln>
        </p:spPr>
      </p:pic>
      <p:sp>
        <p:nvSpPr>
          <p:cNvPr id="4" name="Rectangle 3"/>
          <p:cNvSpPr/>
          <p:nvPr/>
        </p:nvSpPr>
        <p:spPr>
          <a:xfrm>
            <a:off x="0" y="0"/>
            <a:ext cx="9144000" cy="6858000"/>
          </a:xfrm>
          <a:prstGeom prst="rect">
            <a:avLst/>
          </a:prstGeom>
          <a:noFill/>
          <a:ln w="76200">
            <a:solidFill>
              <a:srgbClr val="4599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space réservé du numéro de diapositive 4"/>
          <p:cNvSpPr>
            <a:spLocks noGrp="1"/>
          </p:cNvSpPr>
          <p:nvPr>
            <p:ph type="sldNum" sz="quarter" idx="12"/>
          </p:nvPr>
        </p:nvSpPr>
        <p:spPr/>
        <p:txBody>
          <a:bodyPr/>
          <a:lstStyle/>
          <a:p>
            <a:fld id="{0BFA6C5E-AA5E-44D9-98D8-E3BF1AB628E5}" type="slidenum">
              <a:rPr lang="fr-FR" smtClean="0"/>
              <a:pPr/>
              <a:t>8</a:t>
            </a:fld>
            <a:endParaRPr lang="fr-F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p:nvPr/>
        </p:nvPicPr>
        <p:blipFill>
          <a:blip r:embed="rId2"/>
          <a:srcRect/>
          <a:stretch>
            <a:fillRect/>
          </a:stretch>
        </p:blipFill>
        <p:spPr bwMode="auto">
          <a:xfrm>
            <a:off x="1000100" y="1000108"/>
            <a:ext cx="6868333" cy="3796999"/>
          </a:xfrm>
          <a:prstGeom prst="rect">
            <a:avLst/>
          </a:prstGeom>
          <a:noFill/>
          <a:ln w="9525">
            <a:solidFill>
              <a:schemeClr val="tx1"/>
            </a:solidFill>
            <a:miter lim="800000"/>
            <a:headEnd/>
            <a:tailEnd/>
          </a:ln>
        </p:spPr>
      </p:pic>
      <p:sp>
        <p:nvSpPr>
          <p:cNvPr id="5" name="Rectangle 4"/>
          <p:cNvSpPr/>
          <p:nvPr/>
        </p:nvSpPr>
        <p:spPr>
          <a:xfrm>
            <a:off x="0" y="0"/>
            <a:ext cx="9144000" cy="6858000"/>
          </a:xfrm>
          <a:prstGeom prst="rect">
            <a:avLst/>
          </a:prstGeom>
          <a:noFill/>
          <a:ln w="76200">
            <a:solidFill>
              <a:srgbClr val="4599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Espace réservé du numéro de diapositive 3"/>
          <p:cNvSpPr>
            <a:spLocks noGrp="1"/>
          </p:cNvSpPr>
          <p:nvPr>
            <p:ph type="sldNum" sz="quarter" idx="12"/>
          </p:nvPr>
        </p:nvSpPr>
        <p:spPr/>
        <p:txBody>
          <a:bodyPr/>
          <a:lstStyle/>
          <a:p>
            <a:fld id="{0BFA6C5E-AA5E-44D9-98D8-E3BF1AB628E5}" type="slidenum">
              <a:rPr lang="fr-FR" smtClean="0"/>
              <a:pPr/>
              <a:t>9</a:t>
            </a:fld>
            <a:endParaRPr lang="fr-F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1000100" y="1009707"/>
            <a:ext cx="6858048" cy="1692771"/>
          </a:xfrm>
          <a:prstGeom prst="rect">
            <a:avLst/>
          </a:prstGeom>
          <a:solidFill>
            <a:schemeClr val="accent6">
              <a:lumMod val="40000"/>
              <a:lumOff val="60000"/>
            </a:schemeClr>
          </a:solidFill>
          <a:ln>
            <a:solidFill>
              <a:schemeClr val="accent1"/>
            </a:solidFill>
          </a:ln>
        </p:spPr>
        <p:txBody>
          <a:bodyPr wrap="square" rtlCol="0">
            <a:spAutoFit/>
          </a:bodyPr>
          <a:lstStyle/>
          <a:p>
            <a:pPr algn="r" rtl="1"/>
            <a:r>
              <a:rPr lang="ar-DZ" sz="2400" b="1" dirty="0" smtClean="0">
                <a:solidFill>
                  <a:srgbClr val="FF0000"/>
                </a:solidFill>
              </a:rPr>
              <a:t>التوجيه البيداغوجي الخاص بتقديم النتائج :</a:t>
            </a:r>
          </a:p>
          <a:p>
            <a:pPr algn="r" rtl="1"/>
            <a:r>
              <a:rPr lang="ar-DZ" sz="2000" b="1" dirty="0" smtClean="0"/>
              <a:t>ننتظر من المتعلم تقديم منتوج:</a:t>
            </a:r>
          </a:p>
          <a:p>
            <a:pPr lvl="1" algn="r" rtl="1">
              <a:buFont typeface="Arial" pitchFamily="34" charset="0"/>
              <a:buChar char="•"/>
            </a:pPr>
            <a:r>
              <a:rPr lang="ar-DZ" sz="2000" dirty="0" smtClean="0"/>
              <a:t>صحيح من الناحية التقنية (وجيه، نظيف، دقيق، قابل للقراءة)؛</a:t>
            </a:r>
          </a:p>
          <a:p>
            <a:pPr lvl="1" algn="r" rtl="1">
              <a:buFont typeface="Arial" pitchFamily="34" charset="0"/>
              <a:buChar char="•"/>
            </a:pPr>
            <a:r>
              <a:rPr lang="ar-DZ" sz="2000" dirty="0" smtClean="0"/>
              <a:t>كامل يتضمن جميع المعلومات؛</a:t>
            </a:r>
          </a:p>
          <a:p>
            <a:pPr lvl="1" algn="r" rtl="1">
              <a:buFont typeface="Arial" pitchFamily="34" charset="0"/>
              <a:buChar char="•"/>
            </a:pPr>
            <a:r>
              <a:rPr lang="ar-DZ" sz="2000" dirty="0" smtClean="0"/>
              <a:t>منسجم ومنظم (توظيف المعلومات في اتجاه المشكلة المطروحة)</a:t>
            </a:r>
            <a:endParaRPr lang="fr-FR" sz="2000" dirty="0"/>
          </a:p>
        </p:txBody>
      </p:sp>
      <p:sp>
        <p:nvSpPr>
          <p:cNvPr id="3" name="ZoneTexte 2"/>
          <p:cNvSpPr txBox="1"/>
          <p:nvPr/>
        </p:nvSpPr>
        <p:spPr>
          <a:xfrm>
            <a:off x="1000100" y="3539685"/>
            <a:ext cx="6858048" cy="2246769"/>
          </a:xfrm>
          <a:prstGeom prst="rect">
            <a:avLst/>
          </a:prstGeom>
          <a:solidFill>
            <a:schemeClr val="accent6">
              <a:lumMod val="40000"/>
              <a:lumOff val="60000"/>
            </a:schemeClr>
          </a:solidFill>
          <a:ln>
            <a:solidFill>
              <a:schemeClr val="accent1"/>
            </a:solidFill>
          </a:ln>
        </p:spPr>
        <p:txBody>
          <a:bodyPr wrap="square" rtlCol="0">
            <a:spAutoFit/>
          </a:bodyPr>
          <a:lstStyle/>
          <a:p>
            <a:pPr algn="r" rtl="1"/>
            <a:r>
              <a:rPr lang="ar-DZ" sz="2400" b="1" dirty="0" smtClean="0">
                <a:solidFill>
                  <a:srgbClr val="FF0000"/>
                </a:solidFill>
              </a:rPr>
              <a:t>التوجيه البيداغوجي الخاص باستغلال النتائج للإجابة عن المشكلة المطروحة:</a:t>
            </a:r>
          </a:p>
          <a:p>
            <a:pPr algn="r" rtl="1"/>
            <a:r>
              <a:rPr lang="ar-DZ" sz="2000" b="1" dirty="0" smtClean="0"/>
              <a:t>ننتظر من المتعلم :</a:t>
            </a:r>
          </a:p>
          <a:p>
            <a:pPr lvl="1" algn="r" rtl="1">
              <a:buFont typeface="Arial" pitchFamily="34" charset="0"/>
              <a:buChar char="•"/>
            </a:pPr>
            <a:r>
              <a:rPr lang="ar-DZ" sz="2000" dirty="0" smtClean="0"/>
              <a:t>أن يستغل مجمل النتائج: </a:t>
            </a:r>
            <a:r>
              <a:rPr lang="ar-DZ" sz="2400" b="1" dirty="0" smtClean="0">
                <a:solidFill>
                  <a:srgbClr val="FF0000"/>
                </a:solidFill>
              </a:rPr>
              <a:t>نلاحظ</a:t>
            </a:r>
            <a:r>
              <a:rPr lang="ar-DZ" sz="2000" dirty="0" smtClean="0">
                <a:solidFill>
                  <a:srgbClr val="FF0000"/>
                </a:solidFill>
              </a:rPr>
              <a:t>...</a:t>
            </a:r>
          </a:p>
          <a:p>
            <a:pPr lvl="1" algn="r" rtl="1">
              <a:buFont typeface="Arial" pitchFamily="34" charset="0"/>
              <a:buChar char="•"/>
            </a:pPr>
            <a:r>
              <a:rPr lang="ar-DZ" sz="2000" dirty="0" smtClean="0"/>
              <a:t>يدمج موارد من المعطيات والمكتسبات: </a:t>
            </a:r>
            <a:r>
              <a:rPr lang="ar-DZ" sz="2400" b="1" dirty="0" smtClean="0">
                <a:solidFill>
                  <a:srgbClr val="FF0000"/>
                </a:solidFill>
              </a:rPr>
              <a:t>نعلم أن</a:t>
            </a:r>
            <a:r>
              <a:rPr lang="ar-DZ" sz="2000" dirty="0" smtClean="0">
                <a:solidFill>
                  <a:srgbClr val="FF0000"/>
                </a:solidFill>
              </a:rPr>
              <a:t>... </a:t>
            </a:r>
          </a:p>
          <a:p>
            <a:pPr lvl="1" algn="r" rtl="1">
              <a:buFont typeface="Arial" pitchFamily="34" charset="0"/>
              <a:buChar char="•"/>
            </a:pPr>
            <a:r>
              <a:rPr lang="ar-DZ" sz="2000" dirty="0" smtClean="0"/>
              <a:t>بناء إجابة تفسيرية منسجمة تدمج النتائج: </a:t>
            </a:r>
            <a:r>
              <a:rPr lang="ar-DZ" sz="2400" b="1" dirty="0" smtClean="0">
                <a:solidFill>
                  <a:srgbClr val="FF0000"/>
                </a:solidFill>
              </a:rPr>
              <a:t>نستنتج أن</a:t>
            </a:r>
            <a:r>
              <a:rPr lang="ar-DZ" sz="2000" dirty="0" smtClean="0">
                <a:solidFill>
                  <a:srgbClr val="FF0000"/>
                </a:solidFill>
              </a:rPr>
              <a:t>...</a:t>
            </a:r>
            <a:endParaRPr lang="fr-FR" sz="2000" dirty="0">
              <a:solidFill>
                <a:srgbClr val="FF0000"/>
              </a:solidFill>
            </a:endParaRPr>
          </a:p>
        </p:txBody>
      </p:sp>
      <p:sp>
        <p:nvSpPr>
          <p:cNvPr id="4" name="Rectangle 3"/>
          <p:cNvSpPr/>
          <p:nvPr/>
        </p:nvSpPr>
        <p:spPr>
          <a:xfrm>
            <a:off x="0" y="0"/>
            <a:ext cx="9144000" cy="6858000"/>
          </a:xfrm>
          <a:prstGeom prst="rect">
            <a:avLst/>
          </a:prstGeom>
          <a:noFill/>
          <a:ln w="76200">
            <a:solidFill>
              <a:srgbClr val="4599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space réservé du numéro de diapositive 4"/>
          <p:cNvSpPr>
            <a:spLocks noGrp="1"/>
          </p:cNvSpPr>
          <p:nvPr>
            <p:ph type="sldNum" sz="quarter" idx="12"/>
          </p:nvPr>
        </p:nvSpPr>
        <p:spPr/>
        <p:txBody>
          <a:bodyPr/>
          <a:lstStyle/>
          <a:p>
            <a:fld id="{0BFA6C5E-AA5E-44D9-98D8-E3BF1AB628E5}" type="slidenum">
              <a:rPr lang="fr-FR" smtClean="0"/>
              <a:pPr/>
              <a:t>10</a:t>
            </a:fld>
            <a:endParaRPr lang="fr-F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p:cNvSpPr txBox="1"/>
          <p:nvPr/>
        </p:nvSpPr>
        <p:spPr>
          <a:xfrm>
            <a:off x="214282" y="786356"/>
            <a:ext cx="8001056" cy="4524315"/>
          </a:xfrm>
          <a:prstGeom prst="rect">
            <a:avLst/>
          </a:prstGeom>
          <a:solidFill>
            <a:schemeClr val="accent5">
              <a:lumMod val="20000"/>
              <a:lumOff val="80000"/>
            </a:schemeClr>
          </a:solidFill>
          <a:ln>
            <a:solidFill>
              <a:schemeClr val="accent1"/>
            </a:solidFill>
          </a:ln>
        </p:spPr>
        <p:txBody>
          <a:bodyPr wrap="square" rtlCol="0">
            <a:spAutoFit/>
          </a:bodyPr>
          <a:lstStyle/>
          <a:p>
            <a:pPr algn="r" rtl="1"/>
            <a:r>
              <a:rPr lang="ar-DZ" sz="2400" b="1" dirty="0" smtClean="0"/>
              <a:t>توضح الوثيقة </a:t>
            </a:r>
          </a:p>
          <a:p>
            <a:pPr algn="r" rtl="1"/>
            <a:r>
              <a:rPr lang="ar-DZ" sz="2200" b="1" dirty="0" smtClean="0">
                <a:solidFill>
                  <a:srgbClr val="FF0000"/>
                </a:solidFill>
              </a:rPr>
              <a:t>نلاحظ .......</a:t>
            </a:r>
            <a:r>
              <a:rPr lang="ar-DZ" sz="2200" b="1" dirty="0" smtClean="0"/>
              <a:t> </a:t>
            </a:r>
          </a:p>
          <a:p>
            <a:pPr algn="r" rtl="1"/>
            <a:endParaRPr lang="ar-DZ" sz="2200" b="1" dirty="0" smtClean="0"/>
          </a:p>
          <a:p>
            <a:pPr algn="r" rtl="1"/>
            <a:endParaRPr lang="ar-DZ" sz="2200" b="1" dirty="0" smtClean="0"/>
          </a:p>
          <a:p>
            <a:pPr algn="r" rtl="1"/>
            <a:r>
              <a:rPr lang="ar-DZ" sz="2200" b="1" dirty="0" smtClean="0">
                <a:solidFill>
                  <a:srgbClr val="FF0000"/>
                </a:solidFill>
              </a:rPr>
              <a:t>نعلم (بما أن).......</a:t>
            </a:r>
          </a:p>
          <a:p>
            <a:pPr algn="r" rtl="1"/>
            <a:endParaRPr lang="ar-DZ" sz="2200" b="1" dirty="0" smtClean="0">
              <a:solidFill>
                <a:srgbClr val="FF0000"/>
              </a:solidFill>
            </a:endParaRPr>
          </a:p>
          <a:p>
            <a:pPr algn="r" rtl="1"/>
            <a:endParaRPr lang="ar-DZ" sz="2200" b="1" dirty="0" smtClean="0">
              <a:solidFill>
                <a:srgbClr val="FF0000"/>
              </a:solidFill>
            </a:endParaRPr>
          </a:p>
          <a:p>
            <a:pPr algn="r" rtl="1"/>
            <a:r>
              <a:rPr lang="ar-DZ" sz="2200" b="1" dirty="0" smtClean="0">
                <a:solidFill>
                  <a:srgbClr val="FF0000"/>
                </a:solidFill>
              </a:rPr>
              <a:t>تعبر هذه النتائج على............</a:t>
            </a:r>
          </a:p>
          <a:p>
            <a:pPr algn="r" rtl="1"/>
            <a:endParaRPr lang="ar-DZ" sz="2200" b="1" dirty="0" smtClean="0">
              <a:solidFill>
                <a:srgbClr val="FF0000"/>
              </a:solidFill>
            </a:endParaRPr>
          </a:p>
          <a:p>
            <a:pPr algn="r" rtl="1"/>
            <a:endParaRPr lang="ar-DZ" sz="2200" b="1" dirty="0" smtClean="0">
              <a:solidFill>
                <a:srgbClr val="FF0000"/>
              </a:solidFill>
            </a:endParaRPr>
          </a:p>
          <a:p>
            <a:pPr algn="r" rtl="1"/>
            <a:endParaRPr lang="ar-DZ" sz="2200" b="1" dirty="0" smtClean="0">
              <a:solidFill>
                <a:srgbClr val="FF0000"/>
              </a:solidFill>
            </a:endParaRPr>
          </a:p>
          <a:p>
            <a:pPr algn="r" rtl="1"/>
            <a:endParaRPr lang="ar-DZ" sz="2200" b="1" dirty="0" smtClean="0"/>
          </a:p>
          <a:p>
            <a:pPr algn="r" rtl="1"/>
            <a:r>
              <a:rPr lang="ar-DZ" sz="2200" b="1" dirty="0" smtClean="0">
                <a:solidFill>
                  <a:srgbClr val="FF0000"/>
                </a:solidFill>
              </a:rPr>
              <a:t>نستنتج من ذلك أن ..............</a:t>
            </a:r>
            <a:r>
              <a:rPr lang="ar-DZ" sz="2200" b="1" dirty="0" smtClean="0"/>
              <a:t> </a:t>
            </a:r>
            <a:endParaRPr lang="fr-FR" sz="2200" b="1" dirty="0"/>
          </a:p>
        </p:txBody>
      </p:sp>
      <p:sp>
        <p:nvSpPr>
          <p:cNvPr id="5" name="Flèche vers le bas 4"/>
          <p:cNvSpPr/>
          <p:nvPr/>
        </p:nvSpPr>
        <p:spPr>
          <a:xfrm>
            <a:off x="8358214" y="1071546"/>
            <a:ext cx="214314" cy="3500462"/>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b="1"/>
          </a:p>
        </p:txBody>
      </p:sp>
      <p:sp>
        <p:nvSpPr>
          <p:cNvPr id="6" name="ZoneTexte 5"/>
          <p:cNvSpPr txBox="1"/>
          <p:nvPr/>
        </p:nvSpPr>
        <p:spPr>
          <a:xfrm rot="16200000">
            <a:off x="7910386" y="1876564"/>
            <a:ext cx="1928826" cy="461665"/>
          </a:xfrm>
          <a:prstGeom prst="rect">
            <a:avLst/>
          </a:prstGeom>
          <a:noFill/>
        </p:spPr>
        <p:txBody>
          <a:bodyPr wrap="square" rtlCol="0">
            <a:spAutoFit/>
          </a:bodyPr>
          <a:lstStyle/>
          <a:p>
            <a:r>
              <a:rPr lang="ar-DZ" sz="2400" b="1" dirty="0" smtClean="0">
                <a:solidFill>
                  <a:srgbClr val="FF0000"/>
                </a:solidFill>
              </a:rPr>
              <a:t>استدلال استقرائي</a:t>
            </a:r>
            <a:endParaRPr lang="fr-FR" sz="2400" b="1" dirty="0">
              <a:solidFill>
                <a:srgbClr val="FF0000"/>
              </a:solidFill>
            </a:endParaRPr>
          </a:p>
        </p:txBody>
      </p:sp>
      <p:pic>
        <p:nvPicPr>
          <p:cNvPr id="2050" name="Picture 2"/>
          <p:cNvPicPr>
            <a:picLocks noChangeAspect="1" noChangeArrowheads="1"/>
          </p:cNvPicPr>
          <p:nvPr/>
        </p:nvPicPr>
        <p:blipFill>
          <a:blip r:embed="rId2"/>
          <a:srcRect/>
          <a:stretch>
            <a:fillRect/>
          </a:stretch>
        </p:blipFill>
        <p:spPr bwMode="auto">
          <a:xfrm>
            <a:off x="214282" y="5429264"/>
            <a:ext cx="8110347" cy="1214446"/>
          </a:xfrm>
          <a:prstGeom prst="rect">
            <a:avLst/>
          </a:prstGeom>
          <a:noFill/>
          <a:ln w="9525">
            <a:solidFill>
              <a:schemeClr val="accent1"/>
            </a:solidFill>
            <a:miter lim="800000"/>
            <a:headEnd/>
            <a:tailEnd/>
          </a:ln>
          <a:effectLst/>
        </p:spPr>
      </p:pic>
      <p:sp>
        <p:nvSpPr>
          <p:cNvPr id="8" name="Rectangle 7"/>
          <p:cNvSpPr/>
          <p:nvPr/>
        </p:nvSpPr>
        <p:spPr>
          <a:xfrm>
            <a:off x="0" y="0"/>
            <a:ext cx="9144000" cy="6858000"/>
          </a:xfrm>
          <a:prstGeom prst="rect">
            <a:avLst/>
          </a:prstGeom>
          <a:noFill/>
          <a:ln w="76200">
            <a:solidFill>
              <a:srgbClr val="4599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space réservé du numéro de diapositive 6"/>
          <p:cNvSpPr>
            <a:spLocks noGrp="1"/>
          </p:cNvSpPr>
          <p:nvPr>
            <p:ph type="sldNum" sz="quarter" idx="12"/>
          </p:nvPr>
        </p:nvSpPr>
        <p:spPr/>
        <p:txBody>
          <a:bodyPr/>
          <a:lstStyle/>
          <a:p>
            <a:fld id="{0BFA6C5E-AA5E-44D9-98D8-E3BF1AB628E5}" type="slidenum">
              <a:rPr lang="fr-FR" smtClean="0"/>
              <a:pPr/>
              <a:t>11</a:t>
            </a:fld>
            <a:endParaRPr lang="fr-F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p:cNvSpPr txBox="1"/>
          <p:nvPr/>
        </p:nvSpPr>
        <p:spPr>
          <a:xfrm>
            <a:off x="214282" y="642918"/>
            <a:ext cx="8001056" cy="5786199"/>
          </a:xfrm>
          <a:prstGeom prst="rect">
            <a:avLst/>
          </a:prstGeom>
          <a:solidFill>
            <a:schemeClr val="accent5">
              <a:lumMod val="20000"/>
              <a:lumOff val="80000"/>
            </a:schemeClr>
          </a:solidFill>
          <a:ln>
            <a:solidFill>
              <a:schemeClr val="accent1"/>
            </a:solidFill>
          </a:ln>
        </p:spPr>
        <p:txBody>
          <a:bodyPr wrap="square" rtlCol="0">
            <a:spAutoFit/>
          </a:bodyPr>
          <a:lstStyle/>
          <a:p>
            <a:pPr algn="r" rtl="1"/>
            <a:r>
              <a:rPr lang="ar-DZ" sz="2000" b="1" dirty="0" smtClean="0"/>
              <a:t>تمثل الوثيقتان </a:t>
            </a:r>
            <a:r>
              <a:rPr lang="ar-DZ" sz="2000" b="1" dirty="0" err="1" smtClean="0"/>
              <a:t>ب</a:t>
            </a:r>
            <a:r>
              <a:rPr lang="ar-DZ" sz="2000" b="1" dirty="0" smtClean="0"/>
              <a:t> وجـ نتائج التصوير الإشعاعي الذاتي لخلايا مزروعة في وسط يحتوي على </a:t>
            </a:r>
            <a:r>
              <a:rPr lang="ar-DZ" sz="2000" b="1" dirty="0" err="1" smtClean="0"/>
              <a:t>اليوريدين</a:t>
            </a:r>
            <a:r>
              <a:rPr lang="ar-DZ" sz="2000" b="1" dirty="0" smtClean="0"/>
              <a:t> المشع.</a:t>
            </a:r>
          </a:p>
          <a:p>
            <a:pPr algn="r" rtl="1"/>
            <a:r>
              <a:rPr lang="ar-DZ" sz="2200" b="1" dirty="0" smtClean="0">
                <a:solidFill>
                  <a:srgbClr val="FF0000"/>
                </a:solidFill>
              </a:rPr>
              <a:t>نلاحظ ،</a:t>
            </a:r>
            <a:r>
              <a:rPr lang="ar-DZ" sz="2200" b="1" dirty="0" smtClean="0"/>
              <a:t> من خلال نتائج التصوير الإشعاعي الذاتي، أن </a:t>
            </a:r>
            <a:r>
              <a:rPr lang="ar-DZ" sz="2200" b="1" dirty="0" err="1" smtClean="0"/>
              <a:t>اليوريدين</a:t>
            </a:r>
            <a:r>
              <a:rPr lang="ar-DZ" sz="2200" b="1" dirty="0" smtClean="0"/>
              <a:t> المشع</a:t>
            </a:r>
            <a:endParaRPr lang="fr-FR" sz="2200" b="1" dirty="0" smtClean="0"/>
          </a:p>
          <a:p>
            <a:pPr algn="r" rtl="1"/>
            <a:r>
              <a:rPr lang="ar-DZ" sz="2200" b="1" dirty="0" smtClean="0"/>
              <a:t>يظهر في البداية في النواة، ثم يظهر بعد</a:t>
            </a:r>
            <a:r>
              <a:rPr lang="fr-FR" sz="2200" b="1" dirty="0" smtClean="0"/>
              <a:t>90 min </a:t>
            </a:r>
            <a:r>
              <a:rPr lang="ar-DZ" sz="2200" b="1" dirty="0" smtClean="0"/>
              <a:t> في الهيولى. </a:t>
            </a:r>
          </a:p>
          <a:p>
            <a:pPr algn="r" rtl="1"/>
            <a:r>
              <a:rPr lang="ar-DZ" sz="2200" b="1" dirty="0" smtClean="0">
                <a:solidFill>
                  <a:srgbClr val="FF0000"/>
                </a:solidFill>
              </a:rPr>
              <a:t>نعلم (بما أن):</a:t>
            </a:r>
          </a:p>
          <a:p>
            <a:pPr algn="r" rtl="1"/>
            <a:r>
              <a:rPr lang="ar-DZ" sz="2200" b="1" dirty="0" smtClean="0"/>
              <a:t>ـ ال</a:t>
            </a:r>
            <a:r>
              <a:rPr lang="fr-FR" sz="2200" b="1" dirty="0" smtClean="0"/>
              <a:t>ADN </a:t>
            </a:r>
            <a:r>
              <a:rPr lang="ar-DZ" sz="2200" b="1" dirty="0" smtClean="0"/>
              <a:t> يتواجد في النواة؛</a:t>
            </a:r>
          </a:p>
          <a:p>
            <a:pPr algn="r" rtl="1"/>
            <a:r>
              <a:rPr lang="ar-DZ" sz="2200" b="1" dirty="0" smtClean="0"/>
              <a:t>ـ البروتينات تتركب في مستوى الهيولى.</a:t>
            </a:r>
          </a:p>
          <a:p>
            <a:pPr algn="r" rtl="1"/>
            <a:r>
              <a:rPr lang="ar-DZ" sz="2200" b="1" dirty="0" smtClean="0"/>
              <a:t>ـ </a:t>
            </a:r>
            <a:r>
              <a:rPr lang="ar-DZ" sz="2200" b="1" dirty="0" err="1" smtClean="0"/>
              <a:t>اليوريدين</a:t>
            </a:r>
            <a:r>
              <a:rPr lang="ar-DZ" sz="2200" b="1" dirty="0" smtClean="0"/>
              <a:t> المشع يندمج ضمن جزيئات ال</a:t>
            </a:r>
            <a:r>
              <a:rPr lang="fr-FR" sz="2200" b="1" dirty="0" smtClean="0"/>
              <a:t>ARN</a:t>
            </a:r>
            <a:r>
              <a:rPr lang="ar-DZ" sz="2200" b="1" dirty="0" smtClean="0"/>
              <a:t>، مما يسمح بمتابعة حركة جزيئات ال</a:t>
            </a:r>
            <a:r>
              <a:rPr lang="fr-FR" sz="2200" b="1" dirty="0" smtClean="0"/>
              <a:t>ARN</a:t>
            </a:r>
            <a:r>
              <a:rPr lang="ar-DZ" sz="2200" b="1" dirty="0" smtClean="0"/>
              <a:t> في الخلية؛</a:t>
            </a:r>
          </a:p>
          <a:p>
            <a:pPr algn="r" rtl="1"/>
            <a:r>
              <a:rPr lang="ar-DZ" sz="2200" b="1" dirty="0" smtClean="0"/>
              <a:t>فجزيئات ال</a:t>
            </a:r>
            <a:r>
              <a:rPr lang="fr-FR" sz="2200" b="1" dirty="0" smtClean="0"/>
              <a:t>ARN </a:t>
            </a:r>
            <a:r>
              <a:rPr lang="ar-DZ" sz="2200" b="1" dirty="0" smtClean="0"/>
              <a:t> تتركب أولا في النواة ثم تخرج إلى الهيولى عبر الثقوب النووية.</a:t>
            </a:r>
          </a:p>
          <a:p>
            <a:pPr algn="r" rtl="1"/>
            <a:endParaRPr lang="ar-DZ" sz="2200" b="1" dirty="0" smtClean="0"/>
          </a:p>
          <a:p>
            <a:pPr algn="r" rtl="1"/>
            <a:r>
              <a:rPr lang="ar-DZ" sz="2200" b="1" dirty="0" smtClean="0">
                <a:solidFill>
                  <a:srgbClr val="FF0000"/>
                </a:solidFill>
              </a:rPr>
              <a:t>نستنتج من ذلك أن </a:t>
            </a:r>
            <a:r>
              <a:rPr lang="ar-DZ" sz="2200" b="1" dirty="0" smtClean="0"/>
              <a:t>ال</a:t>
            </a:r>
            <a:r>
              <a:rPr lang="fr-FR" sz="2200" b="1" dirty="0" smtClean="0"/>
              <a:t>ARN</a:t>
            </a:r>
            <a:r>
              <a:rPr lang="ar-DZ" sz="2200" b="1" dirty="0" smtClean="0"/>
              <a:t> يتركب في النواة ثم ينتقل عبر الثقوب النووية إلى الهيولى. فبعض من جزيئات ال</a:t>
            </a:r>
            <a:r>
              <a:rPr lang="fr-FR" sz="2200" b="1" dirty="0" smtClean="0"/>
              <a:t>ARN</a:t>
            </a:r>
            <a:r>
              <a:rPr lang="ar-DZ" sz="2200" b="1" dirty="0" smtClean="0"/>
              <a:t> تلعب دور الوسيط بين  ال</a:t>
            </a:r>
            <a:r>
              <a:rPr lang="fr-FR" sz="2200" b="1" dirty="0" smtClean="0"/>
              <a:t>ADN </a:t>
            </a:r>
            <a:r>
              <a:rPr lang="ar-DZ" sz="2200" b="1" dirty="0" smtClean="0"/>
              <a:t> والبروتينات التي تتركب في الهيولى.</a:t>
            </a:r>
            <a:r>
              <a:rPr lang="ar-DZ" sz="2200" b="1" dirty="0" smtClean="0">
                <a:solidFill>
                  <a:srgbClr val="FF0000"/>
                </a:solidFill>
              </a:rPr>
              <a:t> </a:t>
            </a:r>
          </a:p>
          <a:p>
            <a:pPr algn="r" rtl="1"/>
            <a:endParaRPr lang="ar-DZ" sz="2200" b="1" dirty="0" smtClean="0">
              <a:solidFill>
                <a:srgbClr val="FF0000"/>
              </a:solidFill>
            </a:endParaRPr>
          </a:p>
          <a:p>
            <a:pPr algn="r" rtl="1"/>
            <a:r>
              <a:rPr lang="ar-DZ" sz="2200" b="1" dirty="0" smtClean="0">
                <a:solidFill>
                  <a:srgbClr val="FF0000"/>
                </a:solidFill>
              </a:rPr>
              <a:t>تعبر هذه النتائج على صحة الفرضية 2 التي </a:t>
            </a:r>
            <a:r>
              <a:rPr lang="ar-DZ" sz="2200" b="1" dirty="0" err="1" smtClean="0">
                <a:solidFill>
                  <a:srgbClr val="FF0000"/>
                </a:solidFill>
              </a:rPr>
              <a:t>تنص</a:t>
            </a:r>
            <a:r>
              <a:rPr lang="ar-DZ" sz="2200" b="1" dirty="0" smtClean="0">
                <a:solidFill>
                  <a:srgbClr val="FF0000"/>
                </a:solidFill>
              </a:rPr>
              <a:t> على </a:t>
            </a:r>
            <a:r>
              <a:rPr lang="ar-DZ" sz="2200" b="1" dirty="0" smtClean="0"/>
              <a:t>وجود وسيط جزيئي ناقل للرسالة الوراثية من ال </a:t>
            </a:r>
            <a:r>
              <a:rPr lang="fr-FR" sz="2200" b="1" dirty="0" smtClean="0"/>
              <a:t>ADN</a:t>
            </a:r>
            <a:r>
              <a:rPr lang="ar-DZ" sz="2200" b="1" dirty="0" smtClean="0"/>
              <a:t> إلى مقر تركيب البروتين في الهيولى.</a:t>
            </a:r>
            <a:endParaRPr lang="fr-FR" sz="2200" b="1" dirty="0"/>
          </a:p>
        </p:txBody>
      </p:sp>
      <p:sp>
        <p:nvSpPr>
          <p:cNvPr id="5" name="Flèche vers le bas 4"/>
          <p:cNvSpPr/>
          <p:nvPr/>
        </p:nvSpPr>
        <p:spPr>
          <a:xfrm>
            <a:off x="8358214" y="1071546"/>
            <a:ext cx="214314" cy="3500462"/>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b="1"/>
          </a:p>
        </p:txBody>
      </p:sp>
      <p:sp>
        <p:nvSpPr>
          <p:cNvPr id="6" name="ZoneTexte 5"/>
          <p:cNvSpPr txBox="1"/>
          <p:nvPr/>
        </p:nvSpPr>
        <p:spPr>
          <a:xfrm rot="16200000">
            <a:off x="7910386" y="1876564"/>
            <a:ext cx="1928826" cy="461665"/>
          </a:xfrm>
          <a:prstGeom prst="rect">
            <a:avLst/>
          </a:prstGeom>
          <a:noFill/>
        </p:spPr>
        <p:txBody>
          <a:bodyPr wrap="square" rtlCol="0">
            <a:spAutoFit/>
          </a:bodyPr>
          <a:lstStyle/>
          <a:p>
            <a:r>
              <a:rPr lang="ar-DZ" sz="2400" b="1" dirty="0" smtClean="0">
                <a:solidFill>
                  <a:srgbClr val="FF0000"/>
                </a:solidFill>
              </a:rPr>
              <a:t>استدلال استقرائي</a:t>
            </a:r>
            <a:endParaRPr lang="fr-FR" sz="2400" b="1" dirty="0">
              <a:solidFill>
                <a:srgbClr val="FF0000"/>
              </a:solidFill>
            </a:endParaRPr>
          </a:p>
        </p:txBody>
      </p:sp>
      <p:sp>
        <p:nvSpPr>
          <p:cNvPr id="8" name="Rectangle 7"/>
          <p:cNvSpPr/>
          <p:nvPr/>
        </p:nvSpPr>
        <p:spPr>
          <a:xfrm>
            <a:off x="0" y="0"/>
            <a:ext cx="9144000" cy="6858000"/>
          </a:xfrm>
          <a:prstGeom prst="rect">
            <a:avLst/>
          </a:prstGeom>
          <a:noFill/>
          <a:ln w="76200">
            <a:solidFill>
              <a:srgbClr val="4599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space réservé du numéro de diapositive 6"/>
          <p:cNvSpPr>
            <a:spLocks noGrp="1"/>
          </p:cNvSpPr>
          <p:nvPr>
            <p:ph type="sldNum" sz="quarter" idx="12"/>
          </p:nvPr>
        </p:nvSpPr>
        <p:spPr/>
        <p:txBody>
          <a:bodyPr/>
          <a:lstStyle/>
          <a:p>
            <a:fld id="{0BFA6C5E-AA5E-44D9-98D8-E3BF1AB628E5}" type="slidenum">
              <a:rPr lang="fr-FR" smtClean="0"/>
              <a:pPr/>
              <a:t>12</a:t>
            </a:fld>
            <a:endParaRPr lang="fr-F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1"/>
          <p:cNvSpPr>
            <a:spLocks noChangeArrowheads="1"/>
          </p:cNvSpPr>
          <p:nvPr/>
        </p:nvSpPr>
        <p:spPr bwMode="auto">
          <a:xfrm>
            <a:off x="844722" y="2982690"/>
            <a:ext cx="7072362" cy="3046988"/>
          </a:xfrm>
          <a:prstGeom prst="rect">
            <a:avLst/>
          </a:prstGeom>
          <a:solidFill>
            <a:schemeClr val="accent6">
              <a:lumMod val="60000"/>
              <a:lumOff val="40000"/>
            </a:schemeClr>
          </a:solidFill>
          <a:ln w="9525">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r" defTabSz="914400" rtl="1" eaLnBrk="1" fontAlgn="base" latinLnBrk="0" hangingPunct="1">
              <a:lnSpc>
                <a:spcPct val="100000"/>
              </a:lnSpc>
              <a:spcBef>
                <a:spcPct val="0"/>
              </a:spcBef>
              <a:spcAft>
                <a:spcPct val="0"/>
              </a:spcAft>
              <a:buClrTx/>
              <a:buSzTx/>
              <a:buFontTx/>
              <a:buNone/>
              <a:tabLst/>
            </a:pPr>
            <a:r>
              <a:rPr kumimoji="0" lang="ar-SA" sz="32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عمل ال</a:t>
            </a:r>
            <a:r>
              <a:rPr kumimoji="0" lang="ar-DZ" sz="32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مجموعات</a:t>
            </a:r>
            <a:r>
              <a:rPr kumimoji="0" lang="ar-SA" sz="32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هو الوضعية التي ينجز فيها ال</a:t>
            </a:r>
            <a:r>
              <a:rPr kumimoji="0" lang="ar-DZ" sz="32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متعلمون</a:t>
            </a:r>
            <a:r>
              <a:rPr kumimoji="0" lang="ar-SA" sz="32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أعمالا مشتركة لحل الوضعية المشكلة دون الإشراف المباشر للأستاذ.</a:t>
            </a:r>
            <a:endParaRPr kumimoji="0" lang="ar-DZ" sz="32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endParaRPr>
          </a:p>
          <a:p>
            <a:pPr marL="0" marR="0" lvl="0" indent="0" algn="r" defTabSz="914400" rtl="1" eaLnBrk="1" fontAlgn="base" latinLnBrk="0" hangingPunct="1">
              <a:lnSpc>
                <a:spcPct val="100000"/>
              </a:lnSpc>
              <a:spcBef>
                <a:spcPct val="0"/>
              </a:spcBef>
              <a:spcAft>
                <a:spcPct val="0"/>
              </a:spcAft>
              <a:buClrTx/>
              <a:buSzTx/>
              <a:buFontTx/>
              <a:buNone/>
              <a:tabLst/>
            </a:pPr>
            <a:r>
              <a:rPr kumimoji="0" lang="ar-SA" sz="32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وهو وسيلة ناجعة لتوفير فرص تعلم أعضاء الفوج لكفاءة ما، كما أنه أداة لتحقيق الأهداف التعلمية</a:t>
            </a:r>
            <a:r>
              <a:rPr kumimoji="0" lang="ar-DZ" sz="3200" b="1" i="0" u="none" strike="noStrike" cap="none" normalizeH="0" dirty="0" smtClean="0">
                <a:ln>
                  <a:noFill/>
                </a:ln>
                <a:solidFill>
                  <a:schemeClr val="tx1"/>
                </a:solidFill>
                <a:effectLst/>
                <a:latin typeface="Times New Roman" pitchFamily="18" charset="0"/>
                <a:ea typeface="Calibri" pitchFamily="34" charset="0"/>
                <a:cs typeface="Times New Roman" pitchFamily="18" charset="0"/>
              </a:rPr>
              <a:t> المرتبطة بالجانبين المعرفي والمنهجي.</a:t>
            </a:r>
            <a:r>
              <a:rPr kumimoji="0" lang="ar-SA" sz="32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endParaRPr kumimoji="0" lang="ar-SA" sz="4000" b="1" i="0" u="none" strike="noStrike" cap="none" normalizeH="0" baseline="0" dirty="0" smtClean="0">
              <a:ln>
                <a:noFill/>
              </a:ln>
              <a:solidFill>
                <a:schemeClr val="tx1"/>
              </a:solidFill>
              <a:effectLst/>
              <a:latin typeface="Arial" pitchFamily="34" charset="0"/>
              <a:cs typeface="Arial" pitchFamily="34" charset="0"/>
            </a:endParaRPr>
          </a:p>
        </p:txBody>
      </p:sp>
      <p:sp>
        <p:nvSpPr>
          <p:cNvPr id="3" name="Rectangle 2"/>
          <p:cNvSpPr/>
          <p:nvPr/>
        </p:nvSpPr>
        <p:spPr>
          <a:xfrm>
            <a:off x="2487796" y="1641070"/>
            <a:ext cx="3714776" cy="523220"/>
          </a:xfrm>
          <a:prstGeom prst="rect">
            <a:avLst/>
          </a:prstGeom>
          <a:solidFill>
            <a:schemeClr val="accent6">
              <a:lumMod val="60000"/>
              <a:lumOff val="40000"/>
            </a:schemeClr>
          </a:solidFill>
          <a:ln>
            <a:solidFill>
              <a:schemeClr val="tx1"/>
            </a:solidFill>
          </a:ln>
        </p:spPr>
        <p:txBody>
          <a:bodyPr wrap="square">
            <a:spAutoFit/>
          </a:bodyPr>
          <a:lstStyle/>
          <a:p>
            <a:pPr lvl="0" algn="r" rtl="1" fontAlgn="base">
              <a:spcBef>
                <a:spcPct val="0"/>
              </a:spcBef>
              <a:spcAft>
                <a:spcPct val="0"/>
              </a:spcAft>
            </a:pPr>
            <a:r>
              <a:rPr lang="ar-DZ" sz="2800" b="1" dirty="0" smtClean="0">
                <a:solidFill>
                  <a:prstClr val="black"/>
                </a:solidFill>
                <a:latin typeface="Calibri" pitchFamily="34" charset="0"/>
                <a:ea typeface="Calibri" pitchFamily="34" charset="0"/>
                <a:cs typeface="Arial" pitchFamily="34" charset="0"/>
              </a:rPr>
              <a:t>إستراتيجية </a:t>
            </a:r>
            <a:r>
              <a:rPr lang="ar-SA" sz="2800" b="1" dirty="0" smtClean="0">
                <a:solidFill>
                  <a:prstClr val="black"/>
                </a:solidFill>
                <a:latin typeface="Calibri" pitchFamily="34" charset="0"/>
                <a:ea typeface="Calibri" pitchFamily="34" charset="0"/>
                <a:cs typeface="Arial" pitchFamily="34" charset="0"/>
              </a:rPr>
              <a:t>عمل </a:t>
            </a:r>
            <a:r>
              <a:rPr lang="ar-DZ" sz="2800" b="1" dirty="0" smtClean="0">
                <a:solidFill>
                  <a:prstClr val="black"/>
                </a:solidFill>
                <a:latin typeface="Calibri" pitchFamily="34" charset="0"/>
                <a:ea typeface="Calibri" pitchFamily="34" charset="0"/>
                <a:cs typeface="Arial" pitchFamily="34" charset="0"/>
              </a:rPr>
              <a:t>المجموعات </a:t>
            </a:r>
            <a:endParaRPr lang="fr-FR" sz="1100" dirty="0" smtClean="0">
              <a:solidFill>
                <a:prstClr val="black"/>
              </a:solidFill>
              <a:latin typeface="Arial" pitchFamily="34" charset="0"/>
              <a:cs typeface="Arial" pitchFamily="34" charset="0"/>
            </a:endParaRPr>
          </a:p>
        </p:txBody>
      </p:sp>
      <p:pic>
        <p:nvPicPr>
          <p:cNvPr id="27650" name="Picture 2" descr="https://www.awa2el.net/sites/default/files/styles/image_300x315/public/download%20%281%29_10.jpg?itok=8VkEmOQK"/>
          <p:cNvPicPr>
            <a:picLocks noChangeAspect="1" noChangeArrowheads="1"/>
          </p:cNvPicPr>
          <p:nvPr/>
        </p:nvPicPr>
        <p:blipFill>
          <a:blip r:embed="rId2"/>
          <a:srcRect/>
          <a:stretch>
            <a:fillRect/>
          </a:stretch>
        </p:blipFill>
        <p:spPr bwMode="auto">
          <a:xfrm>
            <a:off x="6904451" y="-24"/>
            <a:ext cx="2025267" cy="1928826"/>
          </a:xfrm>
          <a:prstGeom prst="rect">
            <a:avLst/>
          </a:prstGeom>
          <a:noFill/>
        </p:spPr>
      </p:pic>
      <p:sp>
        <p:nvSpPr>
          <p:cNvPr id="9" name="Rectangle 8"/>
          <p:cNvSpPr/>
          <p:nvPr/>
        </p:nvSpPr>
        <p:spPr>
          <a:xfrm>
            <a:off x="2559234" y="745380"/>
            <a:ext cx="3643338" cy="523220"/>
          </a:xfrm>
          <a:prstGeom prst="rect">
            <a:avLst/>
          </a:prstGeom>
          <a:solidFill>
            <a:schemeClr val="accent6">
              <a:lumMod val="60000"/>
              <a:lumOff val="40000"/>
            </a:schemeClr>
          </a:solidFill>
          <a:ln>
            <a:solidFill>
              <a:schemeClr val="tx1"/>
            </a:solidFill>
          </a:ln>
        </p:spPr>
        <p:txBody>
          <a:bodyPr wrap="square">
            <a:spAutoFit/>
          </a:bodyPr>
          <a:lstStyle/>
          <a:p>
            <a:pPr algn="ctr" rtl="1" fontAlgn="base">
              <a:spcBef>
                <a:spcPct val="0"/>
              </a:spcBef>
              <a:spcAft>
                <a:spcPct val="0"/>
              </a:spcAft>
            </a:pPr>
            <a:r>
              <a:rPr lang="ar-DZ" sz="2800" b="1" dirty="0" smtClean="0">
                <a:solidFill>
                  <a:srgbClr val="FF0000"/>
                </a:solidFill>
              </a:rPr>
              <a:t>توجيهات بيداغوجية</a:t>
            </a:r>
            <a:endParaRPr lang="fr-FR" sz="1400" dirty="0" smtClean="0">
              <a:solidFill>
                <a:prstClr val="black"/>
              </a:solidFill>
              <a:latin typeface="Times New Roman" pitchFamily="18" charset="0"/>
              <a:cs typeface="Times New Roman" pitchFamily="18" charset="0"/>
            </a:endParaRPr>
          </a:p>
        </p:txBody>
      </p:sp>
      <p:sp>
        <p:nvSpPr>
          <p:cNvPr id="7" name="Rectangle 6"/>
          <p:cNvSpPr/>
          <p:nvPr/>
        </p:nvSpPr>
        <p:spPr>
          <a:xfrm>
            <a:off x="0" y="0"/>
            <a:ext cx="9144000" cy="6858000"/>
          </a:xfrm>
          <a:prstGeom prst="rect">
            <a:avLst/>
          </a:prstGeom>
          <a:noFill/>
          <a:ln w="76200">
            <a:solidFill>
              <a:srgbClr val="4599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space réservé du numéro de diapositive 7"/>
          <p:cNvSpPr>
            <a:spLocks noGrp="1"/>
          </p:cNvSpPr>
          <p:nvPr>
            <p:ph type="sldNum" sz="quarter" idx="12"/>
          </p:nvPr>
        </p:nvSpPr>
        <p:spPr/>
        <p:txBody>
          <a:bodyPr/>
          <a:lstStyle/>
          <a:p>
            <a:fld id="{0BFA6C5E-AA5E-44D9-98D8-E3BF1AB628E5}" type="slidenum">
              <a:rPr lang="fr-FR" smtClean="0"/>
              <a:pPr/>
              <a:t>13</a:t>
            </a:fld>
            <a:endParaRPr lang="fr-F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1"/>
          <p:cNvSpPr>
            <a:spLocks noChangeArrowheads="1"/>
          </p:cNvSpPr>
          <p:nvPr/>
        </p:nvSpPr>
        <p:spPr bwMode="auto">
          <a:xfrm>
            <a:off x="1405719" y="3425928"/>
            <a:ext cx="6332561" cy="2277547"/>
          </a:xfrm>
          <a:prstGeom prst="rect">
            <a:avLst/>
          </a:prstGeom>
          <a:solidFill>
            <a:schemeClr val="accent6">
              <a:lumMod val="60000"/>
              <a:lumOff val="40000"/>
            </a:schemeClr>
          </a:solidFill>
          <a:ln w="9525">
            <a:solidFill>
              <a:srgbClr val="FF0000"/>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1" eaLnBrk="1" fontAlgn="base" latinLnBrk="0" hangingPunct="1">
              <a:lnSpc>
                <a:spcPct val="100000"/>
              </a:lnSpc>
              <a:spcBef>
                <a:spcPct val="0"/>
              </a:spcBef>
              <a:spcAft>
                <a:spcPct val="0"/>
              </a:spcAft>
              <a:buClrTx/>
              <a:buSzTx/>
              <a:buFontTx/>
              <a:buNone/>
              <a:tabLst/>
            </a:pPr>
            <a:endParaRPr kumimoji="0" lang="fr-FR" sz="1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ctr" defTabSz="914400" rtl="1" eaLnBrk="0" fontAlgn="base" latinLnBrk="0" hangingPunct="0">
              <a:lnSpc>
                <a:spcPct val="100000"/>
              </a:lnSpc>
              <a:spcBef>
                <a:spcPct val="0"/>
              </a:spcBef>
              <a:spcAft>
                <a:spcPct val="0"/>
              </a:spcAft>
              <a:buClrTx/>
              <a:buSzTx/>
              <a:buFontTx/>
              <a:buNone/>
              <a:tabLst/>
            </a:pPr>
            <a:r>
              <a:rPr kumimoji="0" lang="ar-DZ" sz="32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الإعداد الجيد لتوظيف مختلف أدوات التعلم في ممارسة المسعى العلمي (عينات، مواد، وسائل، تراكيب، تجهيزات، كتب، وثائق، أساليب عمل، تقنيات...). </a:t>
            </a:r>
            <a:endParaRPr kumimoji="0" lang="ar-SA" sz="4400" b="0"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3" name="Rectangle 2"/>
          <p:cNvSpPr/>
          <p:nvPr/>
        </p:nvSpPr>
        <p:spPr>
          <a:xfrm>
            <a:off x="4035634" y="2704387"/>
            <a:ext cx="1072730" cy="523220"/>
          </a:xfrm>
          <a:prstGeom prst="rect">
            <a:avLst/>
          </a:prstGeom>
          <a:solidFill>
            <a:schemeClr val="accent6">
              <a:lumMod val="60000"/>
              <a:lumOff val="40000"/>
            </a:schemeClr>
          </a:solidFill>
          <a:ln>
            <a:solidFill>
              <a:srgbClr val="FF0000"/>
            </a:solidFill>
          </a:ln>
        </p:spPr>
        <p:txBody>
          <a:bodyPr wrap="none">
            <a:spAutoFit/>
          </a:bodyPr>
          <a:lstStyle/>
          <a:p>
            <a:pPr lvl="0" algn="r" rtl="1" fontAlgn="base">
              <a:spcBef>
                <a:spcPct val="0"/>
              </a:spcBef>
              <a:spcAft>
                <a:spcPct val="0"/>
              </a:spcAft>
            </a:pPr>
            <a:r>
              <a:rPr lang="ar-SA" sz="2800" b="1" dirty="0" smtClean="0">
                <a:solidFill>
                  <a:prstClr val="black"/>
                </a:solidFill>
                <a:latin typeface="Times New Roman" pitchFamily="18" charset="0"/>
                <a:ea typeface="Calibri" pitchFamily="34" charset="0"/>
                <a:cs typeface="Times New Roman" pitchFamily="18" charset="0"/>
              </a:rPr>
              <a:t>الوسائل</a:t>
            </a:r>
            <a:endParaRPr lang="fr-FR" sz="1100" dirty="0" smtClean="0">
              <a:solidFill>
                <a:prstClr val="black"/>
              </a:solidFill>
              <a:latin typeface="Times New Roman" pitchFamily="18" charset="0"/>
              <a:cs typeface="Times New Roman" pitchFamily="18" charset="0"/>
            </a:endParaRPr>
          </a:p>
        </p:txBody>
      </p:sp>
      <p:pic>
        <p:nvPicPr>
          <p:cNvPr id="14337" name="Picture 1"/>
          <p:cNvPicPr>
            <a:picLocks noChangeAspect="1" noChangeArrowheads="1"/>
          </p:cNvPicPr>
          <p:nvPr/>
        </p:nvPicPr>
        <p:blipFill>
          <a:blip r:embed="rId2" cstate="print"/>
          <a:srcRect/>
          <a:stretch>
            <a:fillRect/>
          </a:stretch>
        </p:blipFill>
        <p:spPr bwMode="auto">
          <a:xfrm>
            <a:off x="518615" y="1347453"/>
            <a:ext cx="1892489" cy="1419367"/>
          </a:xfrm>
          <a:prstGeom prst="rect">
            <a:avLst/>
          </a:prstGeom>
          <a:noFill/>
          <a:ln w="9525">
            <a:noFill/>
            <a:miter lim="800000"/>
            <a:headEnd/>
            <a:tailEnd/>
          </a:ln>
          <a:effectLst/>
        </p:spPr>
      </p:pic>
      <p:sp>
        <p:nvSpPr>
          <p:cNvPr id="6" name="Rectangle 5"/>
          <p:cNvSpPr/>
          <p:nvPr/>
        </p:nvSpPr>
        <p:spPr>
          <a:xfrm>
            <a:off x="3036082" y="1699699"/>
            <a:ext cx="3071834" cy="523220"/>
          </a:xfrm>
          <a:prstGeom prst="rect">
            <a:avLst/>
          </a:prstGeom>
          <a:solidFill>
            <a:schemeClr val="accent6">
              <a:lumMod val="60000"/>
              <a:lumOff val="40000"/>
            </a:schemeClr>
          </a:solidFill>
          <a:ln>
            <a:solidFill>
              <a:srgbClr val="FF0000"/>
            </a:solidFill>
          </a:ln>
        </p:spPr>
        <p:txBody>
          <a:bodyPr wrap="square">
            <a:spAutoFit/>
          </a:bodyPr>
          <a:lstStyle/>
          <a:p>
            <a:pPr algn="r" rtl="1" fontAlgn="base">
              <a:spcBef>
                <a:spcPct val="0"/>
              </a:spcBef>
              <a:spcAft>
                <a:spcPct val="0"/>
              </a:spcAft>
            </a:pPr>
            <a:r>
              <a:rPr lang="ar-DZ" sz="2800" b="1" dirty="0" smtClean="0">
                <a:solidFill>
                  <a:srgbClr val="FF0000"/>
                </a:solidFill>
              </a:rPr>
              <a:t>توجيهات بيداغوجية</a:t>
            </a:r>
            <a:endParaRPr lang="fr-FR" sz="1400" dirty="0" smtClean="0">
              <a:solidFill>
                <a:prstClr val="black"/>
              </a:solidFill>
              <a:latin typeface="Times New Roman" pitchFamily="18" charset="0"/>
              <a:cs typeface="Times New Roman" pitchFamily="18" charset="0"/>
            </a:endParaRPr>
          </a:p>
        </p:txBody>
      </p:sp>
      <p:sp>
        <p:nvSpPr>
          <p:cNvPr id="7" name="Rectangle 6"/>
          <p:cNvSpPr/>
          <p:nvPr/>
        </p:nvSpPr>
        <p:spPr>
          <a:xfrm>
            <a:off x="0" y="0"/>
            <a:ext cx="9144000" cy="6858000"/>
          </a:xfrm>
          <a:prstGeom prst="rect">
            <a:avLst/>
          </a:prstGeom>
          <a:noFill/>
          <a:ln w="76200">
            <a:solidFill>
              <a:srgbClr val="4599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space réservé du numéro de diapositive 7"/>
          <p:cNvSpPr>
            <a:spLocks noGrp="1"/>
          </p:cNvSpPr>
          <p:nvPr>
            <p:ph type="sldNum" sz="quarter" idx="12"/>
          </p:nvPr>
        </p:nvSpPr>
        <p:spPr/>
        <p:txBody>
          <a:bodyPr/>
          <a:lstStyle/>
          <a:p>
            <a:fld id="{0BFA6C5E-AA5E-44D9-98D8-E3BF1AB628E5}" type="slidenum">
              <a:rPr lang="fr-FR" smtClean="0"/>
              <a:pPr/>
              <a:t>14</a:t>
            </a:fld>
            <a:endParaRPr lang="fr-F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1"/>
          <p:cNvSpPr>
            <a:spLocks noChangeArrowheads="1"/>
          </p:cNvSpPr>
          <p:nvPr/>
        </p:nvSpPr>
        <p:spPr bwMode="auto">
          <a:xfrm>
            <a:off x="683568" y="3941743"/>
            <a:ext cx="7992887" cy="1338828"/>
          </a:xfrm>
          <a:prstGeom prst="rect">
            <a:avLst/>
          </a:prstGeom>
          <a:solidFill>
            <a:schemeClr val="accent6">
              <a:lumMod val="60000"/>
              <a:lumOff val="40000"/>
            </a:schemeClr>
          </a:solidFill>
          <a:ln w="9525">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1" eaLnBrk="1" fontAlgn="base" latinLnBrk="0" hangingPunct="1">
              <a:lnSpc>
                <a:spcPct val="100000"/>
              </a:lnSpc>
              <a:spcBef>
                <a:spcPct val="0"/>
              </a:spcBef>
              <a:spcAft>
                <a:spcPct val="0"/>
              </a:spcAft>
              <a:buClrTx/>
              <a:buSzTx/>
              <a:buFontTx/>
              <a:buNone/>
              <a:tabLst/>
            </a:pPr>
            <a:endParaRPr kumimoji="0" lang="fr-FR" sz="1100" b="1" i="0" u="none" strike="noStrike" cap="none" normalizeH="0" baseline="0" dirty="0" smtClean="0">
              <a:ln>
                <a:noFill/>
              </a:ln>
              <a:solidFill>
                <a:schemeClr val="tx1"/>
              </a:solidFill>
              <a:effectLst/>
              <a:latin typeface="Times New Roman" pitchFamily="18" charset="0"/>
              <a:cs typeface="Times New Roman" pitchFamily="18" charset="0"/>
            </a:endParaRPr>
          </a:p>
          <a:p>
            <a:pPr lvl="0" algn="ctr" rtl="1" eaLnBrk="0" fontAlgn="base" hangingPunct="0">
              <a:spcBef>
                <a:spcPct val="0"/>
              </a:spcBef>
              <a:spcAft>
                <a:spcPct val="0"/>
              </a:spcAft>
            </a:pPr>
            <a:r>
              <a:rPr kumimoji="0" lang="ar-SA" sz="28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ـ ضرورة تفعيل المناقشة بين المتعلمين وتنظيمها </a:t>
            </a:r>
            <a:r>
              <a:rPr lang="ar-SA" sz="2800" b="1" dirty="0" smtClean="0">
                <a:latin typeface="Times New Roman" pitchFamily="18" charset="0"/>
                <a:ea typeface="Calibri" pitchFamily="34" charset="0"/>
                <a:cs typeface="Times New Roman" pitchFamily="18" charset="0"/>
              </a:rPr>
              <a:t>بطريقة مستهدِفة </a:t>
            </a:r>
            <a:r>
              <a:rPr kumimoji="0" lang="ar-DZ" sz="28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a:t>
            </a:r>
          </a:p>
          <a:p>
            <a:pPr marL="0" marR="0" lvl="0" indent="0" algn="ctr" defTabSz="914400" rtl="1" eaLnBrk="0" fontAlgn="base" latinLnBrk="0" hangingPunct="0">
              <a:lnSpc>
                <a:spcPct val="100000"/>
              </a:lnSpc>
              <a:spcBef>
                <a:spcPct val="0"/>
              </a:spcBef>
              <a:spcAft>
                <a:spcPct val="0"/>
              </a:spcAft>
              <a:buClrTx/>
              <a:buSzTx/>
              <a:buFontTx/>
              <a:buNone/>
              <a:tabLst/>
            </a:pPr>
            <a:endParaRPr kumimoji="0" lang="fr-FR" sz="14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ctr" defTabSz="914400" rtl="1" eaLnBrk="0" fontAlgn="base" latinLnBrk="0" hangingPunct="0">
              <a:lnSpc>
                <a:spcPct val="100000"/>
              </a:lnSpc>
              <a:spcBef>
                <a:spcPct val="0"/>
              </a:spcBef>
              <a:spcAft>
                <a:spcPct val="0"/>
              </a:spcAft>
              <a:buClrTx/>
              <a:buSzTx/>
              <a:buFontTx/>
              <a:buNone/>
              <a:tabLst/>
            </a:pPr>
            <a:r>
              <a:rPr kumimoji="0" lang="ar-DZ" sz="28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ـ </a:t>
            </a:r>
            <a:r>
              <a:rPr kumimoji="0" lang="ar-SA" sz="28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تسهيل الاندماج البيداغوجي </a:t>
            </a:r>
            <a:r>
              <a:rPr kumimoji="0" lang="ar-DZ" sz="28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للمتعلمين ا</a:t>
            </a:r>
            <a:r>
              <a:rPr lang="ar-DZ" sz="2800" b="1" dirty="0" smtClean="0">
                <a:latin typeface="Times New Roman" pitchFamily="18" charset="0"/>
                <a:ea typeface="Calibri" pitchFamily="34" charset="0"/>
                <a:cs typeface="Times New Roman" pitchFamily="18" charset="0"/>
              </a:rPr>
              <a:t>لذين</a:t>
            </a:r>
            <a:r>
              <a:rPr kumimoji="0" lang="ar-SA" sz="28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يعانون من الصعوبات</a:t>
            </a:r>
            <a:r>
              <a:rPr kumimoji="0" lang="ar-DZ" sz="28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a:t>
            </a:r>
            <a:endParaRPr kumimoji="0" lang="ar-SA" sz="3600" b="1"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3" name="Rectangle 2"/>
          <p:cNvSpPr/>
          <p:nvPr/>
        </p:nvSpPr>
        <p:spPr>
          <a:xfrm>
            <a:off x="2879688" y="1834210"/>
            <a:ext cx="4113687" cy="523220"/>
          </a:xfrm>
          <a:prstGeom prst="rect">
            <a:avLst/>
          </a:prstGeom>
          <a:solidFill>
            <a:schemeClr val="accent6">
              <a:lumMod val="60000"/>
              <a:lumOff val="40000"/>
            </a:schemeClr>
          </a:solidFill>
          <a:ln>
            <a:solidFill>
              <a:schemeClr val="tx1"/>
            </a:solidFill>
          </a:ln>
        </p:spPr>
        <p:txBody>
          <a:bodyPr wrap="square">
            <a:spAutoFit/>
          </a:bodyPr>
          <a:lstStyle/>
          <a:p>
            <a:pPr lvl="0" algn="ctr" rtl="1" fontAlgn="base">
              <a:spcBef>
                <a:spcPct val="0"/>
              </a:spcBef>
              <a:spcAft>
                <a:spcPct val="0"/>
              </a:spcAft>
            </a:pPr>
            <a:r>
              <a:rPr lang="ar-DZ" sz="2800" b="1" dirty="0" smtClean="0">
                <a:solidFill>
                  <a:prstClr val="black"/>
                </a:solidFill>
                <a:latin typeface="Times New Roman" pitchFamily="18" charset="0"/>
                <a:ea typeface="Calibri" pitchFamily="34" charset="0"/>
                <a:cs typeface="Times New Roman" pitchFamily="18" charset="0"/>
              </a:rPr>
              <a:t>إقحام المتعلمين في تعلماتهم</a:t>
            </a:r>
            <a:endParaRPr lang="fr-FR" sz="1100" dirty="0" smtClean="0">
              <a:solidFill>
                <a:prstClr val="black"/>
              </a:solidFill>
              <a:latin typeface="Times New Roman" pitchFamily="18" charset="0"/>
              <a:cs typeface="Times New Roman" pitchFamily="18" charset="0"/>
            </a:endParaRPr>
          </a:p>
        </p:txBody>
      </p:sp>
      <p:pic>
        <p:nvPicPr>
          <p:cNvPr id="21505" name="Picture 1"/>
          <p:cNvPicPr>
            <a:picLocks noChangeAspect="1" noChangeArrowheads="1"/>
          </p:cNvPicPr>
          <p:nvPr/>
        </p:nvPicPr>
        <p:blipFill>
          <a:blip r:embed="rId2"/>
          <a:srcRect/>
          <a:stretch>
            <a:fillRect/>
          </a:stretch>
        </p:blipFill>
        <p:spPr bwMode="auto">
          <a:xfrm>
            <a:off x="481936" y="1061721"/>
            <a:ext cx="2119668" cy="1413112"/>
          </a:xfrm>
          <a:prstGeom prst="rect">
            <a:avLst/>
          </a:prstGeom>
          <a:noFill/>
          <a:ln w="9525">
            <a:noFill/>
            <a:miter lim="800000"/>
            <a:headEnd/>
            <a:tailEnd/>
          </a:ln>
          <a:effectLst/>
        </p:spPr>
      </p:pic>
      <p:sp>
        <p:nvSpPr>
          <p:cNvPr id="6" name="Rectangle 5"/>
          <p:cNvSpPr/>
          <p:nvPr/>
        </p:nvSpPr>
        <p:spPr>
          <a:xfrm>
            <a:off x="3214678" y="742874"/>
            <a:ext cx="3071834" cy="523220"/>
          </a:xfrm>
          <a:prstGeom prst="rect">
            <a:avLst/>
          </a:prstGeom>
          <a:solidFill>
            <a:schemeClr val="accent6">
              <a:lumMod val="60000"/>
              <a:lumOff val="40000"/>
            </a:schemeClr>
          </a:solidFill>
          <a:ln>
            <a:solidFill>
              <a:schemeClr val="tx1"/>
            </a:solidFill>
          </a:ln>
        </p:spPr>
        <p:txBody>
          <a:bodyPr wrap="square">
            <a:spAutoFit/>
          </a:bodyPr>
          <a:lstStyle/>
          <a:p>
            <a:pPr algn="r" rtl="1" fontAlgn="base">
              <a:spcBef>
                <a:spcPct val="0"/>
              </a:spcBef>
              <a:spcAft>
                <a:spcPct val="0"/>
              </a:spcAft>
            </a:pPr>
            <a:r>
              <a:rPr lang="ar-DZ" sz="2800" b="1" dirty="0" smtClean="0">
                <a:solidFill>
                  <a:srgbClr val="FF0000"/>
                </a:solidFill>
              </a:rPr>
              <a:t>توجيهات بيداغوجية</a:t>
            </a:r>
            <a:endParaRPr lang="fr-FR" sz="1400" dirty="0" smtClean="0">
              <a:solidFill>
                <a:prstClr val="black"/>
              </a:solidFill>
              <a:latin typeface="Times New Roman" pitchFamily="18" charset="0"/>
              <a:cs typeface="Times New Roman" pitchFamily="18" charset="0"/>
            </a:endParaRPr>
          </a:p>
        </p:txBody>
      </p:sp>
      <p:sp>
        <p:nvSpPr>
          <p:cNvPr id="7" name="Rectangle 6"/>
          <p:cNvSpPr/>
          <p:nvPr/>
        </p:nvSpPr>
        <p:spPr>
          <a:xfrm>
            <a:off x="0" y="0"/>
            <a:ext cx="9144000" cy="6858000"/>
          </a:xfrm>
          <a:prstGeom prst="rect">
            <a:avLst/>
          </a:prstGeom>
          <a:noFill/>
          <a:ln w="76200">
            <a:solidFill>
              <a:srgbClr val="4599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space réservé du numéro de diapositive 7"/>
          <p:cNvSpPr>
            <a:spLocks noGrp="1"/>
          </p:cNvSpPr>
          <p:nvPr>
            <p:ph type="sldNum" sz="quarter" idx="12"/>
          </p:nvPr>
        </p:nvSpPr>
        <p:spPr/>
        <p:txBody>
          <a:bodyPr/>
          <a:lstStyle/>
          <a:p>
            <a:fld id="{0BFA6C5E-AA5E-44D9-98D8-E3BF1AB628E5}" type="slidenum">
              <a:rPr lang="fr-FR" smtClean="0"/>
              <a:pPr/>
              <a:t>15</a:t>
            </a:fld>
            <a:endParaRPr lang="fr-F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755576" y="692697"/>
            <a:ext cx="7632847" cy="4320479"/>
          </a:xfrm>
          <a:prstGeom prst="rect">
            <a:avLst/>
          </a:prstGeom>
          <a:solidFill>
            <a:schemeClr val="tx1"/>
          </a:solidFill>
          <a:ln w="9525">
            <a:solidFill>
              <a:schemeClr val="tx1"/>
            </a:solidFill>
            <a:miter lim="800000"/>
            <a:headEnd/>
            <a:tailEnd/>
          </a:ln>
          <a:effectLst/>
        </p:spPr>
      </p:pic>
      <p:sp>
        <p:nvSpPr>
          <p:cNvPr id="6" name="ZoneTexte 5"/>
          <p:cNvSpPr txBox="1"/>
          <p:nvPr/>
        </p:nvSpPr>
        <p:spPr>
          <a:xfrm rot="19712068">
            <a:off x="5000628" y="4000504"/>
            <a:ext cx="1000132" cy="461665"/>
          </a:xfrm>
          <a:prstGeom prst="rect">
            <a:avLst/>
          </a:prstGeom>
          <a:noFill/>
        </p:spPr>
        <p:txBody>
          <a:bodyPr wrap="square" rtlCol="0">
            <a:spAutoFit/>
          </a:bodyPr>
          <a:lstStyle/>
          <a:p>
            <a:pPr algn="ctr" rtl="1"/>
            <a:r>
              <a:rPr lang="ar-DZ" sz="2400" dirty="0" smtClean="0"/>
              <a:t>التعليم</a:t>
            </a:r>
            <a:endParaRPr lang="fr-FR" dirty="0"/>
          </a:p>
        </p:txBody>
      </p:sp>
      <p:cxnSp>
        <p:nvCxnSpPr>
          <p:cNvPr id="4" name="Connecteur droit avec flèche 3"/>
          <p:cNvCxnSpPr/>
          <p:nvPr/>
        </p:nvCxnSpPr>
        <p:spPr>
          <a:xfrm flipV="1">
            <a:off x="2771800" y="1844824"/>
            <a:ext cx="4320480" cy="2876220"/>
          </a:xfrm>
          <a:prstGeom prst="straightConnector1">
            <a:avLst/>
          </a:prstGeom>
          <a:ln w="76200">
            <a:tailEnd type="arrow"/>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0" y="0"/>
            <a:ext cx="9144000" cy="6858000"/>
          </a:xfrm>
          <a:prstGeom prst="rect">
            <a:avLst/>
          </a:prstGeom>
          <a:noFill/>
          <a:ln w="76200">
            <a:solidFill>
              <a:srgbClr val="4599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6385" name="Picture 1"/>
          <p:cNvPicPr>
            <a:picLocks noChangeAspect="1" noChangeArrowheads="1"/>
          </p:cNvPicPr>
          <p:nvPr/>
        </p:nvPicPr>
        <p:blipFill>
          <a:blip r:embed="rId3"/>
          <a:srcRect/>
          <a:stretch>
            <a:fillRect/>
          </a:stretch>
        </p:blipFill>
        <p:spPr bwMode="auto">
          <a:xfrm>
            <a:off x="611560" y="5301208"/>
            <a:ext cx="7992888" cy="1109135"/>
          </a:xfrm>
          <a:prstGeom prst="rect">
            <a:avLst/>
          </a:prstGeom>
          <a:noFill/>
          <a:ln w="9525">
            <a:noFill/>
            <a:miter lim="800000"/>
            <a:headEnd/>
            <a:tailEnd/>
          </a:ln>
          <a:effectLst/>
        </p:spPr>
      </p:pic>
      <p:sp>
        <p:nvSpPr>
          <p:cNvPr id="7" name="Espace réservé du numéro de diapositive 6"/>
          <p:cNvSpPr>
            <a:spLocks noGrp="1"/>
          </p:cNvSpPr>
          <p:nvPr>
            <p:ph type="sldNum" sz="quarter" idx="12"/>
          </p:nvPr>
        </p:nvSpPr>
        <p:spPr/>
        <p:txBody>
          <a:bodyPr/>
          <a:lstStyle/>
          <a:p>
            <a:fld id="{0BFA6C5E-AA5E-44D9-98D8-E3BF1AB628E5}" type="slidenum">
              <a:rPr lang="fr-FR" smtClean="0"/>
              <a:pPr/>
              <a:t>16</a:t>
            </a:fld>
            <a:endParaRPr lang="fr-F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457200" y="274638"/>
            <a:ext cx="8229600" cy="725470"/>
          </a:xfrm>
          <a:prstGeom prst="rect">
            <a:avLst/>
          </a:prstGeom>
          <a:solidFill>
            <a:schemeClr val="tx2">
              <a:lumMod val="20000"/>
              <a:lumOff val="80000"/>
            </a:schemeClr>
          </a:solidFill>
        </p:spPr>
        <p:txBody>
          <a:bodyPr>
            <a:normAutofit/>
          </a:bodyPr>
          <a:lstStyle/>
          <a:p>
            <a:pPr marL="0" marR="0" lvl="0" indent="0" algn="ctr" defTabSz="914400" rtl="1" eaLnBrk="1" fontAlgn="auto" latinLnBrk="0" hangingPunct="1">
              <a:lnSpc>
                <a:spcPct val="100000"/>
              </a:lnSpc>
              <a:spcBef>
                <a:spcPct val="0"/>
              </a:spcBef>
              <a:spcAft>
                <a:spcPts val="0"/>
              </a:spcAft>
              <a:buClrTx/>
              <a:buSzTx/>
              <a:buFontTx/>
              <a:buNone/>
              <a:tabLst/>
              <a:defRPr/>
            </a:pPr>
            <a:r>
              <a:rPr kumimoji="0" lang="ar-DZ" sz="3600" b="1" i="0" u="none" strike="noStrike" kern="1200" cap="none" spc="0" normalizeH="0" baseline="0" noProof="0" dirty="0" smtClean="0">
                <a:ln>
                  <a:noFill/>
                </a:ln>
                <a:solidFill>
                  <a:schemeClr val="tx1"/>
                </a:solidFill>
                <a:effectLst/>
                <a:uLnTx/>
                <a:uFillTx/>
                <a:latin typeface="+mj-lt"/>
                <a:ea typeface="+mj-ea"/>
                <a:cs typeface="+mj-cs"/>
              </a:rPr>
              <a:t>ممارسة المسعى العلمي هي لحظات من أجل: </a:t>
            </a:r>
            <a:endParaRPr kumimoji="0" lang="fr-FR" sz="3600" b="1" i="0" u="none" strike="noStrike" kern="1200" cap="none" spc="0" normalizeH="0" baseline="0" noProof="0" dirty="0">
              <a:ln>
                <a:noFill/>
              </a:ln>
              <a:solidFill>
                <a:schemeClr val="tx1"/>
              </a:solidFill>
              <a:effectLst/>
              <a:uLnTx/>
              <a:uFillTx/>
              <a:latin typeface="+mj-lt"/>
              <a:ea typeface="+mj-ea"/>
              <a:cs typeface="+mj-cs"/>
            </a:endParaRPr>
          </a:p>
        </p:txBody>
      </p:sp>
      <p:sp>
        <p:nvSpPr>
          <p:cNvPr id="4" name="Rectangle à coins arrondis 3"/>
          <p:cNvSpPr/>
          <p:nvPr/>
        </p:nvSpPr>
        <p:spPr>
          <a:xfrm>
            <a:off x="5689928" y="1357298"/>
            <a:ext cx="3168352" cy="1080120"/>
          </a:xfrm>
          <a:prstGeom prst="wedgeRoundRectCallout">
            <a:avLst>
              <a:gd name="adj1" fmla="val -45105"/>
              <a:gd name="adj2" fmla="val 84837"/>
              <a:gd name="adj3" fmla="val 16667"/>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rtl="1"/>
            <a:r>
              <a:rPr lang="ar-DZ" sz="2800" b="1" dirty="0" smtClean="0"/>
              <a:t>الملاحظة  والتساؤل</a:t>
            </a:r>
          </a:p>
          <a:p>
            <a:pPr algn="ctr" rtl="1"/>
            <a:r>
              <a:rPr lang="ar-DZ" sz="2800" b="1" dirty="0" smtClean="0"/>
              <a:t>وتملك المشكلة</a:t>
            </a:r>
            <a:endParaRPr lang="fr-FR" sz="2800" b="1" dirty="0"/>
          </a:p>
        </p:txBody>
      </p:sp>
      <p:sp>
        <p:nvSpPr>
          <p:cNvPr id="5" name="Rectangle à coins arrondis 4"/>
          <p:cNvSpPr/>
          <p:nvPr/>
        </p:nvSpPr>
        <p:spPr>
          <a:xfrm>
            <a:off x="214282" y="1357298"/>
            <a:ext cx="3062714" cy="1080120"/>
          </a:xfrm>
          <a:prstGeom prst="wedgeRoundRectCallout">
            <a:avLst>
              <a:gd name="adj1" fmla="val 48628"/>
              <a:gd name="adj2" fmla="val 73671"/>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r" rtl="1"/>
            <a:r>
              <a:rPr lang="ar-DZ" sz="2800" b="1" dirty="0" smtClean="0"/>
              <a:t>البناء والتنظيم والهيكلة</a:t>
            </a:r>
            <a:endParaRPr lang="fr-FR" sz="2800" b="1" dirty="0"/>
          </a:p>
        </p:txBody>
      </p:sp>
      <p:sp>
        <p:nvSpPr>
          <p:cNvPr id="6" name="Rectangle à coins arrondis 5"/>
          <p:cNvSpPr/>
          <p:nvPr/>
        </p:nvSpPr>
        <p:spPr>
          <a:xfrm>
            <a:off x="403484" y="2928934"/>
            <a:ext cx="2239690" cy="1080120"/>
          </a:xfrm>
          <a:prstGeom prst="wedgeRoundRectCallout">
            <a:avLst>
              <a:gd name="adj1" fmla="val 80368"/>
              <a:gd name="adj2" fmla="val -8476"/>
              <a:gd name="adj3" fmla="val 16667"/>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ar-DZ" sz="2800" b="1" dirty="0" smtClean="0"/>
              <a:t>التبليغ</a:t>
            </a:r>
            <a:endParaRPr lang="fr-FR" sz="2800" b="1" dirty="0"/>
          </a:p>
        </p:txBody>
      </p:sp>
      <p:sp>
        <p:nvSpPr>
          <p:cNvPr id="7" name="Rectangle à coins arrondis 6"/>
          <p:cNvSpPr/>
          <p:nvPr/>
        </p:nvSpPr>
        <p:spPr>
          <a:xfrm>
            <a:off x="285720" y="4643446"/>
            <a:ext cx="3307808" cy="1080120"/>
          </a:xfrm>
          <a:prstGeom prst="wedgeRoundRectCallout">
            <a:avLst>
              <a:gd name="adj1" fmla="val 53626"/>
              <a:gd name="adj2" fmla="val -117549"/>
              <a:gd name="adj3" fmla="val 16667"/>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ar-DZ" sz="2800" b="1" dirty="0" smtClean="0"/>
              <a:t>المصادقة على:</a:t>
            </a:r>
          </a:p>
          <a:p>
            <a:pPr algn="ctr"/>
            <a:r>
              <a:rPr lang="ar-DZ" sz="2800" b="1" dirty="0" smtClean="0"/>
              <a:t> الفرضية ، النتائج</a:t>
            </a:r>
          </a:p>
        </p:txBody>
      </p:sp>
      <p:sp>
        <p:nvSpPr>
          <p:cNvPr id="8" name="Rectangle à coins arrondis 7"/>
          <p:cNvSpPr/>
          <p:nvPr/>
        </p:nvSpPr>
        <p:spPr>
          <a:xfrm>
            <a:off x="6192274" y="2928934"/>
            <a:ext cx="2880320" cy="1080120"/>
          </a:xfrm>
          <a:prstGeom prst="wedgeRoundRectCallout">
            <a:avLst>
              <a:gd name="adj1" fmla="val -67274"/>
              <a:gd name="adj2" fmla="val 350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800" b="1" dirty="0" smtClean="0"/>
              <a:t>التحليل ، الاستدلال</a:t>
            </a:r>
            <a:endParaRPr lang="fr-FR" sz="2800" b="1" dirty="0"/>
          </a:p>
        </p:txBody>
      </p:sp>
      <p:sp>
        <p:nvSpPr>
          <p:cNvPr id="10" name="Rectangle à coins arrondis 9"/>
          <p:cNvSpPr/>
          <p:nvPr/>
        </p:nvSpPr>
        <p:spPr>
          <a:xfrm flipH="1">
            <a:off x="6121976" y="5143512"/>
            <a:ext cx="2736304" cy="1214446"/>
          </a:xfrm>
          <a:prstGeom prst="wedgeRoundRectCallout">
            <a:avLst>
              <a:gd name="adj1" fmla="val 81399"/>
              <a:gd name="adj2" fmla="val -149907"/>
              <a:gd name="adj3" fmla="val 16667"/>
            </a:avLst>
          </a:prstGeom>
          <a:solidFill>
            <a:schemeClr val="accent1">
              <a:lumMod val="7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ar-DZ" sz="2800" b="1" dirty="0" smtClean="0"/>
              <a:t>الإنجاز</a:t>
            </a:r>
          </a:p>
          <a:p>
            <a:pPr algn="ctr"/>
            <a:r>
              <a:rPr lang="ar-DZ" sz="2400" b="1" dirty="0" smtClean="0"/>
              <a:t>تطبيق إستراتيجية الحل</a:t>
            </a:r>
            <a:endParaRPr lang="fr-FR" sz="2800" b="1" dirty="0"/>
          </a:p>
        </p:txBody>
      </p:sp>
      <p:sp>
        <p:nvSpPr>
          <p:cNvPr id="11" name="Ellipse 10"/>
          <p:cNvSpPr/>
          <p:nvPr/>
        </p:nvSpPr>
        <p:spPr>
          <a:xfrm>
            <a:off x="3214678" y="1785926"/>
            <a:ext cx="2571768" cy="2357454"/>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2" descr="http://idata.over-blog.com/3/49/09/54/photos-cliparts/cliparts-2012/reflechir.jpg"/>
          <p:cNvPicPr>
            <a:picLocks noChangeAspect="1" noChangeArrowheads="1"/>
          </p:cNvPicPr>
          <p:nvPr/>
        </p:nvPicPr>
        <p:blipFill>
          <a:blip r:embed="rId2" cstate="print"/>
          <a:srcRect/>
          <a:stretch>
            <a:fillRect/>
          </a:stretch>
        </p:blipFill>
        <p:spPr bwMode="auto">
          <a:xfrm>
            <a:off x="3702204" y="2143116"/>
            <a:ext cx="1584176" cy="1669902"/>
          </a:xfrm>
          <a:prstGeom prst="rect">
            <a:avLst/>
          </a:prstGeom>
          <a:noFill/>
        </p:spPr>
      </p:pic>
      <p:sp>
        <p:nvSpPr>
          <p:cNvPr id="12" name="Ellipse 11"/>
          <p:cNvSpPr/>
          <p:nvPr/>
        </p:nvSpPr>
        <p:spPr>
          <a:xfrm>
            <a:off x="8429652" y="2143116"/>
            <a:ext cx="428628" cy="285752"/>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1</a:t>
            </a:r>
            <a:endParaRPr lang="fr-FR" dirty="0"/>
          </a:p>
        </p:txBody>
      </p:sp>
      <p:sp>
        <p:nvSpPr>
          <p:cNvPr id="13" name="Ellipse 12"/>
          <p:cNvSpPr/>
          <p:nvPr/>
        </p:nvSpPr>
        <p:spPr>
          <a:xfrm>
            <a:off x="8429652" y="4000504"/>
            <a:ext cx="428628" cy="285752"/>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2</a:t>
            </a:r>
            <a:endParaRPr lang="fr-FR" dirty="0"/>
          </a:p>
        </p:txBody>
      </p:sp>
      <p:sp>
        <p:nvSpPr>
          <p:cNvPr id="14" name="Ellipse 13"/>
          <p:cNvSpPr/>
          <p:nvPr/>
        </p:nvSpPr>
        <p:spPr>
          <a:xfrm>
            <a:off x="7643834" y="6215082"/>
            <a:ext cx="428628" cy="285752"/>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3</a:t>
            </a:r>
            <a:endParaRPr lang="fr-FR" dirty="0"/>
          </a:p>
        </p:txBody>
      </p:sp>
      <p:sp>
        <p:nvSpPr>
          <p:cNvPr id="16" name="Ellipse 15"/>
          <p:cNvSpPr/>
          <p:nvPr/>
        </p:nvSpPr>
        <p:spPr>
          <a:xfrm>
            <a:off x="357158" y="5357826"/>
            <a:ext cx="428628" cy="285752"/>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5</a:t>
            </a:r>
            <a:endParaRPr lang="fr-FR" dirty="0"/>
          </a:p>
        </p:txBody>
      </p:sp>
      <p:sp>
        <p:nvSpPr>
          <p:cNvPr id="17" name="Ellipse 16"/>
          <p:cNvSpPr/>
          <p:nvPr/>
        </p:nvSpPr>
        <p:spPr>
          <a:xfrm>
            <a:off x="500034" y="3643314"/>
            <a:ext cx="428628" cy="285752"/>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6</a:t>
            </a:r>
            <a:endParaRPr lang="fr-FR" dirty="0"/>
          </a:p>
        </p:txBody>
      </p:sp>
      <p:sp>
        <p:nvSpPr>
          <p:cNvPr id="18" name="Rectangle à coins arrondis 17"/>
          <p:cNvSpPr/>
          <p:nvPr/>
        </p:nvSpPr>
        <p:spPr>
          <a:xfrm>
            <a:off x="2643174" y="5786454"/>
            <a:ext cx="3307808" cy="1071546"/>
          </a:xfrm>
          <a:prstGeom prst="wedgeRoundRectCallout">
            <a:avLst>
              <a:gd name="adj1" fmla="val 8810"/>
              <a:gd name="adj2" fmla="val -198491"/>
              <a:gd name="adj3" fmla="val 16667"/>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ar-DZ" sz="2800" b="1" dirty="0" smtClean="0"/>
              <a:t>جمع النتائج ومعالجتها</a:t>
            </a:r>
          </a:p>
        </p:txBody>
      </p:sp>
      <p:sp>
        <p:nvSpPr>
          <p:cNvPr id="15" name="Ellipse 14"/>
          <p:cNvSpPr/>
          <p:nvPr/>
        </p:nvSpPr>
        <p:spPr>
          <a:xfrm>
            <a:off x="5357818" y="6572248"/>
            <a:ext cx="428628" cy="285752"/>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4</a:t>
            </a:r>
            <a:endParaRPr lang="fr-FR" dirty="0"/>
          </a:p>
        </p:txBody>
      </p:sp>
      <p:sp>
        <p:nvSpPr>
          <p:cNvPr id="19" name="Ellipse 18"/>
          <p:cNvSpPr/>
          <p:nvPr/>
        </p:nvSpPr>
        <p:spPr>
          <a:xfrm>
            <a:off x="357158" y="2143116"/>
            <a:ext cx="428628" cy="285752"/>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dirty="0" smtClean="0"/>
              <a:t>7</a:t>
            </a:r>
            <a:endParaRPr lang="fr-FR" dirty="0"/>
          </a:p>
        </p:txBody>
      </p:sp>
      <p:sp>
        <p:nvSpPr>
          <p:cNvPr id="20" name="Rectangle 19"/>
          <p:cNvSpPr/>
          <p:nvPr/>
        </p:nvSpPr>
        <p:spPr>
          <a:xfrm>
            <a:off x="0" y="0"/>
            <a:ext cx="9144000" cy="6858000"/>
          </a:xfrm>
          <a:prstGeom prst="rect">
            <a:avLst/>
          </a:prstGeom>
          <a:noFill/>
          <a:ln w="76200">
            <a:solidFill>
              <a:srgbClr val="4599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Espace réservé du numéro de diapositive 20"/>
          <p:cNvSpPr>
            <a:spLocks noGrp="1"/>
          </p:cNvSpPr>
          <p:nvPr>
            <p:ph type="sldNum" sz="quarter" idx="12"/>
          </p:nvPr>
        </p:nvSpPr>
        <p:spPr/>
        <p:txBody>
          <a:bodyPr/>
          <a:lstStyle/>
          <a:p>
            <a:fld id="{0BFA6C5E-AA5E-44D9-98D8-E3BF1AB628E5}" type="slidenum">
              <a:rPr lang="fr-FR" smtClean="0"/>
              <a:pPr/>
              <a:t>17</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linds(horizontal)">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linds(horizontal)">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linds(horizontal)">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blinds(horizontal)">
                                      <p:cBhvr>
                                        <p:cTn id="3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0" grpId="0" animBg="1"/>
      <p:bldP spid="1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3086100" y="152400"/>
            <a:ext cx="2286000" cy="419080"/>
          </a:xfrm>
          <a:prstGeom prst="rect">
            <a:avLst/>
          </a:prstGeom>
          <a:solidFill>
            <a:schemeClr val="accent6">
              <a:lumMod val="40000"/>
              <a:lumOff val="60000"/>
              <a:alpha val="50195"/>
            </a:schemeClr>
          </a:solidFill>
          <a:ln w="9525">
            <a:solidFill>
              <a:srgbClr val="000000"/>
            </a:solidFill>
            <a:miter lim="800000"/>
            <a:headEnd/>
            <a:tailEnd/>
          </a:ln>
        </p:spPr>
        <p:txBody>
          <a:bodyPr lIns="91434" tIns="45718" rIns="91434" bIns="45718"/>
          <a:lstStyle/>
          <a:p>
            <a:pPr algn="ctr" rtl="1"/>
            <a:r>
              <a:rPr lang="ar-DZ" sz="2400" b="1" dirty="0" smtClean="0"/>
              <a:t>وضعية انطلاق</a:t>
            </a:r>
            <a:endParaRPr lang="en-US" sz="2400" b="1" dirty="0"/>
          </a:p>
        </p:txBody>
      </p:sp>
      <p:sp>
        <p:nvSpPr>
          <p:cNvPr id="4" name="Text Box 3"/>
          <p:cNvSpPr txBox="1">
            <a:spLocks noChangeArrowheads="1"/>
          </p:cNvSpPr>
          <p:nvPr/>
        </p:nvSpPr>
        <p:spPr bwMode="auto">
          <a:xfrm>
            <a:off x="3200400" y="876300"/>
            <a:ext cx="2133600" cy="609600"/>
          </a:xfrm>
          <a:prstGeom prst="rect">
            <a:avLst/>
          </a:prstGeom>
          <a:solidFill>
            <a:schemeClr val="accent6">
              <a:lumMod val="40000"/>
              <a:lumOff val="60000"/>
              <a:alpha val="50195"/>
            </a:schemeClr>
          </a:solidFill>
          <a:ln w="9525">
            <a:solidFill>
              <a:srgbClr val="000000"/>
            </a:solidFill>
            <a:miter lim="800000"/>
            <a:headEnd/>
            <a:tailEnd/>
          </a:ln>
        </p:spPr>
        <p:txBody>
          <a:bodyPr lIns="91434" tIns="45718" rIns="91434" bIns="45718"/>
          <a:lstStyle/>
          <a:p>
            <a:pPr algn="ctr"/>
            <a:r>
              <a:rPr lang="ar-DZ" sz="2400" b="1" dirty="0" smtClean="0"/>
              <a:t>صياغة مشكلة</a:t>
            </a:r>
            <a:endParaRPr lang="en-US" sz="2800" b="1" dirty="0"/>
          </a:p>
        </p:txBody>
      </p:sp>
      <p:sp>
        <p:nvSpPr>
          <p:cNvPr id="5" name="Text Box 5"/>
          <p:cNvSpPr txBox="1">
            <a:spLocks noChangeArrowheads="1"/>
          </p:cNvSpPr>
          <p:nvPr/>
        </p:nvSpPr>
        <p:spPr bwMode="auto">
          <a:xfrm>
            <a:off x="3000364" y="2509838"/>
            <a:ext cx="1714512" cy="419096"/>
          </a:xfrm>
          <a:prstGeom prst="rect">
            <a:avLst/>
          </a:prstGeom>
          <a:solidFill>
            <a:schemeClr val="tx2">
              <a:lumMod val="60000"/>
              <a:lumOff val="40000"/>
            </a:schemeClr>
          </a:solidFill>
          <a:ln w="9525">
            <a:solidFill>
              <a:srgbClr val="000000"/>
            </a:solidFill>
            <a:miter lim="800000"/>
            <a:headEnd/>
            <a:tailEnd/>
          </a:ln>
        </p:spPr>
        <p:txBody>
          <a:bodyPr lIns="91434" tIns="45718" rIns="91434" bIns="45718"/>
          <a:lstStyle/>
          <a:p>
            <a:pPr algn="ctr"/>
            <a:r>
              <a:rPr lang="ar-DZ" sz="2400" dirty="0" smtClean="0"/>
              <a:t>الملاحظة</a:t>
            </a:r>
            <a:endParaRPr lang="en-US" sz="2800" dirty="0"/>
          </a:p>
        </p:txBody>
      </p:sp>
      <p:sp>
        <p:nvSpPr>
          <p:cNvPr id="6" name="Text Box 6"/>
          <p:cNvSpPr txBox="1">
            <a:spLocks noChangeArrowheads="1"/>
          </p:cNvSpPr>
          <p:nvPr/>
        </p:nvSpPr>
        <p:spPr bwMode="auto">
          <a:xfrm>
            <a:off x="5000628" y="1828800"/>
            <a:ext cx="3990972" cy="4022725"/>
          </a:xfrm>
          <a:prstGeom prst="rect">
            <a:avLst/>
          </a:prstGeom>
          <a:solidFill>
            <a:schemeClr val="accent3">
              <a:lumMod val="20000"/>
              <a:lumOff val="80000"/>
            </a:schemeClr>
          </a:solidFill>
          <a:ln w="38100">
            <a:solidFill>
              <a:schemeClr val="tx2">
                <a:lumMod val="50000"/>
              </a:schemeClr>
            </a:solidFill>
            <a:miter lim="800000"/>
            <a:headEnd/>
            <a:tailEnd/>
          </a:ln>
        </p:spPr>
        <p:txBody>
          <a:bodyPr lIns="91434" tIns="45718" rIns="91434" bIns="45718"/>
          <a:lstStyle/>
          <a:p>
            <a:r>
              <a:rPr lang="ar-DZ" sz="2000" b="1" dirty="0" smtClean="0"/>
              <a:t> </a:t>
            </a:r>
            <a:endParaRPr lang="en-US" sz="2000" b="1" dirty="0"/>
          </a:p>
        </p:txBody>
      </p:sp>
      <p:sp>
        <p:nvSpPr>
          <p:cNvPr id="7" name="Text Box 8"/>
          <p:cNvSpPr txBox="1">
            <a:spLocks noChangeArrowheads="1"/>
          </p:cNvSpPr>
          <p:nvPr/>
        </p:nvSpPr>
        <p:spPr bwMode="auto">
          <a:xfrm>
            <a:off x="6858000" y="2214554"/>
            <a:ext cx="1676400" cy="549275"/>
          </a:xfrm>
          <a:prstGeom prst="rect">
            <a:avLst/>
          </a:prstGeom>
          <a:solidFill>
            <a:schemeClr val="tx2">
              <a:lumMod val="60000"/>
              <a:lumOff val="40000"/>
            </a:schemeClr>
          </a:solidFill>
          <a:ln w="9525">
            <a:solidFill>
              <a:srgbClr val="000000"/>
            </a:solidFill>
            <a:miter lim="800000"/>
            <a:headEnd/>
            <a:tailEnd/>
          </a:ln>
        </p:spPr>
        <p:txBody>
          <a:bodyPr lIns="91434" tIns="45718" rIns="91434" bIns="45718"/>
          <a:lstStyle/>
          <a:p>
            <a:pPr algn="ctr" rtl="1"/>
            <a:r>
              <a:rPr lang="ar-DZ" b="1" dirty="0" smtClean="0"/>
              <a:t>يبحث عن العوامل المتدخلة </a:t>
            </a:r>
            <a:endParaRPr lang="en-US" b="1" dirty="0"/>
          </a:p>
        </p:txBody>
      </p:sp>
      <p:sp>
        <p:nvSpPr>
          <p:cNvPr id="8" name="Text Box 9"/>
          <p:cNvSpPr txBox="1">
            <a:spLocks noChangeArrowheads="1"/>
          </p:cNvSpPr>
          <p:nvPr/>
        </p:nvSpPr>
        <p:spPr bwMode="auto">
          <a:xfrm>
            <a:off x="6934200" y="3819532"/>
            <a:ext cx="1981200" cy="466724"/>
          </a:xfrm>
          <a:prstGeom prst="rect">
            <a:avLst/>
          </a:prstGeom>
          <a:solidFill>
            <a:schemeClr val="bg2">
              <a:lumMod val="50000"/>
              <a:alpha val="50195"/>
            </a:schemeClr>
          </a:solidFill>
          <a:ln w="9525">
            <a:solidFill>
              <a:srgbClr val="000000"/>
            </a:solidFill>
            <a:miter lim="800000"/>
            <a:headEnd/>
            <a:tailEnd/>
          </a:ln>
        </p:spPr>
        <p:txBody>
          <a:bodyPr lIns="91434" tIns="45718" rIns="91434" bIns="45718"/>
          <a:lstStyle/>
          <a:p>
            <a:pPr algn="ctr"/>
            <a:r>
              <a:rPr lang="ar-DZ" sz="2000" b="1" dirty="0" smtClean="0"/>
              <a:t>ينجز البروتوكول</a:t>
            </a:r>
            <a:endParaRPr lang="en-US" sz="2000" b="1" dirty="0"/>
          </a:p>
        </p:txBody>
      </p:sp>
      <p:sp>
        <p:nvSpPr>
          <p:cNvPr id="9" name="Text Box 10"/>
          <p:cNvSpPr txBox="1">
            <a:spLocks noChangeArrowheads="1"/>
          </p:cNvSpPr>
          <p:nvPr/>
        </p:nvSpPr>
        <p:spPr bwMode="auto">
          <a:xfrm>
            <a:off x="6934200" y="2971800"/>
            <a:ext cx="1600200" cy="457200"/>
          </a:xfrm>
          <a:prstGeom prst="rect">
            <a:avLst/>
          </a:prstGeom>
          <a:solidFill>
            <a:schemeClr val="tx2">
              <a:lumMod val="60000"/>
              <a:lumOff val="40000"/>
            </a:schemeClr>
          </a:solidFill>
          <a:ln w="9525">
            <a:solidFill>
              <a:srgbClr val="000000"/>
            </a:solidFill>
            <a:miter lim="800000"/>
            <a:headEnd/>
            <a:tailEnd/>
          </a:ln>
        </p:spPr>
        <p:txBody>
          <a:bodyPr lIns="91434" tIns="45718" rIns="91434" bIns="45718"/>
          <a:lstStyle/>
          <a:p>
            <a:pPr algn="ctr"/>
            <a:r>
              <a:rPr lang="ar-DZ" sz="2000" b="1" dirty="0" smtClean="0"/>
              <a:t>يبني بروتوكولا</a:t>
            </a:r>
            <a:endParaRPr lang="en-US" sz="2000" b="1" dirty="0"/>
          </a:p>
        </p:txBody>
      </p:sp>
      <p:sp>
        <p:nvSpPr>
          <p:cNvPr id="10" name="Text Box 11"/>
          <p:cNvSpPr txBox="1">
            <a:spLocks noChangeArrowheads="1"/>
          </p:cNvSpPr>
          <p:nvPr/>
        </p:nvSpPr>
        <p:spPr bwMode="auto">
          <a:xfrm>
            <a:off x="8534400" y="4953000"/>
            <a:ext cx="457200" cy="404826"/>
          </a:xfrm>
          <a:prstGeom prst="rect">
            <a:avLst/>
          </a:prstGeom>
          <a:noFill/>
          <a:ln w="9525">
            <a:noFill/>
            <a:miter lim="800000"/>
            <a:headEnd/>
            <a:tailEnd/>
          </a:ln>
        </p:spPr>
        <p:txBody>
          <a:bodyPr lIns="91434" tIns="45718" rIns="91434" bIns="45718"/>
          <a:lstStyle/>
          <a:p>
            <a:pPr algn="ctr" rtl="1"/>
            <a:r>
              <a:rPr lang="ar-DZ" sz="2000" b="1" dirty="0" smtClean="0">
                <a:solidFill>
                  <a:schemeClr val="accent1">
                    <a:lumMod val="75000"/>
                  </a:schemeClr>
                </a:solidFill>
              </a:rPr>
              <a:t>نعم</a:t>
            </a:r>
            <a:endParaRPr lang="en-US" sz="2000" dirty="0">
              <a:solidFill>
                <a:schemeClr val="accent1">
                  <a:lumMod val="75000"/>
                </a:schemeClr>
              </a:solidFill>
            </a:endParaRPr>
          </a:p>
        </p:txBody>
      </p:sp>
      <p:sp>
        <p:nvSpPr>
          <p:cNvPr id="11" name="Text Box 12"/>
          <p:cNvSpPr txBox="1">
            <a:spLocks noChangeArrowheads="1"/>
          </p:cNvSpPr>
          <p:nvPr/>
        </p:nvSpPr>
        <p:spPr bwMode="auto">
          <a:xfrm>
            <a:off x="5181608" y="4714884"/>
            <a:ext cx="533400" cy="404826"/>
          </a:xfrm>
          <a:prstGeom prst="rect">
            <a:avLst/>
          </a:prstGeom>
          <a:noFill/>
          <a:ln w="9525">
            <a:noFill/>
            <a:miter lim="800000"/>
            <a:headEnd/>
            <a:tailEnd/>
          </a:ln>
        </p:spPr>
        <p:txBody>
          <a:bodyPr lIns="91434" tIns="45718" rIns="91434" bIns="45718"/>
          <a:lstStyle/>
          <a:p>
            <a:pPr algn="ctr" rtl="1"/>
            <a:r>
              <a:rPr lang="ar-DZ" sz="2000" b="1" dirty="0" smtClean="0">
                <a:solidFill>
                  <a:srgbClr val="FF0000"/>
                </a:solidFill>
              </a:rPr>
              <a:t>لا</a:t>
            </a:r>
            <a:endParaRPr lang="en-US" sz="2000" dirty="0"/>
          </a:p>
        </p:txBody>
      </p:sp>
      <p:sp>
        <p:nvSpPr>
          <p:cNvPr id="12" name="Text Box 13"/>
          <p:cNvSpPr txBox="1">
            <a:spLocks noChangeArrowheads="1"/>
          </p:cNvSpPr>
          <p:nvPr/>
        </p:nvSpPr>
        <p:spPr bwMode="auto">
          <a:xfrm>
            <a:off x="38088" y="5929330"/>
            <a:ext cx="7177118" cy="771547"/>
          </a:xfrm>
          <a:prstGeom prst="rect">
            <a:avLst/>
          </a:prstGeom>
          <a:solidFill>
            <a:schemeClr val="accent6">
              <a:lumMod val="75000"/>
              <a:alpha val="50195"/>
            </a:schemeClr>
          </a:solidFill>
          <a:ln w="9525">
            <a:solidFill>
              <a:srgbClr val="000000"/>
            </a:solidFill>
            <a:miter lim="800000"/>
            <a:headEnd/>
            <a:tailEnd/>
          </a:ln>
        </p:spPr>
        <p:txBody>
          <a:bodyPr lIns="91434" tIns="45718" rIns="91434" bIns="45718"/>
          <a:lstStyle/>
          <a:p>
            <a:pPr algn="ctr" rtl="1"/>
            <a:r>
              <a:rPr lang="ar-DZ" sz="2400" dirty="0" smtClean="0"/>
              <a:t>      يصوغ حلا للمشكلة المطروحة، إجابة، فرضية، في شكل نص علمي، رسم   تخطيطي، منحنى... يقدم النتائج</a:t>
            </a:r>
            <a:r>
              <a:rPr lang="en-US" sz="2400" dirty="0" smtClean="0"/>
              <a:t>.</a:t>
            </a:r>
            <a:endParaRPr lang="en-US" sz="2400" dirty="0"/>
          </a:p>
        </p:txBody>
      </p:sp>
      <p:sp>
        <p:nvSpPr>
          <p:cNvPr id="13" name="Line 14"/>
          <p:cNvSpPr>
            <a:spLocks noChangeShapeType="1"/>
          </p:cNvSpPr>
          <p:nvPr/>
        </p:nvSpPr>
        <p:spPr bwMode="auto">
          <a:xfrm>
            <a:off x="4267200" y="457200"/>
            <a:ext cx="0" cy="457200"/>
          </a:xfrm>
          <a:prstGeom prst="line">
            <a:avLst/>
          </a:prstGeom>
          <a:noFill/>
          <a:ln w="38100">
            <a:solidFill>
              <a:srgbClr val="FF0000"/>
            </a:solidFill>
            <a:round/>
            <a:headEnd/>
            <a:tailEnd type="triangle" w="med" len="med"/>
          </a:ln>
        </p:spPr>
        <p:txBody>
          <a:bodyPr lIns="182880" tIns="91440" rIns="182880" bIns="91440"/>
          <a:lstStyle/>
          <a:p>
            <a:endParaRPr lang="fr-FR"/>
          </a:p>
        </p:txBody>
      </p:sp>
      <p:sp>
        <p:nvSpPr>
          <p:cNvPr id="14" name="Line 15"/>
          <p:cNvSpPr>
            <a:spLocks noChangeShapeType="1"/>
          </p:cNvSpPr>
          <p:nvPr/>
        </p:nvSpPr>
        <p:spPr bwMode="auto">
          <a:xfrm>
            <a:off x="5334000" y="1219200"/>
            <a:ext cx="1524000" cy="0"/>
          </a:xfrm>
          <a:prstGeom prst="line">
            <a:avLst/>
          </a:prstGeom>
          <a:noFill/>
          <a:ln w="38100">
            <a:solidFill>
              <a:srgbClr val="FF0000"/>
            </a:solidFill>
            <a:round/>
            <a:headEnd/>
            <a:tailEnd/>
          </a:ln>
        </p:spPr>
        <p:txBody>
          <a:bodyPr lIns="182880" tIns="91440" rIns="182880" bIns="91440"/>
          <a:lstStyle/>
          <a:p>
            <a:endParaRPr lang="fr-FR"/>
          </a:p>
        </p:txBody>
      </p:sp>
      <p:sp>
        <p:nvSpPr>
          <p:cNvPr id="15" name="Line 16"/>
          <p:cNvSpPr>
            <a:spLocks noChangeShapeType="1"/>
          </p:cNvSpPr>
          <p:nvPr/>
        </p:nvSpPr>
        <p:spPr bwMode="auto">
          <a:xfrm>
            <a:off x="6858000" y="1193800"/>
            <a:ext cx="0" cy="581025"/>
          </a:xfrm>
          <a:prstGeom prst="line">
            <a:avLst/>
          </a:prstGeom>
          <a:noFill/>
          <a:ln w="38100">
            <a:solidFill>
              <a:srgbClr val="FF0000"/>
            </a:solidFill>
            <a:round/>
            <a:headEnd/>
            <a:tailEnd type="triangle" w="med" len="med"/>
          </a:ln>
        </p:spPr>
        <p:txBody>
          <a:bodyPr lIns="182880" tIns="91440" rIns="182880" bIns="91440"/>
          <a:lstStyle/>
          <a:p>
            <a:endParaRPr lang="fr-FR"/>
          </a:p>
        </p:txBody>
      </p:sp>
      <p:sp>
        <p:nvSpPr>
          <p:cNvPr id="16" name="Line 17"/>
          <p:cNvSpPr>
            <a:spLocks noChangeShapeType="1"/>
          </p:cNvSpPr>
          <p:nvPr/>
        </p:nvSpPr>
        <p:spPr bwMode="auto">
          <a:xfrm>
            <a:off x="3962400" y="1524000"/>
            <a:ext cx="0" cy="914400"/>
          </a:xfrm>
          <a:prstGeom prst="line">
            <a:avLst/>
          </a:prstGeom>
          <a:noFill/>
          <a:ln w="38100">
            <a:solidFill>
              <a:srgbClr val="FF0000"/>
            </a:solidFill>
            <a:round/>
            <a:headEnd/>
            <a:tailEnd type="triangle" w="med" len="med"/>
          </a:ln>
        </p:spPr>
        <p:txBody>
          <a:bodyPr lIns="182880" tIns="91440" rIns="182880" bIns="91440"/>
          <a:lstStyle/>
          <a:p>
            <a:endParaRPr lang="fr-FR"/>
          </a:p>
        </p:txBody>
      </p:sp>
      <p:sp>
        <p:nvSpPr>
          <p:cNvPr id="17" name="Line 18"/>
          <p:cNvSpPr>
            <a:spLocks noChangeShapeType="1"/>
          </p:cNvSpPr>
          <p:nvPr/>
        </p:nvSpPr>
        <p:spPr bwMode="auto">
          <a:xfrm flipH="1">
            <a:off x="1371600" y="1219200"/>
            <a:ext cx="1828800" cy="0"/>
          </a:xfrm>
          <a:prstGeom prst="line">
            <a:avLst/>
          </a:prstGeom>
          <a:noFill/>
          <a:ln w="38100">
            <a:solidFill>
              <a:srgbClr val="FF0000"/>
            </a:solidFill>
            <a:round/>
            <a:headEnd/>
            <a:tailEnd/>
          </a:ln>
        </p:spPr>
        <p:txBody>
          <a:bodyPr lIns="182880" tIns="91440" rIns="182880" bIns="91440"/>
          <a:lstStyle/>
          <a:p>
            <a:endParaRPr lang="fr-FR"/>
          </a:p>
        </p:txBody>
      </p:sp>
      <p:sp>
        <p:nvSpPr>
          <p:cNvPr id="18" name="AutoShape 20"/>
          <p:cNvSpPr>
            <a:spLocks noChangeArrowheads="1"/>
          </p:cNvSpPr>
          <p:nvPr/>
        </p:nvSpPr>
        <p:spPr bwMode="auto">
          <a:xfrm>
            <a:off x="5791200" y="4495800"/>
            <a:ext cx="2667000" cy="1266825"/>
          </a:xfrm>
          <a:prstGeom prst="diamond">
            <a:avLst/>
          </a:prstGeom>
          <a:solidFill>
            <a:srgbClr val="FFFF00"/>
          </a:solidFill>
          <a:ln w="9525">
            <a:solidFill>
              <a:schemeClr val="tx1"/>
            </a:solidFill>
            <a:miter lim="800000"/>
            <a:headEnd/>
            <a:tailEnd/>
          </a:ln>
        </p:spPr>
        <p:txBody>
          <a:bodyPr lIns="182880" tIns="91440" rIns="182880" bIns="91440"/>
          <a:lstStyle/>
          <a:p>
            <a:endParaRPr lang="ar-DZ"/>
          </a:p>
        </p:txBody>
      </p:sp>
      <p:sp>
        <p:nvSpPr>
          <p:cNvPr id="19" name="AutoShape 21"/>
          <p:cNvSpPr>
            <a:spLocks noChangeArrowheads="1"/>
          </p:cNvSpPr>
          <p:nvPr/>
        </p:nvSpPr>
        <p:spPr bwMode="auto">
          <a:xfrm>
            <a:off x="6553200" y="2362200"/>
            <a:ext cx="273050" cy="276225"/>
          </a:xfrm>
          <a:prstGeom prst="rightArrow">
            <a:avLst>
              <a:gd name="adj1" fmla="val 50000"/>
              <a:gd name="adj2" fmla="val 25000"/>
            </a:avLst>
          </a:prstGeom>
          <a:solidFill>
            <a:schemeClr val="accent1">
              <a:lumMod val="60000"/>
              <a:lumOff val="40000"/>
            </a:schemeClr>
          </a:solidFill>
          <a:ln w="9525">
            <a:solidFill>
              <a:srgbClr val="000000"/>
            </a:solidFill>
            <a:miter lim="800000"/>
            <a:headEnd/>
            <a:tailEnd/>
          </a:ln>
        </p:spPr>
        <p:txBody>
          <a:bodyPr lIns="182880" tIns="91440" rIns="182880" bIns="91440"/>
          <a:lstStyle/>
          <a:p>
            <a:endParaRPr lang="ar-DZ"/>
          </a:p>
        </p:txBody>
      </p:sp>
      <p:sp>
        <p:nvSpPr>
          <p:cNvPr id="20" name="AutoShape 22"/>
          <p:cNvSpPr>
            <a:spLocks noChangeArrowheads="1"/>
          </p:cNvSpPr>
          <p:nvPr/>
        </p:nvSpPr>
        <p:spPr bwMode="auto">
          <a:xfrm>
            <a:off x="7391400" y="3429000"/>
            <a:ext cx="273050" cy="304800"/>
          </a:xfrm>
          <a:prstGeom prst="downArrow">
            <a:avLst>
              <a:gd name="adj1" fmla="val 50000"/>
              <a:gd name="adj2" fmla="val 27907"/>
            </a:avLst>
          </a:prstGeom>
          <a:solidFill>
            <a:schemeClr val="accent1">
              <a:lumMod val="60000"/>
              <a:lumOff val="40000"/>
            </a:schemeClr>
          </a:solidFill>
          <a:ln w="9525">
            <a:solidFill>
              <a:srgbClr val="000000"/>
            </a:solidFill>
            <a:miter lim="800000"/>
            <a:headEnd/>
            <a:tailEnd/>
          </a:ln>
        </p:spPr>
        <p:txBody>
          <a:bodyPr lIns="182880" tIns="91440" rIns="182880" bIns="91440"/>
          <a:lstStyle/>
          <a:p>
            <a:endParaRPr lang="ar-DZ"/>
          </a:p>
        </p:txBody>
      </p:sp>
      <p:sp>
        <p:nvSpPr>
          <p:cNvPr id="21" name="AutoShape 23"/>
          <p:cNvSpPr>
            <a:spLocks noChangeArrowheads="1"/>
          </p:cNvSpPr>
          <p:nvPr/>
        </p:nvSpPr>
        <p:spPr bwMode="auto">
          <a:xfrm>
            <a:off x="5143505" y="2857496"/>
            <a:ext cx="214314" cy="2079629"/>
          </a:xfrm>
          <a:prstGeom prst="upArrow">
            <a:avLst>
              <a:gd name="adj1" fmla="val 56944"/>
              <a:gd name="adj2" fmla="val 30829"/>
            </a:avLst>
          </a:prstGeom>
          <a:solidFill>
            <a:srgbClr val="FF9900"/>
          </a:solidFill>
          <a:ln w="9525">
            <a:solidFill>
              <a:srgbClr val="000000"/>
            </a:solidFill>
            <a:miter lim="800000"/>
            <a:headEnd/>
            <a:tailEnd/>
          </a:ln>
        </p:spPr>
        <p:txBody>
          <a:bodyPr lIns="182880" tIns="91440" rIns="182880" bIns="91440"/>
          <a:lstStyle/>
          <a:p>
            <a:endParaRPr lang="ar-DZ"/>
          </a:p>
        </p:txBody>
      </p:sp>
      <p:sp>
        <p:nvSpPr>
          <p:cNvPr id="22" name="AutoShape 24"/>
          <p:cNvSpPr>
            <a:spLocks noChangeArrowheads="1"/>
          </p:cNvSpPr>
          <p:nvPr/>
        </p:nvSpPr>
        <p:spPr bwMode="auto">
          <a:xfrm>
            <a:off x="6400800" y="4038600"/>
            <a:ext cx="685800" cy="641350"/>
          </a:xfrm>
          <a:prstGeom prst="curvedRightArrow">
            <a:avLst>
              <a:gd name="adj1" fmla="val 20000"/>
              <a:gd name="adj2" fmla="val 40000"/>
              <a:gd name="adj3" fmla="val 30594"/>
            </a:avLst>
          </a:prstGeom>
          <a:solidFill>
            <a:schemeClr val="accent1">
              <a:lumMod val="60000"/>
              <a:lumOff val="40000"/>
            </a:schemeClr>
          </a:solidFill>
          <a:ln w="9525">
            <a:solidFill>
              <a:srgbClr val="000000"/>
            </a:solidFill>
            <a:miter lim="800000"/>
            <a:headEnd/>
            <a:tailEnd/>
          </a:ln>
        </p:spPr>
        <p:txBody>
          <a:bodyPr lIns="182880" tIns="91440" rIns="182880" bIns="91440"/>
          <a:lstStyle/>
          <a:p>
            <a:endParaRPr lang="ar-DZ"/>
          </a:p>
        </p:txBody>
      </p:sp>
      <p:sp>
        <p:nvSpPr>
          <p:cNvPr id="23" name="AutoShape 25"/>
          <p:cNvSpPr>
            <a:spLocks noChangeArrowheads="1"/>
          </p:cNvSpPr>
          <p:nvPr/>
        </p:nvSpPr>
        <p:spPr bwMode="auto">
          <a:xfrm>
            <a:off x="8534400" y="2438400"/>
            <a:ext cx="365125" cy="914400"/>
          </a:xfrm>
          <a:prstGeom prst="curvedLeftArrow">
            <a:avLst>
              <a:gd name="adj1" fmla="val 50087"/>
              <a:gd name="adj2" fmla="val 100174"/>
              <a:gd name="adj3" fmla="val 33333"/>
            </a:avLst>
          </a:prstGeom>
          <a:solidFill>
            <a:schemeClr val="accent1">
              <a:lumMod val="60000"/>
              <a:lumOff val="40000"/>
            </a:schemeClr>
          </a:solidFill>
          <a:ln w="9525">
            <a:solidFill>
              <a:srgbClr val="000000"/>
            </a:solidFill>
            <a:miter lim="800000"/>
            <a:headEnd/>
            <a:tailEnd/>
          </a:ln>
        </p:spPr>
        <p:txBody>
          <a:bodyPr lIns="182880" tIns="91440" rIns="182880" bIns="91440"/>
          <a:lstStyle/>
          <a:p>
            <a:endParaRPr lang="ar-DZ"/>
          </a:p>
        </p:txBody>
      </p:sp>
      <p:sp>
        <p:nvSpPr>
          <p:cNvPr id="24" name="Line 26"/>
          <p:cNvSpPr>
            <a:spLocks noChangeShapeType="1"/>
          </p:cNvSpPr>
          <p:nvPr/>
        </p:nvSpPr>
        <p:spPr bwMode="auto">
          <a:xfrm>
            <a:off x="8715404" y="5367358"/>
            <a:ext cx="0" cy="990600"/>
          </a:xfrm>
          <a:prstGeom prst="line">
            <a:avLst/>
          </a:prstGeom>
          <a:noFill/>
          <a:ln w="38100">
            <a:solidFill>
              <a:srgbClr val="FF0000"/>
            </a:solidFill>
            <a:round/>
            <a:headEnd/>
            <a:tailEnd/>
          </a:ln>
        </p:spPr>
        <p:txBody>
          <a:bodyPr lIns="182880" tIns="91440" rIns="182880" bIns="91440"/>
          <a:lstStyle/>
          <a:p>
            <a:endParaRPr lang="fr-FR"/>
          </a:p>
        </p:txBody>
      </p:sp>
      <p:sp>
        <p:nvSpPr>
          <p:cNvPr id="25" name="Line 27"/>
          <p:cNvSpPr>
            <a:spLocks noChangeShapeType="1"/>
          </p:cNvSpPr>
          <p:nvPr/>
        </p:nvSpPr>
        <p:spPr bwMode="auto">
          <a:xfrm flipH="1">
            <a:off x="7929586" y="6324599"/>
            <a:ext cx="785818" cy="45719"/>
          </a:xfrm>
          <a:prstGeom prst="line">
            <a:avLst/>
          </a:prstGeom>
          <a:noFill/>
          <a:ln w="38100">
            <a:solidFill>
              <a:srgbClr val="FF0000"/>
            </a:solidFill>
            <a:round/>
            <a:headEnd/>
            <a:tailEnd type="triangle" w="med" len="med"/>
          </a:ln>
        </p:spPr>
        <p:txBody>
          <a:bodyPr lIns="182880" tIns="91440" rIns="182880" bIns="91440"/>
          <a:lstStyle/>
          <a:p>
            <a:endParaRPr lang="fr-FR"/>
          </a:p>
        </p:txBody>
      </p:sp>
      <p:sp>
        <p:nvSpPr>
          <p:cNvPr id="26" name="Line 28"/>
          <p:cNvSpPr>
            <a:spLocks noChangeShapeType="1"/>
          </p:cNvSpPr>
          <p:nvPr/>
        </p:nvSpPr>
        <p:spPr bwMode="auto">
          <a:xfrm>
            <a:off x="3962400" y="3048000"/>
            <a:ext cx="0" cy="2895600"/>
          </a:xfrm>
          <a:prstGeom prst="line">
            <a:avLst/>
          </a:prstGeom>
          <a:noFill/>
          <a:ln w="38100">
            <a:solidFill>
              <a:srgbClr val="FF0000"/>
            </a:solidFill>
            <a:round/>
            <a:headEnd/>
            <a:tailEnd type="triangle" w="med" len="med"/>
          </a:ln>
        </p:spPr>
        <p:txBody>
          <a:bodyPr lIns="182880" tIns="91440" rIns="182880" bIns="91440"/>
          <a:lstStyle/>
          <a:p>
            <a:endParaRPr lang="fr-FR"/>
          </a:p>
        </p:txBody>
      </p:sp>
      <p:sp>
        <p:nvSpPr>
          <p:cNvPr id="27" name="Text Box 30"/>
          <p:cNvSpPr txBox="1">
            <a:spLocks noChangeArrowheads="1"/>
          </p:cNvSpPr>
          <p:nvPr/>
        </p:nvSpPr>
        <p:spPr bwMode="auto">
          <a:xfrm>
            <a:off x="6248400" y="4429132"/>
            <a:ext cx="1828800" cy="914400"/>
          </a:xfrm>
          <a:prstGeom prst="rect">
            <a:avLst/>
          </a:prstGeom>
          <a:noFill/>
          <a:ln w="9525">
            <a:noFill/>
            <a:miter lim="800000"/>
            <a:headEnd/>
            <a:tailEnd/>
          </a:ln>
        </p:spPr>
        <p:txBody>
          <a:bodyPr lIns="91434" tIns="45718" rIns="91434" bIns="45718"/>
          <a:lstStyle/>
          <a:p>
            <a:pPr algn="ctr" rtl="1"/>
            <a:endParaRPr lang="ar-DZ" sz="1400" b="1" dirty="0" smtClean="0"/>
          </a:p>
          <a:p>
            <a:pPr algn="ctr" rtl="1"/>
            <a:r>
              <a:rPr lang="ar-DZ" sz="2000" b="1" dirty="0" smtClean="0"/>
              <a:t>يقدم استنتاجات</a:t>
            </a:r>
          </a:p>
          <a:p>
            <a:pPr algn="ctr" rtl="1"/>
            <a:r>
              <a:rPr lang="ar-DZ" sz="2000" b="1" dirty="0" smtClean="0"/>
              <a:t>يتحقق من الفرضية</a:t>
            </a:r>
            <a:r>
              <a:rPr lang="en-US" sz="1400" b="1" dirty="0"/>
              <a:t> </a:t>
            </a:r>
            <a:r>
              <a:rPr lang="en-US" sz="1400" b="1" dirty="0" smtClean="0"/>
              <a:t> </a:t>
            </a:r>
            <a:endParaRPr lang="en-US" sz="1400" dirty="0">
              <a:latin typeface="Tahoma" pitchFamily="34" charset="0"/>
              <a:cs typeface="Times New Roman" pitchFamily="18" charset="0"/>
            </a:endParaRPr>
          </a:p>
        </p:txBody>
      </p:sp>
      <p:sp>
        <p:nvSpPr>
          <p:cNvPr id="28" name="Rectangle 31"/>
          <p:cNvSpPr>
            <a:spLocks noChangeArrowheads="1"/>
          </p:cNvSpPr>
          <p:nvPr/>
        </p:nvSpPr>
        <p:spPr bwMode="auto">
          <a:xfrm>
            <a:off x="82550" y="-441325"/>
            <a:ext cx="9144000" cy="615950"/>
          </a:xfrm>
          <a:prstGeom prst="rect">
            <a:avLst/>
          </a:prstGeom>
          <a:noFill/>
          <a:ln w="9525">
            <a:noFill/>
            <a:miter lim="800000"/>
            <a:headEnd/>
            <a:tailEnd/>
          </a:ln>
        </p:spPr>
        <p:txBody>
          <a:bodyPr lIns="91434" tIns="45718" rIns="91434" bIns="45718">
            <a:spAutoFit/>
          </a:bodyPr>
          <a:lstStyle/>
          <a:p>
            <a:r>
              <a:rPr lang="en-US" sz="1000">
                <a:cs typeface="Times New Roman" pitchFamily="18" charset="0"/>
              </a:rPr>
              <a:t> </a:t>
            </a:r>
          </a:p>
          <a:p>
            <a:pPr eaLnBrk="0" hangingPunct="0"/>
            <a:endParaRPr lang="en-US" sz="2400"/>
          </a:p>
        </p:txBody>
      </p:sp>
      <p:sp>
        <p:nvSpPr>
          <p:cNvPr id="29" name="Rectangle 32"/>
          <p:cNvSpPr>
            <a:spLocks noChangeArrowheads="1"/>
          </p:cNvSpPr>
          <p:nvPr/>
        </p:nvSpPr>
        <p:spPr bwMode="auto">
          <a:xfrm>
            <a:off x="82550" y="-441325"/>
            <a:ext cx="9144000" cy="615950"/>
          </a:xfrm>
          <a:prstGeom prst="rect">
            <a:avLst/>
          </a:prstGeom>
          <a:noFill/>
          <a:ln w="9525">
            <a:noFill/>
            <a:miter lim="800000"/>
            <a:headEnd/>
            <a:tailEnd/>
          </a:ln>
        </p:spPr>
        <p:txBody>
          <a:bodyPr lIns="91434" tIns="45718" rIns="91434" bIns="45718">
            <a:spAutoFit/>
          </a:bodyPr>
          <a:lstStyle/>
          <a:p>
            <a:pPr algn="ctr"/>
            <a:r>
              <a:rPr lang="en-US" sz="1000">
                <a:cs typeface="Times New Roman" pitchFamily="18" charset="0"/>
              </a:rPr>
              <a:t> </a:t>
            </a:r>
          </a:p>
          <a:p>
            <a:pPr eaLnBrk="0" hangingPunct="0"/>
            <a:endParaRPr lang="en-US" sz="2400"/>
          </a:p>
        </p:txBody>
      </p:sp>
      <p:sp>
        <p:nvSpPr>
          <p:cNvPr id="30" name="Text Box 33"/>
          <p:cNvSpPr txBox="1">
            <a:spLocks noChangeArrowheads="1"/>
          </p:cNvSpPr>
          <p:nvPr/>
        </p:nvSpPr>
        <p:spPr bwMode="auto">
          <a:xfrm>
            <a:off x="152400" y="152400"/>
            <a:ext cx="2347898" cy="400105"/>
          </a:xfrm>
          <a:prstGeom prst="rect">
            <a:avLst/>
          </a:prstGeom>
          <a:solidFill>
            <a:schemeClr val="tx2">
              <a:lumMod val="20000"/>
              <a:lumOff val="80000"/>
            </a:schemeClr>
          </a:solidFill>
          <a:ln w="9525">
            <a:noFill/>
            <a:miter lim="800000"/>
            <a:headEnd/>
            <a:tailEnd/>
          </a:ln>
          <a:effectLst/>
        </p:spPr>
        <p:txBody>
          <a:bodyPr wrap="square" lIns="91434" tIns="45718" rIns="91434" bIns="45718">
            <a:spAutoFit/>
          </a:bodyPr>
          <a:lstStyle/>
          <a:p>
            <a:pPr>
              <a:spcBef>
                <a:spcPct val="50000"/>
              </a:spcBef>
              <a:defRPr/>
            </a:pPr>
            <a:r>
              <a:rPr lang="ar-DZ" sz="2000" b="1" dirty="0" smtClean="0">
                <a:solidFill>
                  <a:srgbClr val="FF0000"/>
                </a:solidFill>
                <a:effectLst>
                  <a:outerShdw blurRad="38100" dist="38100" dir="2700000" algn="tl">
                    <a:srgbClr val="000000"/>
                  </a:outerShdw>
                </a:effectLst>
                <a:latin typeface="Arial" pitchFamily="34" charset="0"/>
                <a:cs typeface="Arial" pitchFamily="34" charset="0"/>
              </a:rPr>
              <a:t>حل وضعية </a:t>
            </a:r>
            <a:r>
              <a:rPr lang="ar-DZ" sz="2000" b="1" dirty="0" err="1" smtClean="0">
                <a:solidFill>
                  <a:srgbClr val="FF0000"/>
                </a:solidFill>
                <a:effectLst>
                  <a:outerShdw blurRad="38100" dist="38100" dir="2700000" algn="tl">
                    <a:srgbClr val="000000"/>
                  </a:outerShdw>
                </a:effectLst>
                <a:latin typeface="Arial" pitchFamily="34" charset="0"/>
                <a:cs typeface="Arial" pitchFamily="34" charset="0"/>
              </a:rPr>
              <a:t>ـ</a:t>
            </a:r>
            <a:r>
              <a:rPr lang="ar-DZ" sz="2000" b="1" dirty="0" smtClean="0">
                <a:solidFill>
                  <a:srgbClr val="FF0000"/>
                </a:solidFill>
                <a:effectLst>
                  <a:outerShdw blurRad="38100" dist="38100" dir="2700000" algn="tl">
                    <a:srgbClr val="000000"/>
                  </a:outerShdw>
                </a:effectLst>
                <a:latin typeface="Arial" pitchFamily="34" charset="0"/>
                <a:cs typeface="Arial" pitchFamily="34" charset="0"/>
              </a:rPr>
              <a:t>  مشكلة</a:t>
            </a:r>
            <a:endParaRPr lang="fr-FR" sz="2000" b="1" dirty="0">
              <a:solidFill>
                <a:srgbClr val="FF0000"/>
              </a:solidFill>
              <a:effectLst>
                <a:outerShdw blurRad="38100" dist="38100" dir="2700000" algn="tl">
                  <a:srgbClr val="000000"/>
                </a:outerShdw>
              </a:effectLst>
              <a:latin typeface="Arial" pitchFamily="34" charset="0"/>
              <a:cs typeface="Arial" pitchFamily="34" charset="0"/>
            </a:endParaRPr>
          </a:p>
        </p:txBody>
      </p:sp>
      <p:sp>
        <p:nvSpPr>
          <p:cNvPr id="31" name="Text Box 39"/>
          <p:cNvSpPr txBox="1">
            <a:spLocks noChangeArrowheads="1"/>
          </p:cNvSpPr>
          <p:nvPr/>
        </p:nvSpPr>
        <p:spPr bwMode="auto">
          <a:xfrm>
            <a:off x="1524000" y="914400"/>
            <a:ext cx="1524000" cy="609600"/>
          </a:xfrm>
          <a:prstGeom prst="rect">
            <a:avLst/>
          </a:prstGeom>
          <a:solidFill>
            <a:schemeClr val="tx2">
              <a:lumMod val="60000"/>
              <a:lumOff val="40000"/>
            </a:schemeClr>
          </a:solidFill>
          <a:ln w="9525">
            <a:solidFill>
              <a:schemeClr val="tx2"/>
            </a:solidFill>
            <a:miter lim="800000"/>
            <a:headEnd/>
            <a:tailEnd/>
          </a:ln>
        </p:spPr>
        <p:txBody>
          <a:bodyPr lIns="91434" tIns="45718" rIns="91434" bIns="45718"/>
          <a:lstStyle/>
          <a:p>
            <a:pPr algn="ctr"/>
            <a:r>
              <a:rPr lang="ar-DZ" sz="2400" b="1" dirty="0" smtClean="0"/>
              <a:t>يقترح فرضية</a:t>
            </a:r>
            <a:endParaRPr lang="en-US" sz="2400" b="1" dirty="0"/>
          </a:p>
        </p:txBody>
      </p:sp>
      <p:sp>
        <p:nvSpPr>
          <p:cNvPr id="32" name="Text Box 40"/>
          <p:cNvSpPr txBox="1">
            <a:spLocks noChangeArrowheads="1"/>
          </p:cNvSpPr>
          <p:nvPr/>
        </p:nvSpPr>
        <p:spPr bwMode="auto">
          <a:xfrm>
            <a:off x="3200400" y="1612900"/>
            <a:ext cx="1524000" cy="457200"/>
          </a:xfrm>
          <a:prstGeom prst="rect">
            <a:avLst/>
          </a:prstGeom>
          <a:solidFill>
            <a:schemeClr val="tx2">
              <a:lumMod val="60000"/>
              <a:lumOff val="40000"/>
            </a:schemeClr>
          </a:solidFill>
          <a:ln w="9525">
            <a:solidFill>
              <a:schemeClr val="tx2"/>
            </a:solidFill>
            <a:miter lim="800000"/>
            <a:headEnd/>
            <a:tailEnd/>
          </a:ln>
        </p:spPr>
        <p:txBody>
          <a:bodyPr lIns="91434" tIns="45718" rIns="91434" bIns="45718"/>
          <a:lstStyle/>
          <a:p>
            <a:pPr algn="ctr"/>
            <a:r>
              <a:rPr lang="ar-DZ" sz="2000" b="1" dirty="0" smtClean="0"/>
              <a:t>يقترح فرضية</a:t>
            </a:r>
            <a:endParaRPr lang="en-US" sz="2000" b="1" dirty="0"/>
          </a:p>
        </p:txBody>
      </p:sp>
      <p:sp>
        <p:nvSpPr>
          <p:cNvPr id="33" name="Text Box 40"/>
          <p:cNvSpPr txBox="1">
            <a:spLocks noChangeArrowheads="1"/>
          </p:cNvSpPr>
          <p:nvPr/>
        </p:nvSpPr>
        <p:spPr bwMode="auto">
          <a:xfrm>
            <a:off x="5143504" y="2285992"/>
            <a:ext cx="1357322" cy="457200"/>
          </a:xfrm>
          <a:prstGeom prst="rect">
            <a:avLst/>
          </a:prstGeom>
          <a:solidFill>
            <a:schemeClr val="tx2">
              <a:lumMod val="60000"/>
              <a:lumOff val="40000"/>
            </a:schemeClr>
          </a:solidFill>
          <a:ln w="9525">
            <a:solidFill>
              <a:schemeClr val="tx2"/>
            </a:solidFill>
            <a:miter lim="800000"/>
            <a:headEnd/>
            <a:tailEnd/>
          </a:ln>
        </p:spPr>
        <p:txBody>
          <a:bodyPr lIns="91434" tIns="45718" rIns="91434" bIns="45718"/>
          <a:lstStyle/>
          <a:p>
            <a:pPr algn="ctr"/>
            <a:r>
              <a:rPr lang="ar-DZ" sz="2000" b="1" dirty="0" smtClean="0"/>
              <a:t>يقترح فرضية</a:t>
            </a:r>
            <a:endParaRPr lang="en-US" sz="2000" b="1" dirty="0"/>
          </a:p>
        </p:txBody>
      </p:sp>
      <p:sp>
        <p:nvSpPr>
          <p:cNvPr id="34" name="Rectangle 33"/>
          <p:cNvSpPr/>
          <p:nvPr/>
        </p:nvSpPr>
        <p:spPr>
          <a:xfrm>
            <a:off x="4572000" y="5143512"/>
            <a:ext cx="1500198" cy="707886"/>
          </a:xfrm>
          <a:prstGeom prst="rect">
            <a:avLst/>
          </a:prstGeom>
          <a:solidFill>
            <a:srgbClr val="FFFF00"/>
          </a:solidFill>
          <a:ln>
            <a:solidFill>
              <a:schemeClr val="tx1"/>
            </a:solidFill>
          </a:ln>
        </p:spPr>
        <p:txBody>
          <a:bodyPr wrap="square">
            <a:spAutoFit/>
          </a:bodyPr>
          <a:lstStyle/>
          <a:p>
            <a:pPr algn="ctr" rtl="1"/>
            <a:r>
              <a:rPr lang="ar-DZ" sz="2000" b="1" dirty="0" smtClean="0"/>
              <a:t>4ـ يتحقق من...</a:t>
            </a:r>
            <a:endParaRPr lang="fr-FR" sz="2000" b="1" dirty="0" smtClean="0"/>
          </a:p>
          <a:p>
            <a:pPr algn="ctr" rtl="1"/>
            <a:r>
              <a:rPr lang="fr-FR" sz="2000" dirty="0" smtClean="0"/>
              <a:t>valider</a:t>
            </a:r>
            <a:endParaRPr lang="fr-FR" sz="2000" dirty="0"/>
          </a:p>
        </p:txBody>
      </p:sp>
      <p:sp>
        <p:nvSpPr>
          <p:cNvPr id="35" name="Rectangle 34"/>
          <p:cNvSpPr/>
          <p:nvPr/>
        </p:nvSpPr>
        <p:spPr>
          <a:xfrm>
            <a:off x="2571752" y="3059668"/>
            <a:ext cx="2357438" cy="738664"/>
          </a:xfrm>
          <a:prstGeom prst="rect">
            <a:avLst/>
          </a:prstGeom>
          <a:solidFill>
            <a:schemeClr val="tx2">
              <a:lumMod val="75000"/>
            </a:schemeClr>
          </a:solidFill>
        </p:spPr>
        <p:txBody>
          <a:bodyPr wrap="square">
            <a:spAutoFit/>
          </a:bodyPr>
          <a:lstStyle/>
          <a:p>
            <a:pPr algn="ctr" rtl="1"/>
            <a:r>
              <a:rPr lang="ar-DZ" sz="2400" b="1" dirty="0" smtClean="0">
                <a:solidFill>
                  <a:schemeClr val="bg1"/>
                </a:solidFill>
              </a:rPr>
              <a:t>2ـ يحلل، يستدل</a:t>
            </a:r>
            <a:endParaRPr lang="fr-FR" sz="2400" b="1" dirty="0" smtClean="0">
              <a:solidFill>
                <a:schemeClr val="bg1"/>
              </a:solidFill>
            </a:endParaRPr>
          </a:p>
          <a:p>
            <a:pPr algn="ctr" rtl="1"/>
            <a:r>
              <a:rPr lang="fr-FR" dirty="0" smtClean="0">
                <a:solidFill>
                  <a:schemeClr val="bg1"/>
                </a:solidFill>
              </a:rPr>
              <a:t>Analyser, raisonner</a:t>
            </a:r>
            <a:endParaRPr lang="fr-FR" dirty="0">
              <a:solidFill>
                <a:schemeClr val="bg1"/>
              </a:solidFill>
            </a:endParaRPr>
          </a:p>
        </p:txBody>
      </p:sp>
      <p:sp>
        <p:nvSpPr>
          <p:cNvPr id="36" name="Rectangle 35"/>
          <p:cNvSpPr/>
          <p:nvPr/>
        </p:nvSpPr>
        <p:spPr>
          <a:xfrm>
            <a:off x="5715008" y="500042"/>
            <a:ext cx="1785934" cy="584775"/>
          </a:xfrm>
          <a:prstGeom prst="rect">
            <a:avLst/>
          </a:prstGeom>
          <a:solidFill>
            <a:schemeClr val="accent2">
              <a:lumMod val="75000"/>
            </a:schemeClr>
          </a:solidFill>
        </p:spPr>
        <p:txBody>
          <a:bodyPr wrap="square">
            <a:spAutoFit/>
          </a:bodyPr>
          <a:lstStyle/>
          <a:p>
            <a:pPr algn="ctr" rtl="1"/>
            <a:r>
              <a:rPr lang="ar-DZ" b="1" dirty="0" smtClean="0">
                <a:solidFill>
                  <a:schemeClr val="bg1"/>
                </a:solidFill>
              </a:rPr>
              <a:t>1ـ يتملك المشكل</a:t>
            </a:r>
          </a:p>
          <a:p>
            <a:pPr algn="ctr" rtl="1"/>
            <a:r>
              <a:rPr lang="fr-FR" sz="1400" dirty="0" smtClean="0">
                <a:solidFill>
                  <a:schemeClr val="bg1"/>
                </a:solidFill>
              </a:rPr>
              <a:t>S’approprier</a:t>
            </a:r>
            <a:endParaRPr lang="fr-FR" dirty="0">
              <a:solidFill>
                <a:schemeClr val="bg1"/>
              </a:solidFill>
            </a:endParaRPr>
          </a:p>
        </p:txBody>
      </p:sp>
      <p:sp>
        <p:nvSpPr>
          <p:cNvPr id="37" name="Rectangle 36"/>
          <p:cNvSpPr/>
          <p:nvPr/>
        </p:nvSpPr>
        <p:spPr>
          <a:xfrm>
            <a:off x="5429256" y="3261840"/>
            <a:ext cx="1357322" cy="738664"/>
          </a:xfrm>
          <a:prstGeom prst="rect">
            <a:avLst/>
          </a:prstGeom>
          <a:solidFill>
            <a:schemeClr val="bg2">
              <a:lumMod val="25000"/>
            </a:schemeClr>
          </a:solidFill>
        </p:spPr>
        <p:txBody>
          <a:bodyPr wrap="square">
            <a:spAutoFit/>
          </a:bodyPr>
          <a:lstStyle/>
          <a:p>
            <a:pPr algn="ctr" rtl="1"/>
            <a:r>
              <a:rPr lang="ar-DZ" sz="2400" b="1" dirty="0" smtClean="0">
                <a:solidFill>
                  <a:schemeClr val="bg1"/>
                </a:solidFill>
              </a:rPr>
              <a:t>3ـ ينجز</a:t>
            </a:r>
            <a:endParaRPr lang="fr-FR" sz="2400" b="1" dirty="0" smtClean="0">
              <a:solidFill>
                <a:schemeClr val="bg1"/>
              </a:solidFill>
            </a:endParaRPr>
          </a:p>
          <a:p>
            <a:pPr algn="ctr" rtl="1"/>
            <a:r>
              <a:rPr lang="fr-FR" dirty="0" smtClean="0">
                <a:solidFill>
                  <a:schemeClr val="bg1"/>
                </a:solidFill>
              </a:rPr>
              <a:t>réaliser</a:t>
            </a:r>
            <a:endParaRPr lang="fr-FR" dirty="0">
              <a:solidFill>
                <a:schemeClr val="bg1"/>
              </a:solidFill>
            </a:endParaRPr>
          </a:p>
        </p:txBody>
      </p:sp>
      <p:sp>
        <p:nvSpPr>
          <p:cNvPr id="38" name="Rectangle 37"/>
          <p:cNvSpPr/>
          <p:nvPr/>
        </p:nvSpPr>
        <p:spPr>
          <a:xfrm>
            <a:off x="6429388" y="6143644"/>
            <a:ext cx="1500182" cy="738664"/>
          </a:xfrm>
          <a:prstGeom prst="rect">
            <a:avLst/>
          </a:prstGeom>
          <a:solidFill>
            <a:srgbClr val="CC6600"/>
          </a:solidFill>
          <a:ln>
            <a:solidFill>
              <a:schemeClr val="tx1"/>
            </a:solidFill>
          </a:ln>
        </p:spPr>
        <p:txBody>
          <a:bodyPr wrap="square">
            <a:spAutoFit/>
          </a:bodyPr>
          <a:lstStyle/>
          <a:p>
            <a:pPr algn="ctr" rtl="1"/>
            <a:r>
              <a:rPr lang="ar-DZ" sz="2400" b="1" dirty="0" smtClean="0"/>
              <a:t>5ـ يبلغ</a:t>
            </a:r>
            <a:endParaRPr lang="fr-FR" sz="2400" b="1" dirty="0" smtClean="0"/>
          </a:p>
          <a:p>
            <a:pPr algn="ctr" rtl="1"/>
            <a:r>
              <a:rPr lang="fr-FR" dirty="0" smtClean="0"/>
              <a:t>communiquer</a:t>
            </a:r>
            <a:endParaRPr lang="fr-FR" dirty="0"/>
          </a:p>
        </p:txBody>
      </p:sp>
      <p:sp>
        <p:nvSpPr>
          <p:cNvPr id="39" name="Text Box 4"/>
          <p:cNvSpPr txBox="1">
            <a:spLocks noChangeArrowheads="1"/>
          </p:cNvSpPr>
          <p:nvPr/>
        </p:nvSpPr>
        <p:spPr bwMode="auto">
          <a:xfrm>
            <a:off x="214282" y="2500306"/>
            <a:ext cx="2214610" cy="2571768"/>
          </a:xfrm>
          <a:prstGeom prst="rect">
            <a:avLst/>
          </a:prstGeom>
          <a:solidFill>
            <a:schemeClr val="accent4">
              <a:lumMod val="40000"/>
              <a:lumOff val="60000"/>
              <a:alpha val="50195"/>
            </a:schemeClr>
          </a:solidFill>
          <a:ln w="9525">
            <a:solidFill>
              <a:srgbClr val="000000"/>
            </a:solidFill>
            <a:miter lim="800000"/>
            <a:headEnd/>
            <a:tailEnd/>
          </a:ln>
        </p:spPr>
        <p:txBody>
          <a:bodyPr lIns="91434" tIns="45718" rIns="91434" bIns="45718"/>
          <a:lstStyle/>
          <a:p>
            <a:pPr algn="ctr" rtl="1"/>
            <a:r>
              <a:rPr lang="ar-DZ" sz="2000" b="1" dirty="0" smtClean="0"/>
              <a:t>يبحث باستعمال موارده المعرفية والمنهجية تطبيق تقنيات:</a:t>
            </a:r>
          </a:p>
          <a:p>
            <a:pPr algn="ctr" rtl="1"/>
            <a:r>
              <a:rPr lang="ar-DZ" sz="2000" b="1" dirty="0" smtClean="0"/>
              <a:t>البحث يتم باستعمال تقنيات الملاحظة؛ البحث بالتوثيق؛ البحث بالتجريب، البحث بالنمذجة .</a:t>
            </a:r>
            <a:endParaRPr lang="en-US" sz="2000" dirty="0"/>
          </a:p>
        </p:txBody>
      </p:sp>
      <p:sp>
        <p:nvSpPr>
          <p:cNvPr id="40" name="Line 19"/>
          <p:cNvSpPr>
            <a:spLocks noChangeShapeType="1"/>
          </p:cNvSpPr>
          <p:nvPr/>
        </p:nvSpPr>
        <p:spPr bwMode="auto">
          <a:xfrm>
            <a:off x="1371600" y="1193800"/>
            <a:ext cx="0" cy="1219200"/>
          </a:xfrm>
          <a:prstGeom prst="line">
            <a:avLst/>
          </a:prstGeom>
          <a:noFill/>
          <a:ln w="38100">
            <a:solidFill>
              <a:srgbClr val="FF0000"/>
            </a:solidFill>
            <a:round/>
            <a:headEnd/>
            <a:tailEnd type="triangle" w="med" len="med"/>
          </a:ln>
        </p:spPr>
        <p:txBody>
          <a:bodyPr lIns="182880" tIns="91440" rIns="182880" bIns="91440"/>
          <a:lstStyle/>
          <a:p>
            <a:endParaRPr lang="fr-FR">
              <a:solidFill>
                <a:schemeClr val="bg1"/>
              </a:solidFill>
            </a:endParaRPr>
          </a:p>
        </p:txBody>
      </p:sp>
      <p:sp>
        <p:nvSpPr>
          <p:cNvPr id="41" name="Line 16"/>
          <p:cNvSpPr>
            <a:spLocks noChangeShapeType="1"/>
          </p:cNvSpPr>
          <p:nvPr/>
        </p:nvSpPr>
        <p:spPr bwMode="auto">
          <a:xfrm>
            <a:off x="1357290" y="5205429"/>
            <a:ext cx="0" cy="581025"/>
          </a:xfrm>
          <a:prstGeom prst="line">
            <a:avLst/>
          </a:prstGeom>
          <a:noFill/>
          <a:ln w="38100">
            <a:solidFill>
              <a:srgbClr val="FF0000"/>
            </a:solidFill>
            <a:round/>
            <a:headEnd/>
            <a:tailEnd type="triangle" w="med" len="med"/>
          </a:ln>
        </p:spPr>
        <p:txBody>
          <a:bodyPr lIns="182880" tIns="91440" rIns="182880" bIns="91440"/>
          <a:lstStyle/>
          <a:p>
            <a:endParaRPr lang="fr-FR"/>
          </a:p>
        </p:txBody>
      </p:sp>
      <p:sp>
        <p:nvSpPr>
          <p:cNvPr id="42" name="Rectangle 41"/>
          <p:cNvSpPr/>
          <p:nvPr/>
        </p:nvSpPr>
        <p:spPr>
          <a:xfrm>
            <a:off x="0" y="0"/>
            <a:ext cx="9144000" cy="685800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Espace réservé du numéro de diapositive 42"/>
          <p:cNvSpPr>
            <a:spLocks noGrp="1"/>
          </p:cNvSpPr>
          <p:nvPr>
            <p:ph type="sldNum" sz="quarter" idx="12"/>
          </p:nvPr>
        </p:nvSpPr>
        <p:spPr/>
        <p:txBody>
          <a:bodyPr/>
          <a:lstStyle/>
          <a:p>
            <a:fld id="{0BFA6C5E-AA5E-44D9-98D8-E3BF1AB628E5}" type="slidenum">
              <a:rPr lang="fr-FR" smtClean="0"/>
              <a:pPr/>
              <a:t>18</a:t>
            </a:fld>
            <a:endParaRPr lang="fr-F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F1ADCE63-D908-4E29-8171-0733BF242D9D}" type="slidenum">
              <a:rPr lang="fr-FR" smtClean="0"/>
              <a:pPr/>
              <a:t>19</a:t>
            </a:fld>
            <a:endParaRPr lang="fr-FR"/>
          </a:p>
        </p:txBody>
      </p:sp>
      <p:sp>
        <p:nvSpPr>
          <p:cNvPr id="5" name="Égal 4"/>
          <p:cNvSpPr/>
          <p:nvPr/>
        </p:nvSpPr>
        <p:spPr>
          <a:xfrm rot="16200000">
            <a:off x="4339829" y="2661041"/>
            <a:ext cx="8143932" cy="1107289"/>
          </a:xfrm>
          <a:prstGeom prst="mathEqual">
            <a:avLst>
              <a:gd name="adj1" fmla="val 23520"/>
              <a:gd name="adj2" fmla="val 925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pic>
        <p:nvPicPr>
          <p:cNvPr id="71682" name="Picture 2" descr="http://www4.0zz0.com/2011/07/13/17/677983428.gif"/>
          <p:cNvPicPr>
            <a:picLocks noChangeAspect="1" noChangeArrowheads="1" noCrop="1"/>
          </p:cNvPicPr>
          <p:nvPr/>
        </p:nvPicPr>
        <p:blipFill>
          <a:blip r:embed="rId2"/>
          <a:srcRect/>
          <a:stretch>
            <a:fillRect/>
          </a:stretch>
        </p:blipFill>
        <p:spPr bwMode="auto">
          <a:xfrm>
            <a:off x="1000100" y="1285860"/>
            <a:ext cx="5715000" cy="3810000"/>
          </a:xfrm>
          <a:prstGeom prst="rect">
            <a:avLst/>
          </a:prstGeom>
          <a:noFill/>
        </p:spPr>
      </p:pic>
      <p:sp>
        <p:nvSpPr>
          <p:cNvPr id="7" name="Ellipse 6"/>
          <p:cNvSpPr/>
          <p:nvPr/>
        </p:nvSpPr>
        <p:spPr>
          <a:xfrm>
            <a:off x="331912" y="5546419"/>
            <a:ext cx="3888432" cy="1056769"/>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rtl="1"/>
            <a:r>
              <a:rPr lang="ar-DZ" sz="2000" b="1" dirty="0">
                <a:latin typeface="Times New Roman" panose="02020603050405020304" pitchFamily="18" charset="0"/>
                <a:cs typeface="Times New Roman" panose="02020603050405020304" pitchFamily="18" charset="0"/>
              </a:rPr>
              <a:t>مفتش التربية الوطنية لمادة علوم الطبيعة و الحياة</a:t>
            </a:r>
          </a:p>
          <a:p>
            <a:pPr algn="ctr" rtl="1"/>
            <a:r>
              <a:rPr lang="ar-DZ" sz="2000" b="1" dirty="0">
                <a:latin typeface="Times New Roman" panose="02020603050405020304" pitchFamily="18" charset="0"/>
                <a:cs typeface="Times New Roman" panose="02020603050405020304" pitchFamily="18" charset="0"/>
              </a:rPr>
              <a:t> هني محمد بن عبد الرحمن</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1941</TotalTime>
  <Words>990</Words>
  <Application>Microsoft Office PowerPoint</Application>
  <PresentationFormat>Affichage à l'écran (4:3)</PresentationFormat>
  <Paragraphs>190</Paragraphs>
  <Slides>19</Slides>
  <Notes>0</Notes>
  <HiddenSlides>0</HiddenSlides>
  <MMClips>0</MMClips>
  <ScaleCrop>false</ScaleCrop>
  <HeadingPairs>
    <vt:vector size="4" baseType="variant">
      <vt:variant>
        <vt:lpstr>Thème</vt:lpstr>
      </vt:variant>
      <vt:variant>
        <vt:i4>1</vt:i4>
      </vt:variant>
      <vt:variant>
        <vt:lpstr>Titres des diapositives</vt:lpstr>
      </vt:variant>
      <vt:variant>
        <vt:i4>19</vt:i4>
      </vt:variant>
    </vt:vector>
  </HeadingPairs>
  <TitlesOfParts>
    <vt:vector size="20" baseType="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PC</dc:creator>
  <cp:lastModifiedBy>ASUS</cp:lastModifiedBy>
  <cp:revision>37</cp:revision>
  <cp:lastPrinted>2020-02-24T08:32:07Z</cp:lastPrinted>
  <dcterms:created xsi:type="dcterms:W3CDTF">2018-10-05T08:01:58Z</dcterms:created>
  <dcterms:modified xsi:type="dcterms:W3CDTF">2026-02-03T18:55:25Z</dcterms:modified>
</cp:coreProperties>
</file>