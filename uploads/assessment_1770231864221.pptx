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63" r:id="rId3"/>
    <p:sldId id="257" r:id="rId4"/>
    <p:sldId id="258" r:id="rId5"/>
    <p:sldId id="464" r:id="rId6"/>
    <p:sldId id="377" r:id="rId7"/>
    <p:sldId id="271" r:id="rId8"/>
    <p:sldId id="421" r:id="rId9"/>
    <p:sldId id="422" r:id="rId10"/>
    <p:sldId id="423" r:id="rId11"/>
    <p:sldId id="345" r:id="rId12"/>
    <p:sldId id="402" r:id="rId13"/>
    <p:sldId id="430" r:id="rId14"/>
    <p:sldId id="431" r:id="rId15"/>
    <p:sldId id="465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00CC66"/>
    <a:srgbClr val="82302E"/>
    <a:srgbClr val="CC6600"/>
    <a:srgbClr val="AFDC7E"/>
    <a:srgbClr val="FF9900"/>
    <a:srgbClr val="FFCC00"/>
    <a:srgbClr val="FFFF99"/>
    <a:srgbClr val="C6E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C0BC1-EAF2-4E3C-8520-6C445AA01803}" type="datetimeFigureOut">
              <a:rPr lang="fr-FR" smtClean="0"/>
              <a:pPr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42766-E30E-4DFE-9546-0A0937B9DBA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85720" y="285728"/>
            <a:ext cx="80010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/>
              <a:t>الجمهورية الجزائرية الديمقراطية الشعبية</a:t>
            </a:r>
          </a:p>
          <a:p>
            <a:pPr algn="ctr" rtl="1"/>
            <a:r>
              <a:rPr lang="ar-DZ" sz="3200" b="1" dirty="0" smtClean="0"/>
              <a:t>وزارة التربية الوطنية</a:t>
            </a:r>
            <a:endParaRPr lang="fr-FR" sz="3200" b="1" dirty="0" smtClean="0"/>
          </a:p>
          <a:p>
            <a:pPr algn="ctr" rtl="1"/>
            <a:r>
              <a:rPr lang="ar-DZ" sz="3200" b="1" dirty="0" smtClean="0"/>
              <a:t>المفتشية العامة للتربية الوطنية</a:t>
            </a:r>
          </a:p>
        </p:txBody>
      </p:sp>
      <p:sp>
        <p:nvSpPr>
          <p:cNvPr id="4" name="Organigramme : Multidocument 3"/>
          <p:cNvSpPr/>
          <p:nvPr/>
        </p:nvSpPr>
        <p:spPr>
          <a:xfrm>
            <a:off x="142844" y="214290"/>
            <a:ext cx="1143008" cy="2000264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b="1" dirty="0" smtClean="0"/>
              <a:t>علوم الطبيعة والحياة</a:t>
            </a:r>
            <a:endParaRPr lang="ar-SA" b="1" dirty="0"/>
          </a:p>
        </p:txBody>
      </p:sp>
      <p:pic>
        <p:nvPicPr>
          <p:cNvPr id="5" name="Picture 2" descr="G:\IMAGES ET GIFS\758705algerie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43834" y="285728"/>
            <a:ext cx="785818" cy="785818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2285984" y="3929066"/>
            <a:ext cx="4572032" cy="4924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ar-DZ" sz="2600" b="1" dirty="0" smtClean="0">
                <a:latin typeface="ae_AlMothnna" pitchFamily="34" charset="-78"/>
              </a:rPr>
              <a:t>بناء أدوات التقويم</a:t>
            </a:r>
            <a:r>
              <a:rPr lang="ar-DZ" sz="2600" b="1" dirty="0" smtClean="0">
                <a:latin typeface="ae_AlMothnna" pitchFamily="34" charset="-78"/>
                <a:cs typeface="ae_AlMothnna" pitchFamily="34" charset="-78"/>
              </a:rPr>
              <a:t> </a:t>
            </a:r>
            <a:r>
              <a:rPr lang="ar-DZ" sz="2600" b="1" dirty="0" smtClean="0">
                <a:latin typeface="ae_AlMothnna" pitchFamily="34" charset="-78"/>
              </a:rPr>
              <a:t>وفق المهمات المركبة</a:t>
            </a:r>
            <a:r>
              <a:rPr lang="ar-DZ" sz="2600" b="1" dirty="0" smtClean="0">
                <a:latin typeface="ae_AlMothnna" pitchFamily="34" charset="-78"/>
                <a:cs typeface="ae_AlMothnna" pitchFamily="34" charset="-78"/>
              </a:rPr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928934"/>
            <a:ext cx="117810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à coins arrondis 8"/>
          <p:cNvSpPr/>
          <p:nvPr/>
        </p:nvSpPr>
        <p:spPr>
          <a:xfrm>
            <a:off x="2285984" y="2214554"/>
            <a:ext cx="4878304" cy="13573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يوم تكويني لأساتذة مادة علوم الطبيعة والحياة</a:t>
            </a:r>
          </a:p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ثانوية</a:t>
            </a:r>
            <a:r>
              <a:rPr lang="fr-FR" sz="2400" b="1" dirty="0" smtClean="0">
                <a:solidFill>
                  <a:schemeClr val="tx1"/>
                </a:solidFill>
              </a:rPr>
              <a:t> </a:t>
            </a:r>
            <a:r>
              <a:rPr lang="ar-DZ" sz="2400" b="1" dirty="0">
                <a:solidFill>
                  <a:schemeClr val="tx1"/>
                </a:solidFill>
              </a:rPr>
              <a:t> </a:t>
            </a:r>
            <a:r>
              <a:rPr lang="ar-DZ" sz="2400" b="1" smtClean="0">
                <a:solidFill>
                  <a:schemeClr val="tx1"/>
                </a:solidFill>
              </a:rPr>
              <a:t>شارع الشهداء/ </a:t>
            </a:r>
            <a:r>
              <a:rPr lang="ar-DZ" sz="2400" b="1" dirty="0" smtClean="0">
                <a:solidFill>
                  <a:schemeClr val="tx1"/>
                </a:solidFill>
              </a:rPr>
              <a:t>واد رهيو</a:t>
            </a:r>
          </a:p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04 فيفري 2026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928794" y="2143116"/>
            <a:ext cx="48577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الكفاءة المهنية المستهدفة بالتكوين:</a:t>
            </a:r>
          </a:p>
          <a:p>
            <a:pPr algn="ctr" rtl="1"/>
            <a:r>
              <a:rPr lang="ar-DZ" sz="2800" b="1" dirty="0" smtClean="0"/>
              <a:t>التحكم في بناء أدوات التقويم </a:t>
            </a:r>
          </a:p>
          <a:p>
            <a:pPr algn="ctr" rtl="1"/>
            <a:r>
              <a:rPr lang="ar-DZ" sz="2800" b="1" dirty="0" smtClean="0"/>
              <a:t>ـ المهمات المركبة</a:t>
            </a:r>
          </a:p>
          <a:p>
            <a:pPr algn="ctr" rtl="1"/>
            <a:r>
              <a:rPr lang="ar-DZ" sz="2800" b="1" dirty="0" smtClean="0"/>
              <a:t>ـ التعليمات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85786" y="1214422"/>
            <a:ext cx="707236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كثيرا ما نستعمل كلمات : مراقبة، فرض، اختبار، إجازات، عقوبات... كانت تترجم بعلامات ورتب.</a:t>
            </a:r>
          </a:p>
          <a:p>
            <a:pPr algn="ctr" rtl="1"/>
            <a:endParaRPr lang="ar-DZ" sz="2400" b="1" dirty="0" smtClean="0"/>
          </a:p>
          <a:p>
            <a:pPr algn="ctr" rtl="1"/>
            <a:r>
              <a:rPr lang="ar-DZ" sz="2400" b="1" dirty="0" smtClean="0"/>
              <a:t>كما نتحدث عن التقويم البيداغوجي ونجتهد كثيرا في ضبط المفهوم.</a:t>
            </a:r>
          </a:p>
          <a:p>
            <a:pPr algn="ctr" rtl="1"/>
            <a:endParaRPr lang="ar-DZ" sz="2400" b="1" dirty="0" smtClean="0"/>
          </a:p>
          <a:p>
            <a:pPr algn="ctr" rtl="1"/>
            <a:r>
              <a:rPr lang="ar-DZ" sz="2400" b="1" dirty="0" smtClean="0"/>
              <a:t>غير أن الواقع داخل الأقسام يبقى دون الطموح المرغوب.</a:t>
            </a:r>
          </a:p>
          <a:p>
            <a:pPr algn="ctr" rtl="1"/>
            <a:r>
              <a:rPr lang="ar-DZ" sz="2400" b="1" dirty="0" smtClean="0"/>
              <a:t>لا شيء تغير في العمق، </a:t>
            </a:r>
          </a:p>
          <a:p>
            <a:pPr algn="ctr" rtl="1"/>
            <a:r>
              <a:rPr lang="ar-DZ" sz="2400" b="1" dirty="0" smtClean="0"/>
              <a:t>تتغير الكلمات...</a:t>
            </a:r>
          </a:p>
          <a:p>
            <a:pPr algn="ctr" rtl="1"/>
            <a:r>
              <a:rPr lang="ar-DZ" sz="2400" b="1" dirty="0" smtClean="0"/>
              <a:t>تبقى الممارسات على حالها...</a:t>
            </a:r>
          </a:p>
          <a:p>
            <a:pPr algn="ctr" rtl="1"/>
            <a:r>
              <a:rPr lang="ar-DZ" sz="2400" b="1" dirty="0" smtClean="0"/>
              <a:t> </a:t>
            </a:r>
          </a:p>
          <a:p>
            <a:pPr algn="ctr" rtl="1"/>
            <a:r>
              <a:rPr lang="ar-DZ" sz="3200" b="1" dirty="0" smtClean="0">
                <a:solidFill>
                  <a:srgbClr val="FF0000"/>
                </a:solidFill>
              </a:rPr>
              <a:t>رغم أن التقويم المقصود هو </a:t>
            </a:r>
            <a:r>
              <a:rPr lang="ar-DZ" sz="3200" b="1" u="sng" dirty="0" smtClean="0">
                <a:solidFill>
                  <a:srgbClr val="FF0000"/>
                </a:solidFill>
              </a:rPr>
              <a:t>التقويم </a:t>
            </a:r>
            <a:r>
              <a:rPr lang="ar-DZ" sz="3200" b="1" u="sng" dirty="0" err="1" smtClean="0">
                <a:solidFill>
                  <a:srgbClr val="FF0000"/>
                </a:solidFill>
              </a:rPr>
              <a:t>البيداغوجي</a:t>
            </a:r>
            <a:r>
              <a:rPr lang="ar-DZ" sz="3200" b="1" dirty="0" smtClean="0">
                <a:solidFill>
                  <a:srgbClr val="FF0000"/>
                </a:solidFill>
              </a:rPr>
              <a:t>.</a:t>
            </a:r>
          </a:p>
          <a:p>
            <a:pPr algn="r" rtl="1"/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555776" y="686923"/>
            <a:ext cx="4000528" cy="523220"/>
          </a:xfrm>
          <a:prstGeom prst="rect">
            <a:avLst/>
          </a:prstGeom>
          <a:solidFill>
            <a:srgbClr val="ABABAB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مقدمة لطرح المشكلة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14348" y="1099497"/>
            <a:ext cx="75009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بقي التقويم المعمول </a:t>
            </a:r>
            <a:r>
              <a:rPr lang="ar-DZ" sz="2400" b="1" dirty="0" err="1" smtClean="0"/>
              <a:t>به</a:t>
            </a:r>
            <a:r>
              <a:rPr lang="ar-DZ" sz="2400" b="1" dirty="0" smtClean="0"/>
              <a:t> تقييما مجردا فاقدا للدلالة ولا يخدم التعلمات.</a:t>
            </a:r>
          </a:p>
          <a:p>
            <a:pPr algn="ctr" rtl="1"/>
            <a:r>
              <a:rPr lang="ar-DZ" sz="2400" b="1" dirty="0" smtClean="0"/>
              <a:t>تقويم ينمي </a:t>
            </a:r>
            <a:r>
              <a:rPr lang="ar-DZ" sz="2400" b="1" dirty="0" smtClean="0">
                <a:solidFill>
                  <a:srgbClr val="FF0000"/>
                </a:solidFill>
              </a:rPr>
              <a:t>بيداغوجيا الإقصاء والخيبة والحزن واليأس والفشل </a:t>
            </a:r>
            <a:r>
              <a:rPr lang="ar-DZ" sz="2400" b="1" dirty="0" smtClean="0"/>
              <a:t>عوض </a:t>
            </a:r>
            <a:r>
              <a:rPr lang="ar-DZ" sz="2400" b="1" dirty="0" smtClean="0">
                <a:solidFill>
                  <a:srgbClr val="33CC33"/>
                </a:solidFill>
              </a:rPr>
              <a:t>بيداغوجيا النجاح</a:t>
            </a:r>
            <a:r>
              <a:rPr lang="ar-DZ" sz="2400" b="1" dirty="0" smtClean="0"/>
              <a:t>.</a:t>
            </a:r>
            <a:endParaRPr lang="fr-FR" sz="2400" b="1" dirty="0" smtClean="0"/>
          </a:p>
          <a:p>
            <a:pPr algn="ctr" rtl="1"/>
            <a:endParaRPr lang="fr-FR" sz="2400" b="1" dirty="0" smtClean="0"/>
          </a:p>
          <a:p>
            <a:pPr algn="ctr" rtl="1"/>
            <a:endParaRPr lang="fr-FR" sz="2400" b="1" dirty="0" smtClean="0"/>
          </a:p>
          <a:p>
            <a:pPr algn="ctr" rtl="1"/>
            <a:endParaRPr lang="fr-FR" sz="2400" b="1" dirty="0" smtClean="0"/>
          </a:p>
          <a:p>
            <a:pPr algn="ctr" rtl="1"/>
            <a:endParaRPr lang="fr-FR" sz="2400" b="1" dirty="0" smtClean="0"/>
          </a:p>
          <a:p>
            <a:pPr algn="ctr" rtl="1"/>
            <a:endParaRPr lang="ar-DZ" sz="1600" b="1" dirty="0" smtClean="0"/>
          </a:p>
          <a:p>
            <a:pPr algn="ctr" rtl="1"/>
            <a:r>
              <a:rPr lang="fr-FR" sz="2400" b="1" dirty="0" smtClean="0"/>
              <a:t>Évaluation qui Développe la pédagogie de l'exclusion, de la frustration, de la tristesse, du désespoir et de l'échec plutôt que la pédagogie de la réussite.</a:t>
            </a:r>
            <a:endParaRPr lang="ar-DZ" sz="2400" b="1" dirty="0" smtClean="0"/>
          </a:p>
          <a:p>
            <a:pPr algn="ctr" rtl="1"/>
            <a:endParaRPr lang="ar-DZ" sz="2400" b="1" dirty="0" smtClean="0"/>
          </a:p>
        </p:txBody>
      </p:sp>
      <p:pic>
        <p:nvPicPr>
          <p:cNvPr id="102402" name="Picture 2" descr="Résultat de recherche d'images pour &quot;le désespoir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028190"/>
            <a:ext cx="2171714" cy="1617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214546" y="500042"/>
            <a:ext cx="414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/>
              <a:t>يترتب عن سوء ممارسة التقويم: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57356" y="1571612"/>
            <a:ext cx="2357438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1">
              <a:buFont typeface="Wingdings" pitchFamily="2" charset="2"/>
              <a:buChar char="§"/>
            </a:pPr>
            <a:r>
              <a:rPr lang="ar-DZ" sz="2800" b="1" dirty="0" smtClean="0"/>
              <a:t>النجاح المفرط: </a:t>
            </a:r>
            <a:r>
              <a:rPr lang="ar-DZ" sz="2800" b="1" dirty="0" smtClean="0">
                <a:solidFill>
                  <a:srgbClr val="FF0000"/>
                </a:solidFill>
              </a:rPr>
              <a:t>تلاميذ غير أكفاء ينتقلون إلى مستويات عليا.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14876" y="1571612"/>
            <a:ext cx="2357454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1">
              <a:buFont typeface="Wingdings" pitchFamily="2" charset="2"/>
              <a:buChar char="§"/>
            </a:pPr>
            <a:r>
              <a:rPr lang="ar-DZ" sz="2800" b="1" dirty="0" smtClean="0"/>
              <a:t>الفشــل المفرط: </a:t>
            </a:r>
            <a:r>
              <a:rPr lang="ar-DZ" sz="2800" b="1" dirty="0" smtClean="0">
                <a:solidFill>
                  <a:srgbClr val="FF0000"/>
                </a:solidFill>
              </a:rPr>
              <a:t>تلاميذ أكفاء يرسبون.</a:t>
            </a:r>
          </a:p>
          <a:p>
            <a:pPr algn="ctr" rtl="1"/>
            <a:endParaRPr lang="ar-DZ" sz="2800" b="1" dirty="0" smtClean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00166" y="3786190"/>
            <a:ext cx="54184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800" b="1" dirty="0" smtClean="0"/>
              <a:t>تُوِلِّدُ المدرسة </a:t>
            </a:r>
            <a:r>
              <a:rPr lang="ar-DZ" sz="2800" b="1" dirty="0" smtClean="0">
                <a:solidFill>
                  <a:srgbClr val="FF0000"/>
                </a:solidFill>
              </a:rPr>
              <a:t>اختلالات </a:t>
            </a:r>
            <a:r>
              <a:rPr lang="ar-DZ" sz="2800" b="1" dirty="0" smtClean="0"/>
              <a:t>هي أصلا تشكو منها </a:t>
            </a:r>
            <a:r>
              <a:rPr lang="ar-DZ" sz="2800" b="1" dirty="0" smtClean="0">
                <a:sym typeface="Symbol"/>
              </a:rPr>
              <a:t></a:t>
            </a:r>
            <a:endParaRPr lang="fr-FR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395536" y="4709279"/>
            <a:ext cx="8280920" cy="55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3000" b="1" dirty="0" smtClean="0"/>
              <a:t>المشكلة: كيف نعدل أدوات التقويم كي تصير في خدمة التعلمات؟</a:t>
            </a:r>
            <a:endParaRPr lang="fr-FR" sz="3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28596" y="357166"/>
            <a:ext cx="7929618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الاختلالات في الممارسات </a:t>
            </a:r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428596" y="1052736"/>
            <a:ext cx="8001056" cy="56355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>
              <a:buFont typeface="Wingdings" pitchFamily="2" charset="2"/>
              <a:buChar char="ü"/>
            </a:pPr>
            <a:r>
              <a:rPr lang="ar-DZ" sz="2800" b="1" dirty="0" smtClean="0">
                <a:cs typeface="+mj-cs"/>
              </a:rPr>
              <a:t>خلل في التصورات حول مفهوم التقويم، وظائفه، صعوبة التمييز  </a:t>
            </a:r>
          </a:p>
          <a:p>
            <a:pPr algn="r" rtl="1"/>
            <a:r>
              <a:rPr lang="ar-DZ" sz="2800" b="1" dirty="0">
                <a:cs typeface="+mj-cs"/>
              </a:rPr>
              <a:t> </a:t>
            </a:r>
            <a:r>
              <a:rPr lang="ar-DZ" sz="2800" b="1" dirty="0" smtClean="0">
                <a:cs typeface="+mj-cs"/>
              </a:rPr>
              <a:t> بين أنواعه؛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 smtClean="0">
                <a:cs typeface="+mj-cs"/>
              </a:rPr>
              <a:t>الخلط بين المراقبة والتقويم، وتوظيفهما المتناقض أحيانا؛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 smtClean="0">
                <a:cs typeface="+mj-cs"/>
              </a:rPr>
              <a:t>إهمال التقويم؛</a:t>
            </a:r>
            <a:endParaRPr lang="ar-DZ" sz="2800" b="1" dirty="0" smtClean="0">
              <a:cs typeface="+mj-cs"/>
              <a:sym typeface="Symbol"/>
            </a:endParaRP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 smtClean="0">
                <a:cs typeface="+mj-cs"/>
                <a:sym typeface="Symbol"/>
              </a:rPr>
              <a:t>التقويم لا يساير التعليم والتعلم؛</a:t>
            </a:r>
            <a:endParaRPr lang="fr-FR" sz="2800" b="1" dirty="0" smtClean="0">
              <a:cs typeface="+mj-cs"/>
              <a:sym typeface="Symbol"/>
            </a:endParaRP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مختزل في الفروض (إن وجدت) والاختبارات والامتحانات؛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يمنح الأفضلية للمتعلمين المتفوقين؛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انفرادي؛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ليس له دلالة؛ 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ليس له أثر على التعلمات؛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لا يضمن المعالجة؛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2800" b="1" dirty="0">
                <a:cs typeface="+mj-cs"/>
              </a:rPr>
              <a:t>التقويم يزيد من نسبة الفشل المدرسي.</a:t>
            </a:r>
          </a:p>
          <a:p>
            <a:pPr algn="r" rtl="1">
              <a:lnSpc>
                <a:spcPct val="150000"/>
              </a:lnSpc>
              <a:buFont typeface="Wingdings" pitchFamily="2" charset="2"/>
              <a:buChar char="ü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57158" y="357166"/>
            <a:ext cx="7643866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الاختلالات في الممارسات </a:t>
            </a:r>
            <a:endParaRPr lang="fr-FR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28596" y="1285860"/>
            <a:ext cx="7572428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>
              <a:buFont typeface="Wingdings" pitchFamily="2" charset="2"/>
              <a:buChar char="ü"/>
            </a:pPr>
            <a:r>
              <a:rPr lang="ar-DZ" sz="3200" b="1" dirty="0" smtClean="0"/>
              <a:t>الأداة </a:t>
            </a:r>
            <a:r>
              <a:rPr lang="ar-DZ" sz="3200" b="1" dirty="0"/>
              <a:t>: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لا تضمن تقويم ما هو قابل للتقويم؛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لا تركز على التعلمات الأساسية؛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قليلة الوضوح: الضمني فيها يغلب الصريح؛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تركز الأداة في مجملها على استرجاع المعارف؛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قليلة الدقة، قليلة الانسجام؛</a:t>
            </a:r>
            <a:endParaRPr lang="fr-FR" sz="2800" b="1" dirty="0"/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كثيرة التعليمات؛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قابلة للتأويل؛</a:t>
            </a:r>
          </a:p>
          <a:p>
            <a:pPr lvl="1" algn="r" rtl="1">
              <a:buFont typeface="Arial" pitchFamily="34" charset="0"/>
              <a:buChar char="•"/>
            </a:pPr>
            <a:r>
              <a:rPr lang="ar-DZ" sz="2800" b="1" dirty="0"/>
              <a:t> لا تبحث عن نقاط القوة لدى المتعلمين.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80963"/>
            <a:ext cx="9001125" cy="669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ZoneTexte 2"/>
          <p:cNvSpPr txBox="1"/>
          <p:nvPr/>
        </p:nvSpPr>
        <p:spPr>
          <a:xfrm>
            <a:off x="2000232" y="357166"/>
            <a:ext cx="5072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/>
              <a:t>مصنفة الأهداف التربوية </a:t>
            </a:r>
            <a:r>
              <a:rPr lang="ar-DZ" sz="2800" b="1" dirty="0" err="1" smtClean="0"/>
              <a:t>لبلوم</a:t>
            </a:r>
            <a:r>
              <a:rPr lang="ar-DZ" sz="2800" b="1" dirty="0" smtClean="0"/>
              <a:t> (1956)</a:t>
            </a:r>
          </a:p>
          <a:p>
            <a:pPr algn="r" rtl="1"/>
            <a:r>
              <a:rPr lang="ar-DZ" sz="2800" b="1" dirty="0" smtClean="0"/>
              <a:t>ـ المجال المعرفي 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5000628" y="5572140"/>
            <a:ext cx="24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Taxonomie des objectifs éducationnels 195</a:t>
            </a:r>
            <a:r>
              <a:rPr lang="ar-DZ" dirty="0" smtClean="0"/>
              <a:t>6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5" name="Flèche courbée vers le bas 4"/>
          <p:cNvSpPr/>
          <p:nvPr/>
        </p:nvSpPr>
        <p:spPr>
          <a:xfrm>
            <a:off x="4714876" y="5072074"/>
            <a:ext cx="1071570" cy="5000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786050" y="1357298"/>
            <a:ext cx="357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>
                <a:solidFill>
                  <a:srgbClr val="00B050"/>
                </a:solidFill>
              </a:rPr>
              <a:t>المصنفة ؟</a:t>
            </a:r>
          </a:p>
          <a:p>
            <a:pPr algn="ctr" rtl="1"/>
            <a:r>
              <a:rPr lang="fr-FR" sz="3600" b="1" dirty="0" smtClean="0">
                <a:solidFill>
                  <a:srgbClr val="00B050"/>
                </a:solidFill>
              </a:rPr>
              <a:t>La taxonomie</a:t>
            </a:r>
            <a:endParaRPr lang="fr-FR" sz="36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00034" y="2714620"/>
            <a:ext cx="7643866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المصنفات أدوات تساعد على إضفاء التوازن على الأهداف البيداغوجية وتضمن تدرجها الصحيح كما تضمن الاختيار الصحيح للأدوات في العمليات المختلفة من التقويم.</a:t>
            </a:r>
          </a:p>
          <a:p>
            <a:pPr algn="ctr" rtl="1"/>
            <a:r>
              <a:rPr lang="ar-DZ" sz="2800" b="1" dirty="0" smtClean="0"/>
              <a:t>المصنفات لا يلغي بعضها بعضا، عمل المتعلم يتسع لأكثر من مجال (قيادة سيارة يستدعي المجالات الثلاثة).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5984" y="357166"/>
            <a:ext cx="4071966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زمر مصنفة بلوم (قبل المراجعة)</a:t>
            </a:r>
            <a:endParaRPr lang="fr-FR" sz="24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642910" y="5000636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استدعاء المعلومة من الذاكرة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642910" y="4286256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إدراك واستيعاب المعلومات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642910" y="3571876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استخدام المعلومات في مواقف جديدة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642910" y="2928934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التجزئة إلى مكونات، استخراج علاقات، مبادئ التنظيم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642910" y="2357430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تكوين كل متجانس لم يكن موجودا من قبل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642910" y="1785926"/>
            <a:ext cx="442915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/>
              <a:t>إصدار حكم على الموضوع بناء على معايير</a:t>
            </a:r>
            <a:endParaRPr lang="fr-FR" sz="16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5214942" y="500063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التذكر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214942" y="428625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الفهم</a:t>
            </a:r>
            <a:endParaRPr lang="fr-FR" sz="2400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5214942" y="357187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التطبيق </a:t>
            </a:r>
            <a:endParaRPr lang="fr-FR" sz="2400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214942" y="2928934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التحليل</a:t>
            </a:r>
            <a:endParaRPr lang="fr-FR" sz="2400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5214942" y="2357430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التركيب</a:t>
            </a:r>
            <a:endParaRPr lang="fr-FR" sz="24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5214942" y="178592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التقييم</a:t>
            </a:r>
            <a:endParaRPr lang="fr-FR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5357818" y="1142984"/>
            <a:ext cx="1455848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قبل المراجعة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Flèche vers le haut 16"/>
          <p:cNvSpPr/>
          <p:nvPr/>
        </p:nvSpPr>
        <p:spPr>
          <a:xfrm>
            <a:off x="7500958" y="1785926"/>
            <a:ext cx="500066" cy="35719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571472" y="5643578"/>
            <a:ext cx="7215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مصنفة بلوم ( 1948 ) هي نموذج </a:t>
            </a:r>
            <a:r>
              <a:rPr lang="ar-DZ" b="1" dirty="0" err="1" smtClean="0"/>
              <a:t>بيداغوجي</a:t>
            </a:r>
            <a:r>
              <a:rPr lang="ar-DZ" b="1" dirty="0" smtClean="0"/>
              <a:t> يقترح تصنيفا منظما ومتدرجا لمستويات اكتساب موارد تنتمي إلى المجال المعرفي ، يشمل كل ما له علاقة بالتفكير المنطقي والعمليات الذهنية التي يمكن ملاحظتها في وضعيات التعلم أو التقويم بدءا من أبسط نشاط وهو المعرفة وصولا إلى أعقد نشاط وهو التقييم. 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5984" y="357166"/>
            <a:ext cx="4071966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زمر مصنفة بلوم (بعد المراجعة)</a:t>
            </a:r>
            <a:endParaRPr lang="fr-FR" sz="24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857488" y="535782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التذكر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857488" y="464344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الفهم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2857488" y="392906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التطبيق 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2857488" y="3286124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التحليل</a:t>
            </a:r>
            <a:endParaRPr lang="fr-FR" sz="24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857488" y="2714620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التقويم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857488" y="214311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الابتكار والإبداع</a:t>
            </a:r>
            <a:endParaRPr lang="fr-FR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3071802" y="1500174"/>
            <a:ext cx="1438214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بعد المراجعة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1285884" y="214311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créer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1285852" y="277391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évaluer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1285852" y="3286124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analyser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285852" y="392906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appliquer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1285852" y="464344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comprendre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285852" y="535782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mémoriser</a:t>
            </a:r>
            <a:endParaRPr lang="fr-FR" dirty="0"/>
          </a:p>
        </p:txBody>
      </p:sp>
      <p:sp>
        <p:nvSpPr>
          <p:cNvPr id="16" name="Flèche vers le haut 15"/>
          <p:cNvSpPr/>
          <p:nvPr/>
        </p:nvSpPr>
        <p:spPr>
          <a:xfrm>
            <a:off x="5429256" y="2214554"/>
            <a:ext cx="500066" cy="35719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6215074" y="1643050"/>
            <a:ext cx="23574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Ainsi en 2001 une taxonomie révisée de Bloom a été proposée par plusieurs auteurs dont </a:t>
            </a:r>
            <a:r>
              <a:rPr lang="fr-FR" b="1" dirty="0" smtClean="0">
                <a:solidFill>
                  <a:srgbClr val="FF0000"/>
                </a:solidFill>
              </a:rPr>
              <a:t>Lorin W. Anderson (Université du Texas) et David R. Krathwohl (Université de l'État du Michigan, </a:t>
            </a:r>
            <a:r>
              <a:rPr lang="fr-FR" dirty="0" smtClean="0">
                <a:solidFill>
                  <a:srgbClr val="FF0000"/>
                </a:solidFill>
              </a:rPr>
              <a:t>coauteur de la taxonomie originelle). </a:t>
            </a:r>
            <a:r>
              <a:rPr lang="fr-FR" dirty="0" smtClean="0"/>
              <a:t>Cette révision place entre autres la </a:t>
            </a:r>
            <a:r>
              <a:rPr lang="fr-FR" i="1" dirty="0" smtClean="0"/>
              <a:t>synthèse</a:t>
            </a:r>
            <a:r>
              <a:rPr lang="fr-FR" dirty="0" smtClean="0"/>
              <a:t> à un niveau supérieur à celui de l' </a:t>
            </a:r>
            <a:r>
              <a:rPr lang="fr-FR" i="1" dirty="0" smtClean="0"/>
              <a:t>évaluation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14480" y="535782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التذكر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714480" y="464344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الفهم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1714480" y="392906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التطبيق 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714480" y="3286124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التحليل</a:t>
            </a:r>
            <a:endParaRPr lang="fr-FR" sz="24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714480" y="2714620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التقويم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714480" y="214311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الابتكار والإبداع</a:t>
            </a:r>
            <a:endParaRPr lang="fr-FR" sz="24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5214942" y="535782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التذكر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214942" y="464344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الفهم</a:t>
            </a:r>
            <a:endParaRPr lang="fr-FR" sz="2400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5214942" y="392906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التطبيق </a:t>
            </a:r>
            <a:endParaRPr lang="fr-FR" sz="2400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214942" y="3286124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التحليل</a:t>
            </a:r>
            <a:endParaRPr lang="fr-FR" sz="2400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5214942" y="2714620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التركيب</a:t>
            </a:r>
            <a:endParaRPr lang="fr-FR" sz="24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5214942" y="214311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التقويم</a:t>
            </a:r>
            <a:endParaRPr lang="fr-FR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1928794" y="1500174"/>
            <a:ext cx="1438214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بعد المراجعة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57818" y="1500174"/>
            <a:ext cx="1455848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قبل المراجعة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142876" y="214311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créer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142844" y="277391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évaluer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142844" y="3286124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analyser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42844" y="392906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appliquer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142844" y="464344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comprendre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42844" y="5357826"/>
            <a:ext cx="15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mémoriser</a:t>
            </a:r>
            <a:endParaRPr lang="fr-FR" dirty="0"/>
          </a:p>
        </p:txBody>
      </p:sp>
      <p:sp>
        <p:nvSpPr>
          <p:cNvPr id="23" name="Flèche vers le haut 22"/>
          <p:cNvSpPr/>
          <p:nvPr/>
        </p:nvSpPr>
        <p:spPr>
          <a:xfrm>
            <a:off x="4143372" y="2143116"/>
            <a:ext cx="500066" cy="35719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avec flèche 24"/>
          <p:cNvCxnSpPr/>
          <p:nvPr/>
        </p:nvCxnSpPr>
        <p:spPr>
          <a:xfrm rot="10800000">
            <a:off x="3786182" y="2500306"/>
            <a:ext cx="1285884" cy="42862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1500166" y="357166"/>
            <a:ext cx="5572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زمر مصنفة بلوم (قبل المراجعة، بعد المراجعة)</a:t>
            </a:r>
            <a:endParaRPr lang="fr-FR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142844" y="6121619"/>
            <a:ext cx="90011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>
                <a:solidFill>
                  <a:srgbClr val="FF0000"/>
                </a:solidFill>
              </a:rPr>
              <a:t>Taxonomie de Lorin W. Anderson (Université du Texas) et David R. Krathwohl  (Université de l'État du Michigan) 2001. </a:t>
            </a:r>
            <a:endParaRPr lang="fr-FR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28760" y="5967731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التذكر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428760" y="5253351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الفهم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1428760" y="4538971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التطبيق 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428760" y="3429000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التحليل</a:t>
            </a:r>
            <a:endParaRPr lang="fr-FR" sz="24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428760" y="2857496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التقويم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428760" y="1500174"/>
            <a:ext cx="192882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الابتكار والإبداع</a:t>
            </a:r>
            <a:endParaRPr lang="fr-FR" sz="2400" b="1" dirty="0"/>
          </a:p>
        </p:txBody>
      </p:sp>
      <p:cxnSp>
        <p:nvCxnSpPr>
          <p:cNvPr id="17" name="Connecteur droit 16"/>
          <p:cNvCxnSpPr/>
          <p:nvPr/>
        </p:nvCxnSpPr>
        <p:spPr>
          <a:xfrm>
            <a:off x="1428760" y="928670"/>
            <a:ext cx="4357718" cy="1588"/>
          </a:xfrm>
          <a:prstGeom prst="line">
            <a:avLst/>
          </a:prstGeom>
          <a:ln w="762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1428760" y="2641594"/>
            <a:ext cx="4357718" cy="1588"/>
          </a:xfrm>
          <a:prstGeom prst="line">
            <a:avLst/>
          </a:prstGeom>
          <a:ln w="762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428760" y="4286256"/>
            <a:ext cx="4357718" cy="1588"/>
          </a:xfrm>
          <a:prstGeom prst="line">
            <a:avLst/>
          </a:prstGeom>
          <a:ln w="762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3429024" y="1071546"/>
            <a:ext cx="2357454" cy="14465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/>
              <a:t>التركيب والتقاطع بين الموارد بطريقة إبداعية، الاستدلال، </a:t>
            </a:r>
            <a:r>
              <a:rPr lang="ar-DZ" sz="2400" b="1" dirty="0" smtClean="0">
                <a:solidFill>
                  <a:srgbClr val="FF0000"/>
                </a:solidFill>
              </a:rPr>
              <a:t>حل وضعيات مشكلة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3857620" y="2819941"/>
            <a:ext cx="1428760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/>
              <a:t>استراتيجيات وإجراءات تجند للتحليل والتقويم</a:t>
            </a:r>
            <a:endParaRPr lang="fr-FR" sz="2000" b="1" dirty="0"/>
          </a:p>
        </p:txBody>
      </p:sp>
      <p:sp>
        <p:nvSpPr>
          <p:cNvPr id="44" name="Accolade fermante 43"/>
          <p:cNvSpPr/>
          <p:nvPr/>
        </p:nvSpPr>
        <p:spPr>
          <a:xfrm>
            <a:off x="5715040" y="1071546"/>
            <a:ext cx="428596" cy="3143272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ccolade fermante 44"/>
          <p:cNvSpPr/>
          <p:nvPr/>
        </p:nvSpPr>
        <p:spPr>
          <a:xfrm>
            <a:off x="5796002" y="4572008"/>
            <a:ext cx="276196" cy="1866912"/>
          </a:xfrm>
          <a:prstGeom prst="righ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ccolade fermante 42"/>
          <p:cNvSpPr/>
          <p:nvPr/>
        </p:nvSpPr>
        <p:spPr>
          <a:xfrm flipH="1">
            <a:off x="928662" y="1000108"/>
            <a:ext cx="428596" cy="3143272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ccolade fermante 47"/>
          <p:cNvSpPr/>
          <p:nvPr/>
        </p:nvSpPr>
        <p:spPr>
          <a:xfrm flipH="1">
            <a:off x="1000100" y="4500570"/>
            <a:ext cx="276196" cy="1866912"/>
          </a:xfrm>
          <a:prstGeom prst="righ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21"/>
          <p:cNvCxnSpPr/>
          <p:nvPr/>
        </p:nvCxnSpPr>
        <p:spPr>
          <a:xfrm>
            <a:off x="6000760" y="4286256"/>
            <a:ext cx="2357454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1500166" y="142852"/>
            <a:ext cx="500066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مستويات زمر مصنفة بلوم (بعد المراجعة)</a:t>
            </a:r>
            <a:endParaRPr lang="fr-FR" sz="2400" b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6357950" y="2428868"/>
            <a:ext cx="18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أعلى المصنفة</a:t>
            </a:r>
            <a:endParaRPr lang="fr-FR" sz="2400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6429388" y="5181913"/>
            <a:ext cx="18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أسفل المصنفة</a:t>
            </a:r>
            <a:endParaRPr lang="fr-FR" sz="2400" b="1" dirty="0"/>
          </a:p>
        </p:txBody>
      </p:sp>
      <p:sp>
        <p:nvSpPr>
          <p:cNvPr id="26" name="ZoneTexte 25"/>
          <p:cNvSpPr txBox="1"/>
          <p:nvPr/>
        </p:nvSpPr>
        <p:spPr>
          <a:xfrm>
            <a:off x="3786182" y="5000636"/>
            <a:ext cx="1581192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/>
              <a:t>معارف، مفاهيم،</a:t>
            </a:r>
          </a:p>
          <a:p>
            <a:pPr algn="ctr" rtl="1"/>
            <a:r>
              <a:rPr lang="ar-DZ" sz="2000" b="1" dirty="0" smtClean="0"/>
              <a:t>معارف منهجية</a:t>
            </a:r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11842" y="1145859"/>
            <a:ext cx="8780638" cy="4893647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يعتبر التقويم البيداغوجي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أ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حد الركائز المفصلية 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للنجاح 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في حياة المتعلمين والهمّ الأكبر الذي يشغل بال الأسرة 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التربوية 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الجزائرية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،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وأي عمل تقويمي لا يستند إلى أسس علمية واقعية دقيقة </a:t>
            </a:r>
            <a:r>
              <a:rPr kumimoji="0" lang="ar-SA" sz="2400" b="1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ُ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ن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ْ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ِ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ج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ُ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خللا اجتماعيا تدفع الأمة ثمنه </a:t>
            </a: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kumimoji="0" lang="ar-SA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سنين طويلة.</a:t>
            </a:r>
            <a:endParaRPr kumimoji="0" lang="ar-DZ" sz="2400" b="1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DZ" sz="24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توصيات:</a:t>
            </a:r>
            <a:endParaRPr kumimoji="0" lang="ar-DZ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التخطيط للتقويم عند التخطيط للتعلمات؛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ممارسة التقويم البيداغوجي بما يخدم التعلمات، </a:t>
            </a:r>
            <a:r>
              <a:rPr lang="ar-DZ" sz="2400" b="1" dirty="0" smtClean="0"/>
              <a:t>تجسيد الوظيفة التكوينية للتقويم؛</a:t>
            </a:r>
            <a:endParaRPr lang="ar-DZ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0" lang="ar-DZ" sz="2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تقويم</a:t>
            </a:r>
            <a:r>
              <a:rPr kumimoji="0" lang="ar-DZ" sz="2400" b="1" i="0" u="none" strike="noStrike" cap="none" normalizeH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التعلمات الأساسية؛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baseline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تقويم</a:t>
            </a: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ما هو قابل للتقويم؛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مضاعفة الجهود لبناء أدوات تقويم تستجيب لدليل بناء الاختبار؛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/>
              <a:t>العمل بأدوات تقويم دالة؛</a:t>
            </a:r>
            <a:endParaRPr lang="ar-DZ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التقويم المرفق بالمعالجة البيداغوجية؛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التقويم الذي ينمي التقويم الذاتي؛</a:t>
            </a:r>
          </a:p>
          <a:p>
            <a:pPr lvl="1" algn="r" rt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ar-DZ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التقويم في فريق.</a:t>
            </a:r>
            <a:endParaRPr kumimoji="0" lang="ar-SA" sz="2800" b="1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714744" y="571480"/>
            <a:ext cx="17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خـــاتمة</a:t>
            </a:r>
            <a:endParaRPr lang="fr-FR" sz="28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1282192">
            <a:off x="198862" y="4992532"/>
            <a:ext cx="2733880" cy="1319804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http://www4.0zz0.com/2011/07/13/17/67798342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4116" y="970052"/>
            <a:ext cx="6308204" cy="44031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17787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800</Words>
  <Application>Microsoft Office PowerPoint</Application>
  <PresentationFormat>Affichage à l'écran (4:3)</PresentationFormat>
  <Paragraphs>143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PC</dc:creator>
  <cp:lastModifiedBy>ASUS</cp:lastModifiedBy>
  <cp:revision>60</cp:revision>
  <dcterms:created xsi:type="dcterms:W3CDTF">2017-09-15T11:06:58Z</dcterms:created>
  <dcterms:modified xsi:type="dcterms:W3CDTF">2026-02-03T18:55:43Z</dcterms:modified>
</cp:coreProperties>
</file>