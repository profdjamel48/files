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305" r:id="rId2"/>
    <p:sldId id="334" r:id="rId3"/>
    <p:sldId id="335" r:id="rId4"/>
    <p:sldId id="336" r:id="rId5"/>
    <p:sldId id="337" r:id="rId6"/>
    <p:sldId id="338" r:id="rId7"/>
    <p:sldId id="339" r:id="rId8"/>
    <p:sldId id="340" r:id="rId9"/>
    <p:sldId id="354" r:id="rId10"/>
    <p:sldId id="359" r:id="rId11"/>
    <p:sldId id="360" r:id="rId12"/>
    <p:sldId id="361" r:id="rId13"/>
    <p:sldId id="362" r:id="rId14"/>
    <p:sldId id="352" r:id="rId15"/>
    <p:sldId id="363" r:id="rId16"/>
    <p:sldId id="353" r:id="rId17"/>
    <p:sldId id="341" r:id="rId18"/>
    <p:sldId id="358" r:id="rId19"/>
    <p:sldId id="364" r:id="rId20"/>
    <p:sldId id="327" r:id="rId21"/>
  </p:sldIdLst>
  <p:sldSz cx="9906000" cy="6858000" type="A4"/>
  <p:notesSz cx="6858000" cy="9144000"/>
  <p:custDataLst>
    <p:tags r:id="rId23"/>
  </p:custData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C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Style moyen 1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FECB4D8-DB02-4DC6-A0A2-4F2EBAE1DC90}" styleName="Style moyen 1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E8B1032C-EA38-4F05-BA0D-38AFFFC7BED3}" styleName="Style léger 3 - Accentuation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40" autoAdjust="0"/>
    <p:restoredTop sz="96456" autoAdjust="0"/>
  </p:normalViewPr>
  <p:slideViewPr>
    <p:cSldViewPr snapToGrid="0">
      <p:cViewPr>
        <p:scale>
          <a:sx n="60" d="100"/>
          <a:sy n="60" d="100"/>
        </p:scale>
        <p:origin x="-1560" y="-324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605068-90CF-49F6-9C41-3D5A4B6156AE}" type="datetimeFigureOut">
              <a:rPr lang="fr-FR" smtClean="0"/>
              <a:t>12/11/2019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72B94A-E94D-4B34-95ED-EB1A9576B1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4917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906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8401" y="2099733"/>
            <a:ext cx="7170847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938401" y="4777380"/>
            <a:ext cx="7170847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8161306" y="1820800"/>
            <a:ext cx="990599" cy="24764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6712B7EF-F719-4EC2-9E00-118CD5224898}" type="datetimeFigureOut">
              <a:rPr lang="fr-FR" smtClean="0"/>
              <a:t>12/11/2019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911625" y="3256408"/>
            <a:ext cx="3859795" cy="24765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11" name="Rectangle 10"/>
          <p:cNvSpPr/>
          <p:nvPr/>
        </p:nvSpPr>
        <p:spPr>
          <a:xfrm>
            <a:off x="8480722" y="0"/>
            <a:ext cx="557213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11439" y="295730"/>
            <a:ext cx="681037" cy="767687"/>
          </a:xfrm>
        </p:spPr>
        <p:txBody>
          <a:bodyPr/>
          <a:lstStyle/>
          <a:p>
            <a:fld id="{0BDEBB03-A4F5-4CD7-A39F-B03D750AB1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61634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8401" y="2603500"/>
            <a:ext cx="7170848" cy="3416300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2B7EF-F719-4EC2-9E00-118CD5224898}" type="datetimeFigureOut">
              <a:rPr lang="fr-FR" smtClean="0"/>
              <a:t>12/11/2019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EBB03-A4F5-4CD7-A39F-B03D750AB1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71488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9906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8400" y="2677645"/>
            <a:ext cx="3535208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2642" y="2677644"/>
            <a:ext cx="305300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2B7EF-F719-4EC2-9E00-118CD5224898}" type="datetimeFigureOut">
              <a:rPr lang="fr-FR" smtClean="0"/>
              <a:t>12/11/2019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6" name="Rectangle 15"/>
          <p:cNvSpPr/>
          <p:nvPr/>
        </p:nvSpPr>
        <p:spPr>
          <a:xfrm>
            <a:off x="8480722" y="0"/>
            <a:ext cx="557213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EBB03-A4F5-4CD7-A39F-B03D750AB1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250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38400" y="2603501"/>
            <a:ext cx="3920441" cy="3416301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4579" y="2603500"/>
            <a:ext cx="3920442" cy="3416300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2B7EF-F719-4EC2-9E00-118CD5224898}" type="datetimeFigureOut">
              <a:rPr lang="fr-FR" smtClean="0"/>
              <a:t>12/11/2019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EBB03-A4F5-4CD7-A39F-B03D750AB1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2777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2603500"/>
            <a:ext cx="39204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38400" y="3179763"/>
            <a:ext cx="3920441" cy="2840039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44579" y="2603500"/>
            <a:ext cx="392044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44579" y="3179763"/>
            <a:ext cx="3920442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2B7EF-F719-4EC2-9E00-118CD5224898}" type="datetimeFigureOut">
              <a:rPr lang="fr-FR" smtClean="0"/>
              <a:t>12/11/2019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EBB03-A4F5-4CD7-A39F-B03D750AB1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9523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938401" y="973668"/>
            <a:ext cx="7118648" cy="706964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2B7EF-F719-4EC2-9E00-118CD5224898}" type="datetimeFigureOut">
              <a:rPr lang="fr-FR" smtClean="0"/>
              <a:t>12/11/2019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EBB03-A4F5-4CD7-A39F-B03D750AB1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85706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2B7EF-F719-4EC2-9E00-118CD5224898}" type="datetimeFigureOut">
              <a:rPr lang="fr-FR" smtClean="0"/>
              <a:t>12/11/2019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8480722" y="0"/>
            <a:ext cx="557213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EBB03-A4F5-4CD7-A39F-B03D750AB1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87706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906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8401" y="1295400"/>
            <a:ext cx="2269441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7181" y="1447800"/>
            <a:ext cx="4216929" cy="4572000"/>
          </a:xfrm>
        </p:spPr>
        <p:txBody>
          <a:bodyPr anchor="ctr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938400" y="3129281"/>
            <a:ext cx="2269441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2B7EF-F719-4EC2-9E00-118CD5224898}" type="datetimeFigureOut">
              <a:rPr lang="fr-FR" smtClean="0"/>
              <a:t>12/11/2019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6" name="Rectangle 15"/>
          <p:cNvSpPr/>
          <p:nvPr/>
        </p:nvSpPr>
        <p:spPr>
          <a:xfrm>
            <a:off x="8480722" y="0"/>
            <a:ext cx="557213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EBB03-A4F5-4CD7-A39F-B03D750AB1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05042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906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8401" y="1693334"/>
            <a:ext cx="3140421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20145" y="1143000"/>
            <a:ext cx="2622094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938400" y="3657600"/>
            <a:ext cx="3135610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2B7EF-F719-4EC2-9E00-118CD5224898}" type="datetimeFigureOut">
              <a:rPr lang="fr-FR" smtClean="0"/>
              <a:t>12/11/2019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6" name="Rectangle 15"/>
          <p:cNvSpPr/>
          <p:nvPr/>
        </p:nvSpPr>
        <p:spPr>
          <a:xfrm>
            <a:off x="8480722" y="0"/>
            <a:ext cx="557213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EBB03-A4F5-4CD7-A39F-B03D750AB1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0229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906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8401" y="4969927"/>
            <a:ext cx="717084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38401" y="685800"/>
            <a:ext cx="717084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38400" y="5536665"/>
            <a:ext cx="7170847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2B7EF-F719-4EC2-9E00-118CD5224898}" type="datetimeFigureOut">
              <a:rPr lang="fr-FR" smtClean="0"/>
              <a:t>12/11/2019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6" name="Rectangle 15"/>
          <p:cNvSpPr/>
          <p:nvPr/>
        </p:nvSpPr>
        <p:spPr>
          <a:xfrm>
            <a:off x="8480722" y="0"/>
            <a:ext cx="557213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EBB03-A4F5-4CD7-A39F-B03D750AB1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5302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906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3398" y="1063417"/>
            <a:ext cx="7175851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938401" y="3543300"/>
            <a:ext cx="7170848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2B7EF-F719-4EC2-9E00-118CD5224898}" type="datetimeFigureOut">
              <a:rPr lang="fr-FR" smtClean="0"/>
              <a:t>12/11/2019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3" name="Rectangle 12"/>
          <p:cNvSpPr/>
          <p:nvPr/>
        </p:nvSpPr>
        <p:spPr>
          <a:xfrm>
            <a:off x="8480722" y="0"/>
            <a:ext cx="557213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EBB03-A4F5-4CD7-A39F-B03D750AB1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58933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906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716272" y="607336"/>
            <a:ext cx="65155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8031123" y="2613787"/>
            <a:ext cx="53037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5276" y="982134"/>
            <a:ext cx="6868799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581081" y="3678766"/>
            <a:ext cx="6281615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938400" y="5029200"/>
            <a:ext cx="7511479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2B7EF-F719-4EC2-9E00-118CD5224898}" type="datetimeFigureOut">
              <a:rPr lang="fr-FR" smtClean="0"/>
              <a:t>12/11/2019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9" name="Rectangle 18"/>
          <p:cNvSpPr/>
          <p:nvPr/>
        </p:nvSpPr>
        <p:spPr>
          <a:xfrm>
            <a:off x="8480722" y="0"/>
            <a:ext cx="557213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EBB03-A4F5-4CD7-A39F-B03D750AB1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77133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906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8400" y="2370667"/>
            <a:ext cx="7170849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5024967"/>
            <a:ext cx="717084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2B7EF-F719-4EC2-9E00-118CD5224898}" type="datetimeFigureOut">
              <a:rPr lang="fr-FR" smtClean="0"/>
              <a:t>12/11/2019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4" name="Rectangle 13"/>
          <p:cNvSpPr/>
          <p:nvPr/>
        </p:nvSpPr>
        <p:spPr>
          <a:xfrm>
            <a:off x="8480722" y="0"/>
            <a:ext cx="557213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EBB03-A4F5-4CD7-A39F-B03D750AB1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31899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8401" y="973668"/>
            <a:ext cx="7170848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0" y="2603502"/>
            <a:ext cx="255277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938400" y="3179765"/>
            <a:ext cx="2552777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66586" y="2603500"/>
            <a:ext cx="255694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666586" y="3179764"/>
            <a:ext cx="2556945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409110" y="2603501"/>
            <a:ext cx="255590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6409267" y="3179763"/>
            <a:ext cx="2555748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578226" y="2569634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315076" y="2569634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2B7EF-F719-4EC2-9E00-118CD5224898}" type="datetimeFigureOut">
              <a:rPr lang="fr-FR" smtClean="0"/>
              <a:t>12/11/2019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EBB03-A4F5-4CD7-A39F-B03D750AB1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86905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8401" y="973668"/>
            <a:ext cx="7170848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0" y="4532844"/>
            <a:ext cx="247848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84324" y="2603500"/>
            <a:ext cx="2186634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938400" y="5109106"/>
            <a:ext cx="2478481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12203" y="4532845"/>
            <a:ext cx="2478481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58126" y="2603500"/>
            <a:ext cx="2186635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713265" y="5109105"/>
            <a:ext cx="2478481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486005" y="4532845"/>
            <a:ext cx="247901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632463" y="2603500"/>
            <a:ext cx="2186634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6486004" y="5109104"/>
            <a:ext cx="247901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3579738" y="2569634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6335714" y="2569634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2B7EF-F719-4EC2-9E00-118CD5224898}" type="datetimeFigureOut">
              <a:rPr lang="fr-FR" smtClean="0"/>
              <a:t>12/11/2019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5903" y="6391839"/>
            <a:ext cx="2960979" cy="304801"/>
          </a:xfrm>
        </p:spPr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EBB03-A4F5-4CD7-A39F-B03D750AB1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85338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8401" y="973668"/>
            <a:ext cx="7170848" cy="706964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38401" y="2603500"/>
            <a:ext cx="7170848" cy="3416300"/>
          </a:xfrm>
        </p:spPr>
        <p:txBody>
          <a:bodyPr vert="eaVert" anchor="t" anchorCtr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690044" y="6391839"/>
            <a:ext cx="804862" cy="304799"/>
          </a:xfrm>
        </p:spPr>
        <p:txBody>
          <a:bodyPr/>
          <a:lstStyle/>
          <a:p>
            <a:fld id="{6712B7EF-F719-4EC2-9E00-118CD5224898}" type="datetimeFigureOut">
              <a:rPr lang="fr-FR" smtClean="0"/>
              <a:t>12/11/2019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EBB03-A4F5-4CD7-A39F-B03D750AB1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70080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906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5504" y="1278467"/>
            <a:ext cx="1145597" cy="4748590"/>
          </a:xfrm>
        </p:spPr>
        <p:txBody>
          <a:bodyPr vert="eaVert" anchor="b" anchorCtr="0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38401" y="1278467"/>
            <a:ext cx="5083020" cy="4748590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655647" y="6391839"/>
            <a:ext cx="806110" cy="304799"/>
          </a:xfrm>
        </p:spPr>
        <p:txBody>
          <a:bodyPr/>
          <a:lstStyle/>
          <a:p>
            <a:fld id="{6712B7EF-F719-4EC2-9E00-118CD5224898}" type="datetimeFigureOut">
              <a:rPr lang="fr-FR" smtClean="0"/>
              <a:t>12/11/2019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4" name="Rectangle 13"/>
          <p:cNvSpPr/>
          <p:nvPr/>
        </p:nvSpPr>
        <p:spPr>
          <a:xfrm>
            <a:off x="8480722" y="0"/>
            <a:ext cx="557213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EBB03-A4F5-4CD7-A39F-B03D750AB1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2539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9906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938401" y="973668"/>
            <a:ext cx="7118648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2603500"/>
            <a:ext cx="7118648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55647" y="6391839"/>
            <a:ext cx="804862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6712B7EF-F719-4EC2-9E00-118CD5224898}" type="datetimeFigureOut">
              <a:rPr lang="fr-FR" smtClean="0"/>
              <a:t>12/11/2019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5903" y="6391839"/>
            <a:ext cx="3136083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fr-FR"/>
          </a:p>
        </p:txBody>
      </p:sp>
      <p:sp>
        <p:nvSpPr>
          <p:cNvPr id="21" name="Rectangle 20"/>
          <p:cNvSpPr/>
          <p:nvPr/>
        </p:nvSpPr>
        <p:spPr>
          <a:xfrm>
            <a:off x="8480722" y="0"/>
            <a:ext cx="557213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8411439" y="295730"/>
            <a:ext cx="681037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0BDEBB03-A4F5-4CD7-A39F-B03D750AB1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7665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iming>
    <p:tnLst>
      <p:par>
        <p:cTn id="1" dur="indefinite" restart="never" nodeType="tmRoot"/>
      </p:par>
    </p:tnLst>
  </p:timing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646415" y="526359"/>
            <a:ext cx="866781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3200" b="1" dirty="0" smtClean="0">
                <a:solidFill>
                  <a:schemeClr val="bg1"/>
                </a:solidFill>
              </a:rPr>
              <a:t>الجمهورية الجزائرية الديمقراطية الشعبية</a:t>
            </a:r>
          </a:p>
          <a:p>
            <a:pPr algn="ctr" rtl="1"/>
            <a:r>
              <a:rPr lang="ar-DZ" sz="3200" b="1" dirty="0" smtClean="0">
                <a:solidFill>
                  <a:schemeClr val="bg1"/>
                </a:solidFill>
              </a:rPr>
              <a:t>وزارة التربية الوطنية</a:t>
            </a:r>
            <a:endParaRPr lang="fr-FR" sz="3200" b="1" dirty="0" smtClean="0">
              <a:solidFill>
                <a:schemeClr val="bg1"/>
              </a:solidFill>
            </a:endParaRPr>
          </a:p>
          <a:p>
            <a:pPr algn="ctr" rtl="1"/>
            <a:r>
              <a:rPr lang="ar-DZ" sz="3200" b="1" dirty="0" smtClean="0">
                <a:solidFill>
                  <a:schemeClr val="bg1"/>
                </a:solidFill>
              </a:rPr>
              <a:t>المفتشية العامة للبيداغوجيا</a:t>
            </a:r>
          </a:p>
        </p:txBody>
      </p:sp>
      <p:sp>
        <p:nvSpPr>
          <p:cNvPr id="6" name="Organigramme : Multidocument 5"/>
          <p:cNvSpPr/>
          <p:nvPr/>
        </p:nvSpPr>
        <p:spPr>
          <a:xfrm>
            <a:off x="643760" y="0"/>
            <a:ext cx="1238259" cy="2000264"/>
          </a:xfrm>
          <a:prstGeom prst="flowChartMultidocument">
            <a:avLst/>
          </a:prstGeom>
          <a:solidFill>
            <a:schemeClr val="accent1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b="1" dirty="0" smtClean="0">
                <a:solidFill>
                  <a:prstClr val="white"/>
                </a:solidFill>
              </a:rPr>
              <a:t>علوم الطبيعة والحياة</a:t>
            </a:r>
            <a:endParaRPr lang="ar-SA" b="1" dirty="0">
              <a:solidFill>
                <a:prstClr val="white"/>
              </a:solidFill>
            </a:endParaRPr>
          </a:p>
        </p:txBody>
      </p:sp>
      <p:pic>
        <p:nvPicPr>
          <p:cNvPr id="7" name="Picture 2" descr="G:\IMAGES ET GIFS\758705algerie.gif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19034" y="535761"/>
            <a:ext cx="1160868" cy="1071570"/>
          </a:xfrm>
          <a:prstGeom prst="rect">
            <a:avLst/>
          </a:prstGeom>
          <a:noFill/>
        </p:spPr>
      </p:pic>
      <p:sp>
        <p:nvSpPr>
          <p:cNvPr id="9" name="Rectangle 8"/>
          <p:cNvSpPr/>
          <p:nvPr/>
        </p:nvSpPr>
        <p:spPr>
          <a:xfrm>
            <a:off x="1521595" y="2362200"/>
            <a:ext cx="6917449" cy="23241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ar-DZ" sz="3200" b="1" dirty="0" smtClean="0">
              <a:solidFill>
                <a:schemeClr val="bg1"/>
              </a:solidFill>
            </a:endParaRPr>
          </a:p>
        </p:txBody>
      </p:sp>
      <p:sp>
        <p:nvSpPr>
          <p:cNvPr id="11" name="Espace réservé du contenu 3"/>
          <p:cNvSpPr txBox="1">
            <a:spLocks/>
          </p:cNvSpPr>
          <p:nvPr/>
        </p:nvSpPr>
        <p:spPr bwMode="auto">
          <a:xfrm>
            <a:off x="867102" y="4110873"/>
            <a:ext cx="8048297" cy="6641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411163" indent="-342900" algn="r" rtl="1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r" rtl="1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r" rtl="1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r" rtl="1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r" rtl="1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411480" algn="ctr" eaLnBrk="1" fontAlgn="auto" hangingPunct="1">
              <a:spcAft>
                <a:spcPts val="0"/>
              </a:spcAft>
              <a:buClr>
                <a:srgbClr val="D6ECFF"/>
              </a:buClr>
              <a:buNone/>
              <a:defRPr/>
            </a:pPr>
            <a:r>
              <a:rPr lang="ar-DZ" sz="4400" b="1" dirty="0" smtClean="0">
                <a:solidFill>
                  <a:srgbClr val="FFFF00"/>
                </a:solidFill>
                <a:latin typeface="Corbel"/>
                <a:cs typeface="Arial" pitchFamily="34" charset="0"/>
              </a:rPr>
              <a:t>ممارسة المسعى العلمي في بناء </a:t>
            </a:r>
            <a:r>
              <a:rPr lang="ar-DZ" sz="4400" b="1" dirty="0" err="1" smtClean="0">
                <a:solidFill>
                  <a:srgbClr val="FFFF00"/>
                </a:solidFill>
                <a:latin typeface="Corbel"/>
                <a:cs typeface="Arial" pitchFamily="34" charset="0"/>
              </a:rPr>
              <a:t>التعلمات</a:t>
            </a:r>
            <a:endParaRPr kumimoji="0" lang="ar-DZ" sz="4400" b="1" i="0" u="none" strike="noStrike" kern="1200" cap="none" spc="0" normalizeH="0" baseline="0" noProof="0" dirty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orbel"/>
              <a:cs typeface="Arial" pitchFamily="34" charset="0"/>
            </a:endParaRPr>
          </a:p>
        </p:txBody>
      </p:sp>
      <p:sp>
        <p:nvSpPr>
          <p:cNvPr id="12" name="Rectangle à coins arrondis 11"/>
          <p:cNvSpPr/>
          <p:nvPr/>
        </p:nvSpPr>
        <p:spPr>
          <a:xfrm>
            <a:off x="2542532" y="2350360"/>
            <a:ext cx="4878304" cy="135732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DZ" sz="2400" b="1" dirty="0" smtClean="0">
                <a:solidFill>
                  <a:schemeClr val="tx1"/>
                </a:solidFill>
              </a:rPr>
              <a:t>يوم تكويني لأساتذة مادة علوم الطبيعة والحياة</a:t>
            </a:r>
          </a:p>
          <a:p>
            <a:pPr algn="ctr" rtl="1"/>
            <a:r>
              <a:rPr lang="ar-DZ" sz="2400" b="1" dirty="0" smtClean="0">
                <a:solidFill>
                  <a:schemeClr val="tx1"/>
                </a:solidFill>
              </a:rPr>
              <a:t>ثانوية</a:t>
            </a:r>
            <a:r>
              <a:rPr lang="fr-FR" sz="2400" b="1" dirty="0" smtClean="0">
                <a:solidFill>
                  <a:schemeClr val="tx1"/>
                </a:solidFill>
              </a:rPr>
              <a:t> </a:t>
            </a:r>
            <a:r>
              <a:rPr lang="ar-DZ" sz="2400" b="1" dirty="0">
                <a:solidFill>
                  <a:schemeClr val="tx1"/>
                </a:solidFill>
              </a:rPr>
              <a:t> </a:t>
            </a:r>
            <a:r>
              <a:rPr lang="ar-DZ" sz="2400" b="1" dirty="0" smtClean="0">
                <a:solidFill>
                  <a:schemeClr val="tx1"/>
                </a:solidFill>
              </a:rPr>
              <a:t>لعزب أحمد/ جديوية</a:t>
            </a:r>
          </a:p>
          <a:p>
            <a:pPr algn="ctr" rtl="1"/>
            <a:r>
              <a:rPr lang="ar-DZ" sz="2400" b="1" dirty="0" smtClean="0">
                <a:solidFill>
                  <a:schemeClr val="tx1"/>
                </a:solidFill>
              </a:rPr>
              <a:t>20 فيفري 2019</a:t>
            </a:r>
            <a:endParaRPr lang="fr-FR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7956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00051" y="514350"/>
            <a:ext cx="8000999" cy="1166282"/>
          </a:xfrm>
        </p:spPr>
        <p:txBody>
          <a:bodyPr/>
          <a:lstStyle/>
          <a:p>
            <a:pPr algn="ctr" rtl="1"/>
            <a:r>
              <a:rPr lang="ar-DZ" sz="2800" dirty="0" smtClean="0"/>
              <a:t>النشاط (2</a:t>
            </a:r>
            <a:r>
              <a:rPr lang="ar-DZ" sz="2800" dirty="0"/>
              <a:t>): </a:t>
            </a:r>
            <a:r>
              <a:rPr lang="ar-DZ" sz="2800" dirty="0" smtClean="0"/>
              <a:t>تصنيف </a:t>
            </a:r>
            <a:r>
              <a:rPr lang="ar-DZ" sz="2800" dirty="0"/>
              <a:t>المهمات </a:t>
            </a:r>
            <a:r>
              <a:rPr lang="ar-DZ" sz="2800" dirty="0" smtClean="0"/>
              <a:t>حسب </a:t>
            </a:r>
            <a:r>
              <a:rPr lang="ar-DZ" sz="2800" dirty="0"/>
              <a:t>الكفاءة المجندة في ممارسة المسعى </a:t>
            </a:r>
            <a:r>
              <a:rPr lang="ar-DZ" sz="2800" dirty="0" smtClean="0"/>
              <a:t>العلمي مع  تحديد طبيعتها</a:t>
            </a:r>
            <a:endParaRPr lang="fr-FR" sz="2800" dirty="0"/>
          </a:p>
        </p:txBody>
      </p:sp>
      <p:graphicFrame>
        <p:nvGraphicFramePr>
          <p:cNvPr id="6" name="Tableau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9113574"/>
              </p:ext>
            </p:extLst>
          </p:nvPr>
        </p:nvGraphicFramePr>
        <p:xfrm>
          <a:off x="190500" y="1619252"/>
          <a:ext cx="9448800" cy="5132426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607002"/>
                <a:gridCol w="6166180"/>
                <a:gridCol w="1020485"/>
                <a:gridCol w="1655133"/>
              </a:tblGrid>
              <a:tr h="783369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رقم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نشاطات لأداء مهمات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الكفاءة المجندة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مهمة</a:t>
                      </a:r>
                      <a:endParaRPr lang="fr-FR" sz="2200" b="1">
                        <a:effectLst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 مركبة/ بسيطة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404680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1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200" b="1" smtClean="0">
                          <a:effectLst/>
                        </a:rPr>
                        <a:t> </a:t>
                      </a:r>
                      <a:r>
                        <a:rPr lang="ar-SA" sz="2200" b="1" smtClean="0">
                          <a:effectLst/>
                        </a:rPr>
                        <a:t>يقدم تقريرا عن المسعى بالشفهي والكتابي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404680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2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200" b="1">
                          <a:effectLst/>
                        </a:rPr>
                        <a:t> </a:t>
                      </a:r>
                      <a:r>
                        <a:rPr lang="ar-SA" sz="2200" b="1">
                          <a:effectLst/>
                        </a:rPr>
                        <a:t>يراقب مدى صحة: فرضية، نتيجة، معلومة، خاصية، نموذج</a:t>
                      </a:r>
                      <a:r>
                        <a:rPr lang="fr-FR" sz="2200" b="1">
                          <a:effectLst/>
                        </a:rPr>
                        <a:t>...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404680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3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 anchor="ctr"/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 يتحكم في تكنولوجيا الإعلام الآلي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404680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4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200" b="1">
                          <a:effectLst/>
                        </a:rPr>
                        <a:t> </a:t>
                      </a:r>
                      <a:r>
                        <a:rPr lang="ar-SA" sz="2200" b="1">
                          <a:effectLst/>
                        </a:rPr>
                        <a:t>يقوم بمعالجة إحصائية لمجموعة قياسات 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783369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5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يتعرف على المفردات العلمية والرموز والوحدات والمقاييس المرتبطة بالوضعية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404680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6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200" b="1">
                          <a:effectLst/>
                        </a:rPr>
                        <a:t> </a:t>
                      </a:r>
                      <a:r>
                        <a:rPr lang="ar-SA" sz="2200" b="1">
                          <a:effectLst/>
                        </a:rPr>
                        <a:t>يصمم ، يختار ويستعمل نموذجا مكيفا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378688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7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يحدد العوامل والمتغيرات ذات الصلة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 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378688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8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 anchor="ctr"/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 يميز بين المعطيات الأساسية والثانوية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378688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9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 يحدد الأهداف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378688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10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 smtClean="0">
                          <a:effectLst/>
                        </a:rPr>
                        <a:t>يقدم النتائج، الإجابة بطريقة مكيفة بتعبير علمي ولغوي دقيق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 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</a:tbl>
          </a:graphicData>
        </a:graphic>
      </p:graphicFrame>
      <p:sp>
        <p:nvSpPr>
          <p:cNvPr id="7" name="ZoneTexte 6"/>
          <p:cNvSpPr txBox="1"/>
          <p:nvPr/>
        </p:nvSpPr>
        <p:spPr>
          <a:xfrm>
            <a:off x="1981200" y="2419350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COM</a:t>
            </a:r>
            <a:endParaRPr lang="fr-FR" dirty="0"/>
          </a:p>
        </p:txBody>
      </p:sp>
      <p:sp>
        <p:nvSpPr>
          <p:cNvPr id="8" name="ZoneTexte 7"/>
          <p:cNvSpPr txBox="1"/>
          <p:nvPr/>
        </p:nvSpPr>
        <p:spPr>
          <a:xfrm>
            <a:off x="381000" y="2419350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مركبة</a:t>
            </a:r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1981200" y="2834164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VAL</a:t>
            </a:r>
            <a:endParaRPr lang="fr-FR" dirty="0"/>
          </a:p>
        </p:txBody>
      </p:sp>
      <p:sp>
        <p:nvSpPr>
          <p:cNvPr id="10" name="ZoneTexte 9"/>
          <p:cNvSpPr txBox="1"/>
          <p:nvPr/>
        </p:nvSpPr>
        <p:spPr>
          <a:xfrm>
            <a:off x="381000" y="2815114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مركبة</a:t>
            </a:r>
            <a:endParaRPr lang="fr-FR" dirty="0"/>
          </a:p>
        </p:txBody>
      </p:sp>
      <p:sp>
        <p:nvSpPr>
          <p:cNvPr id="11" name="ZoneTexte 10"/>
          <p:cNvSpPr txBox="1"/>
          <p:nvPr/>
        </p:nvSpPr>
        <p:spPr>
          <a:xfrm>
            <a:off x="1981200" y="3244692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COM</a:t>
            </a:r>
            <a:endParaRPr lang="fr-FR" dirty="0"/>
          </a:p>
        </p:txBody>
      </p:sp>
      <p:sp>
        <p:nvSpPr>
          <p:cNvPr id="12" name="ZoneTexte 11"/>
          <p:cNvSpPr txBox="1"/>
          <p:nvPr/>
        </p:nvSpPr>
        <p:spPr>
          <a:xfrm>
            <a:off x="381000" y="3253622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مركبة</a:t>
            </a:r>
            <a:endParaRPr lang="fr-FR" dirty="0"/>
          </a:p>
        </p:txBody>
      </p:sp>
      <p:sp>
        <p:nvSpPr>
          <p:cNvPr id="13" name="ZoneTexte 12"/>
          <p:cNvSpPr txBox="1"/>
          <p:nvPr/>
        </p:nvSpPr>
        <p:spPr>
          <a:xfrm>
            <a:off x="1981200" y="3622954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VAL</a:t>
            </a:r>
            <a:endParaRPr lang="fr-FR" dirty="0"/>
          </a:p>
        </p:txBody>
      </p:sp>
      <p:sp>
        <p:nvSpPr>
          <p:cNvPr id="14" name="ZoneTexte 13"/>
          <p:cNvSpPr txBox="1"/>
          <p:nvPr/>
        </p:nvSpPr>
        <p:spPr>
          <a:xfrm>
            <a:off x="381000" y="3656294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مركبة</a:t>
            </a:r>
            <a:endParaRPr lang="fr-FR" dirty="0"/>
          </a:p>
        </p:txBody>
      </p:sp>
      <p:sp>
        <p:nvSpPr>
          <p:cNvPr id="15" name="ZoneTexte 14"/>
          <p:cNvSpPr txBox="1"/>
          <p:nvPr/>
        </p:nvSpPr>
        <p:spPr>
          <a:xfrm>
            <a:off x="1981200" y="4144686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APP</a:t>
            </a:r>
            <a:endParaRPr lang="fr-FR" dirty="0"/>
          </a:p>
        </p:txBody>
      </p:sp>
      <p:sp>
        <p:nvSpPr>
          <p:cNvPr id="16" name="ZoneTexte 15"/>
          <p:cNvSpPr txBox="1"/>
          <p:nvPr/>
        </p:nvSpPr>
        <p:spPr>
          <a:xfrm>
            <a:off x="381000" y="4226962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بسيطة</a:t>
            </a:r>
            <a:endParaRPr lang="fr-FR" dirty="0"/>
          </a:p>
        </p:txBody>
      </p:sp>
      <p:sp>
        <p:nvSpPr>
          <p:cNvPr id="17" name="ZoneTexte 16"/>
          <p:cNvSpPr txBox="1"/>
          <p:nvPr/>
        </p:nvSpPr>
        <p:spPr>
          <a:xfrm>
            <a:off x="1981200" y="4785004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ANA</a:t>
            </a:r>
            <a:endParaRPr lang="fr-FR" dirty="0"/>
          </a:p>
        </p:txBody>
      </p:sp>
      <p:sp>
        <p:nvSpPr>
          <p:cNvPr id="18" name="ZoneTexte 17"/>
          <p:cNvSpPr txBox="1"/>
          <p:nvPr/>
        </p:nvSpPr>
        <p:spPr>
          <a:xfrm>
            <a:off x="381000" y="4785004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مركبة</a:t>
            </a:r>
            <a:endParaRPr lang="fr-FR" dirty="0"/>
          </a:p>
        </p:txBody>
      </p:sp>
      <p:sp>
        <p:nvSpPr>
          <p:cNvPr id="19" name="ZoneTexte 18"/>
          <p:cNvSpPr txBox="1"/>
          <p:nvPr/>
        </p:nvSpPr>
        <p:spPr>
          <a:xfrm>
            <a:off x="1981200" y="5122070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ANA</a:t>
            </a:r>
            <a:endParaRPr lang="fr-FR" dirty="0"/>
          </a:p>
        </p:txBody>
      </p:sp>
      <p:sp>
        <p:nvSpPr>
          <p:cNvPr id="20" name="ZoneTexte 19"/>
          <p:cNvSpPr txBox="1"/>
          <p:nvPr/>
        </p:nvSpPr>
        <p:spPr>
          <a:xfrm>
            <a:off x="381000" y="5154336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بسيطة</a:t>
            </a:r>
            <a:endParaRPr lang="fr-FR" dirty="0"/>
          </a:p>
        </p:txBody>
      </p:sp>
      <p:sp>
        <p:nvSpPr>
          <p:cNvPr id="21" name="ZoneTexte 20"/>
          <p:cNvSpPr txBox="1"/>
          <p:nvPr/>
        </p:nvSpPr>
        <p:spPr>
          <a:xfrm>
            <a:off x="1981200" y="5523668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APP</a:t>
            </a:r>
            <a:endParaRPr lang="fr-FR" dirty="0"/>
          </a:p>
        </p:txBody>
      </p:sp>
      <p:sp>
        <p:nvSpPr>
          <p:cNvPr id="22" name="ZoneTexte 21"/>
          <p:cNvSpPr txBox="1"/>
          <p:nvPr/>
        </p:nvSpPr>
        <p:spPr>
          <a:xfrm>
            <a:off x="381000" y="5553554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بسيطة</a:t>
            </a:r>
            <a:endParaRPr lang="fr-FR" dirty="0"/>
          </a:p>
        </p:txBody>
      </p:sp>
      <p:sp>
        <p:nvSpPr>
          <p:cNvPr id="23" name="ZoneTexte 22"/>
          <p:cNvSpPr txBox="1"/>
          <p:nvPr/>
        </p:nvSpPr>
        <p:spPr>
          <a:xfrm>
            <a:off x="1981200" y="5922886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APP</a:t>
            </a:r>
            <a:endParaRPr lang="fr-FR" dirty="0"/>
          </a:p>
        </p:txBody>
      </p:sp>
      <p:sp>
        <p:nvSpPr>
          <p:cNvPr id="24" name="ZoneTexte 23"/>
          <p:cNvSpPr txBox="1"/>
          <p:nvPr/>
        </p:nvSpPr>
        <p:spPr>
          <a:xfrm>
            <a:off x="381000" y="5986586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بسيطة</a:t>
            </a:r>
            <a:endParaRPr lang="fr-FR" dirty="0"/>
          </a:p>
        </p:txBody>
      </p:sp>
      <p:sp>
        <p:nvSpPr>
          <p:cNvPr id="25" name="ZoneTexte 24"/>
          <p:cNvSpPr txBox="1"/>
          <p:nvPr/>
        </p:nvSpPr>
        <p:spPr>
          <a:xfrm>
            <a:off x="1981200" y="6320198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COM</a:t>
            </a:r>
            <a:endParaRPr lang="fr-FR" dirty="0"/>
          </a:p>
        </p:txBody>
      </p:sp>
      <p:sp>
        <p:nvSpPr>
          <p:cNvPr id="26" name="ZoneTexte 25"/>
          <p:cNvSpPr txBox="1"/>
          <p:nvPr/>
        </p:nvSpPr>
        <p:spPr>
          <a:xfrm>
            <a:off x="381000" y="6292218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مركبة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88608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00051" y="514350"/>
            <a:ext cx="8000999" cy="1166282"/>
          </a:xfrm>
        </p:spPr>
        <p:txBody>
          <a:bodyPr/>
          <a:lstStyle/>
          <a:p>
            <a:pPr algn="ctr" rtl="1"/>
            <a:r>
              <a:rPr lang="ar-DZ" sz="2800" dirty="0" smtClean="0"/>
              <a:t>النشاط (2</a:t>
            </a:r>
            <a:r>
              <a:rPr lang="ar-DZ" sz="2800" dirty="0"/>
              <a:t>): </a:t>
            </a:r>
            <a:r>
              <a:rPr lang="ar-DZ" sz="2800" dirty="0" smtClean="0"/>
              <a:t>تصنيف </a:t>
            </a:r>
            <a:r>
              <a:rPr lang="ar-DZ" sz="2800" dirty="0"/>
              <a:t>المهمات </a:t>
            </a:r>
            <a:r>
              <a:rPr lang="ar-DZ" sz="2800" dirty="0" smtClean="0"/>
              <a:t>حسب </a:t>
            </a:r>
            <a:r>
              <a:rPr lang="ar-DZ" sz="2800" dirty="0"/>
              <a:t>الكفاءة المجندة في ممارسة المسعى </a:t>
            </a:r>
            <a:r>
              <a:rPr lang="ar-DZ" sz="2800" dirty="0" smtClean="0"/>
              <a:t>العلمي مع  تحديد طبيعتها</a:t>
            </a:r>
            <a:endParaRPr lang="fr-FR" sz="2800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3274805"/>
              </p:ext>
            </p:extLst>
          </p:nvPr>
        </p:nvGraphicFramePr>
        <p:xfrm>
          <a:off x="247650" y="1949831"/>
          <a:ext cx="9391650" cy="4767808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603331"/>
                <a:gridCol w="6128884"/>
                <a:gridCol w="1014313"/>
                <a:gridCol w="1645122"/>
              </a:tblGrid>
              <a:tr h="792628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رقم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نشاطات لأداء مهمات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الكفاءة المجندة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مهمة</a:t>
                      </a:r>
                      <a:endParaRPr lang="fr-FR" sz="2200" b="1" dirty="0">
                        <a:effectLst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 مركبة/ بسيطة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383164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11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200" b="1" dirty="0" smtClean="0">
                          <a:effectLst/>
                        </a:rPr>
                        <a:t>يناقش النتائج، الفرضيات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383164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12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200" b="1" dirty="0" smtClean="0">
                          <a:effectLst/>
                        </a:rPr>
                        <a:t>ي</a:t>
                      </a:r>
                      <a:r>
                        <a:rPr lang="ar-SA" sz="2200" b="1" dirty="0" smtClean="0">
                          <a:effectLst/>
                        </a:rPr>
                        <a:t>قدم </a:t>
                      </a:r>
                      <a:r>
                        <a:rPr lang="ar-SA" sz="2200" b="1" dirty="0">
                          <a:effectLst/>
                        </a:rPr>
                        <a:t>المعلومات بطريقة مختصرة </a:t>
                      </a:r>
                      <a:r>
                        <a:rPr lang="ar-SA" sz="2200" b="1" dirty="0" err="1" smtClean="0">
                          <a:effectLst/>
                        </a:rPr>
                        <a:t>ومهيكلة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383164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13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 anchor="ctr"/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200" b="1" dirty="0" smtClean="0">
                          <a:effectLst/>
                        </a:rPr>
                        <a:t>يتأكد من أنه أجاب على التعليمة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409464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14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يختار طريقة الحل، يختار برتوكولا تجريبيا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409464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15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200" b="1">
                          <a:effectLst/>
                        </a:rPr>
                        <a:t> </a:t>
                      </a:r>
                      <a:r>
                        <a:rPr lang="ar-SA" sz="2200" b="1">
                          <a:effectLst/>
                        </a:rPr>
                        <a:t>يقترح فرضية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383164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16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يقوم باستدلال علمي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383164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17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يستعمل الأدوات بطريقة صحيحة وعقلانية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 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409464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18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 يترجم فكرة ، ملاحظة ، رسم ، جدول … إلى </a:t>
                      </a:r>
                      <a:r>
                        <a:rPr lang="ar-SA" sz="2200" b="1" dirty="0" smtClean="0">
                          <a:effectLst/>
                        </a:rPr>
                        <a:t>نص</a:t>
                      </a:r>
                      <a:r>
                        <a:rPr lang="fr-FR" sz="2200" b="1" dirty="0" smtClean="0">
                          <a:effectLst/>
                        </a:rPr>
                        <a:t> </a:t>
                      </a:r>
                      <a:r>
                        <a:rPr lang="fr-FR" sz="2200" b="1" dirty="0">
                          <a:effectLst/>
                        </a:rPr>
                        <a:t>.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409464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19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 يمثل الملاحظات </a:t>
                      </a:r>
                      <a:r>
                        <a:rPr lang="ar-SA" sz="2200" b="1" dirty="0" smtClean="0">
                          <a:effectLst/>
                        </a:rPr>
                        <a:t>برسم</a:t>
                      </a:r>
                      <a:r>
                        <a:rPr lang="ar-DZ" sz="2200" b="1" baseline="0" dirty="0" smtClean="0">
                          <a:effectLst/>
                        </a:rPr>
                        <a:t> تخطيطي</a:t>
                      </a:r>
                      <a:r>
                        <a:rPr lang="ar-DZ" sz="2200" b="1" dirty="0" smtClean="0">
                          <a:effectLst/>
                        </a:rPr>
                        <a:t> 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409464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20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 يفسر النتائج، يبحث عن مصادر الخطأ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</a:tbl>
          </a:graphicData>
        </a:graphic>
      </p:graphicFrame>
      <p:sp>
        <p:nvSpPr>
          <p:cNvPr id="4" name="ZoneTexte 3"/>
          <p:cNvSpPr txBox="1"/>
          <p:nvPr/>
        </p:nvSpPr>
        <p:spPr>
          <a:xfrm>
            <a:off x="2019300" y="2814998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VAL</a:t>
            </a:r>
            <a:endParaRPr lang="fr-FR" dirty="0"/>
          </a:p>
        </p:txBody>
      </p:sp>
      <p:sp>
        <p:nvSpPr>
          <p:cNvPr id="6" name="ZoneTexte 5"/>
          <p:cNvSpPr txBox="1"/>
          <p:nvPr/>
        </p:nvSpPr>
        <p:spPr>
          <a:xfrm>
            <a:off x="571500" y="2801666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مركبة</a:t>
            </a:r>
            <a:endParaRPr lang="fr-FR" dirty="0"/>
          </a:p>
        </p:txBody>
      </p:sp>
      <p:sp>
        <p:nvSpPr>
          <p:cNvPr id="7" name="ZoneTexte 6"/>
          <p:cNvSpPr txBox="1"/>
          <p:nvPr/>
        </p:nvSpPr>
        <p:spPr>
          <a:xfrm>
            <a:off x="2019300" y="3198978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COM</a:t>
            </a:r>
            <a:endParaRPr lang="fr-FR" dirty="0"/>
          </a:p>
        </p:txBody>
      </p:sp>
      <p:sp>
        <p:nvSpPr>
          <p:cNvPr id="8" name="ZoneTexte 7"/>
          <p:cNvSpPr txBox="1"/>
          <p:nvPr/>
        </p:nvSpPr>
        <p:spPr>
          <a:xfrm>
            <a:off x="571500" y="3226726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مركبة</a:t>
            </a:r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2019300" y="3596058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VAL</a:t>
            </a:r>
            <a:endParaRPr lang="fr-FR" dirty="0"/>
          </a:p>
        </p:txBody>
      </p:sp>
      <p:sp>
        <p:nvSpPr>
          <p:cNvPr id="10" name="ZoneTexte 9"/>
          <p:cNvSpPr txBox="1"/>
          <p:nvPr/>
        </p:nvSpPr>
        <p:spPr>
          <a:xfrm>
            <a:off x="571500" y="3542024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مركبة</a:t>
            </a:r>
            <a:endParaRPr lang="fr-FR" dirty="0"/>
          </a:p>
        </p:txBody>
      </p:sp>
      <p:sp>
        <p:nvSpPr>
          <p:cNvPr id="11" name="ZoneTexte 10"/>
          <p:cNvSpPr txBox="1"/>
          <p:nvPr/>
        </p:nvSpPr>
        <p:spPr>
          <a:xfrm>
            <a:off x="2019300" y="4006480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REA</a:t>
            </a:r>
            <a:endParaRPr lang="fr-FR" dirty="0"/>
          </a:p>
        </p:txBody>
      </p:sp>
      <p:sp>
        <p:nvSpPr>
          <p:cNvPr id="12" name="ZoneTexte 11"/>
          <p:cNvSpPr txBox="1"/>
          <p:nvPr/>
        </p:nvSpPr>
        <p:spPr>
          <a:xfrm>
            <a:off x="571500" y="4006480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مركبة</a:t>
            </a:r>
            <a:endParaRPr lang="fr-FR" dirty="0"/>
          </a:p>
        </p:txBody>
      </p:sp>
      <p:sp>
        <p:nvSpPr>
          <p:cNvPr id="13" name="ZoneTexte 12"/>
          <p:cNvSpPr txBox="1"/>
          <p:nvPr/>
        </p:nvSpPr>
        <p:spPr>
          <a:xfrm>
            <a:off x="2019300" y="4375812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ANA</a:t>
            </a:r>
            <a:endParaRPr lang="fr-FR" dirty="0"/>
          </a:p>
        </p:txBody>
      </p:sp>
      <p:sp>
        <p:nvSpPr>
          <p:cNvPr id="14" name="ZoneTexte 13"/>
          <p:cNvSpPr txBox="1"/>
          <p:nvPr/>
        </p:nvSpPr>
        <p:spPr>
          <a:xfrm>
            <a:off x="571500" y="4381792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بسيطة</a:t>
            </a:r>
            <a:endParaRPr lang="fr-FR" dirty="0"/>
          </a:p>
        </p:txBody>
      </p:sp>
      <p:sp>
        <p:nvSpPr>
          <p:cNvPr id="15" name="ZoneTexte 14"/>
          <p:cNvSpPr txBox="1"/>
          <p:nvPr/>
        </p:nvSpPr>
        <p:spPr>
          <a:xfrm>
            <a:off x="2019300" y="4739456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ANA</a:t>
            </a:r>
            <a:endParaRPr lang="fr-FR" dirty="0"/>
          </a:p>
        </p:txBody>
      </p:sp>
      <p:sp>
        <p:nvSpPr>
          <p:cNvPr id="16" name="ZoneTexte 15"/>
          <p:cNvSpPr txBox="1"/>
          <p:nvPr/>
        </p:nvSpPr>
        <p:spPr>
          <a:xfrm>
            <a:off x="571500" y="4732346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مركبة</a:t>
            </a:r>
            <a:endParaRPr lang="fr-FR" dirty="0"/>
          </a:p>
        </p:txBody>
      </p:sp>
      <p:sp>
        <p:nvSpPr>
          <p:cNvPr id="17" name="ZoneTexte 16"/>
          <p:cNvSpPr txBox="1"/>
          <p:nvPr/>
        </p:nvSpPr>
        <p:spPr>
          <a:xfrm>
            <a:off x="2019300" y="5133818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REA</a:t>
            </a:r>
            <a:endParaRPr lang="fr-FR" dirty="0"/>
          </a:p>
        </p:txBody>
      </p:sp>
      <p:sp>
        <p:nvSpPr>
          <p:cNvPr id="18" name="ZoneTexte 17"/>
          <p:cNvSpPr txBox="1"/>
          <p:nvPr/>
        </p:nvSpPr>
        <p:spPr>
          <a:xfrm>
            <a:off x="571500" y="5139798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بسيطة</a:t>
            </a:r>
            <a:endParaRPr lang="fr-FR" dirty="0"/>
          </a:p>
        </p:txBody>
      </p:sp>
      <p:sp>
        <p:nvSpPr>
          <p:cNvPr id="19" name="ZoneTexte 18"/>
          <p:cNvSpPr txBox="1"/>
          <p:nvPr/>
        </p:nvSpPr>
        <p:spPr>
          <a:xfrm>
            <a:off x="2019300" y="5539828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COM</a:t>
            </a:r>
            <a:endParaRPr lang="fr-FR" dirty="0"/>
          </a:p>
        </p:txBody>
      </p:sp>
      <p:sp>
        <p:nvSpPr>
          <p:cNvPr id="20" name="ZoneTexte 19"/>
          <p:cNvSpPr txBox="1"/>
          <p:nvPr/>
        </p:nvSpPr>
        <p:spPr>
          <a:xfrm>
            <a:off x="571500" y="5539828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مركبة</a:t>
            </a:r>
            <a:endParaRPr lang="fr-FR" dirty="0"/>
          </a:p>
        </p:txBody>
      </p:sp>
      <p:sp>
        <p:nvSpPr>
          <p:cNvPr id="21" name="ZoneTexte 20"/>
          <p:cNvSpPr txBox="1"/>
          <p:nvPr/>
        </p:nvSpPr>
        <p:spPr>
          <a:xfrm>
            <a:off x="2019300" y="5886388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COM</a:t>
            </a:r>
            <a:endParaRPr lang="fr-FR" dirty="0"/>
          </a:p>
        </p:txBody>
      </p:sp>
      <p:sp>
        <p:nvSpPr>
          <p:cNvPr id="22" name="ZoneTexte 21"/>
          <p:cNvSpPr txBox="1"/>
          <p:nvPr/>
        </p:nvSpPr>
        <p:spPr>
          <a:xfrm>
            <a:off x="571500" y="5876894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مركبة</a:t>
            </a:r>
            <a:endParaRPr lang="fr-FR" dirty="0"/>
          </a:p>
        </p:txBody>
      </p:sp>
      <p:sp>
        <p:nvSpPr>
          <p:cNvPr id="23" name="ZoneTexte 22"/>
          <p:cNvSpPr txBox="1"/>
          <p:nvPr/>
        </p:nvSpPr>
        <p:spPr>
          <a:xfrm>
            <a:off x="2019300" y="6255720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VAL</a:t>
            </a:r>
            <a:endParaRPr lang="fr-FR" dirty="0"/>
          </a:p>
        </p:txBody>
      </p:sp>
      <p:sp>
        <p:nvSpPr>
          <p:cNvPr id="24" name="ZoneTexte 23"/>
          <p:cNvSpPr txBox="1"/>
          <p:nvPr/>
        </p:nvSpPr>
        <p:spPr>
          <a:xfrm>
            <a:off x="571500" y="6255720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مركبة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35164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00051" y="438150"/>
            <a:ext cx="8000999" cy="1166282"/>
          </a:xfrm>
        </p:spPr>
        <p:txBody>
          <a:bodyPr/>
          <a:lstStyle/>
          <a:p>
            <a:pPr algn="ctr" rtl="1"/>
            <a:r>
              <a:rPr lang="ar-DZ" sz="2800" dirty="0" smtClean="0"/>
              <a:t>النشاط (2</a:t>
            </a:r>
            <a:r>
              <a:rPr lang="ar-DZ" sz="2800" dirty="0"/>
              <a:t>): </a:t>
            </a:r>
            <a:r>
              <a:rPr lang="ar-DZ" sz="2800" dirty="0" smtClean="0"/>
              <a:t>تصنيف </a:t>
            </a:r>
            <a:r>
              <a:rPr lang="ar-DZ" sz="2800" dirty="0"/>
              <a:t>المهمات </a:t>
            </a:r>
            <a:r>
              <a:rPr lang="ar-DZ" sz="2800" dirty="0" smtClean="0"/>
              <a:t>حسب </a:t>
            </a:r>
            <a:r>
              <a:rPr lang="ar-DZ" sz="2800" dirty="0"/>
              <a:t>الكفاءة المجندة في ممارسة المسعى </a:t>
            </a:r>
            <a:r>
              <a:rPr lang="ar-DZ" sz="2800" dirty="0" smtClean="0"/>
              <a:t>العلمي مع  تحديد طبيعتها</a:t>
            </a:r>
            <a:endParaRPr lang="fr-FR" sz="2800" dirty="0"/>
          </a:p>
        </p:txBody>
      </p:sp>
      <p:graphicFrame>
        <p:nvGraphicFramePr>
          <p:cNvPr id="3" name="Tableau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101756"/>
              </p:ext>
            </p:extLst>
          </p:nvPr>
        </p:nvGraphicFramePr>
        <p:xfrm>
          <a:off x="171450" y="1505712"/>
          <a:ext cx="9639300" cy="5422746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700696"/>
                <a:gridCol w="5739391"/>
                <a:gridCol w="1199390"/>
                <a:gridCol w="1999823"/>
              </a:tblGrid>
              <a:tr h="779390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رقم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نشاطات لأداء مهمات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الكفاءة المجندة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مهمة</a:t>
                      </a:r>
                      <a:endParaRPr lang="fr-FR" sz="2200" b="1" dirty="0">
                        <a:effectLst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 مركبة/ بسيطة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</a:tr>
              <a:tr h="779390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21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200" b="1">
                          <a:effectLst/>
                        </a:rPr>
                        <a:t> </a:t>
                      </a:r>
                      <a:r>
                        <a:rPr lang="ar-SA" sz="2200" b="1">
                          <a:effectLst/>
                        </a:rPr>
                        <a:t>يواجه نموذجا بالنتائج التجريبية: يتحقق من انسجام النتائج المتحصل عليها مع تلك المتوقعة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200" b="1" dirty="0">
                          <a:effectLst/>
                        </a:rPr>
                        <a:t> 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779390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22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 يقدم الأعمال ( تقارير ، بحوث ، عروض… ) بدقة وعناية ونظام .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376765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23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يتحكم في التقنيات، يستعمل تقنيات الملاحظة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376765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24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 anchor="ctr"/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 </a:t>
                      </a:r>
                      <a:r>
                        <a:rPr lang="ar-SA" sz="2200" b="1" dirty="0" smtClean="0">
                          <a:effectLst/>
                        </a:rPr>
                        <a:t>يعلل </a:t>
                      </a:r>
                      <a:r>
                        <a:rPr lang="ar-DZ" sz="2200" b="1" dirty="0" smtClean="0">
                          <a:effectLst/>
                        </a:rPr>
                        <a:t> خطوات البروتوكول التجريبي</a:t>
                      </a:r>
                      <a:r>
                        <a:rPr lang="ar-SA" sz="2200" b="1" dirty="0" smtClean="0">
                          <a:effectLst/>
                        </a:rPr>
                        <a:t> 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376765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25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يتعرف على العوامل المؤثرة في الظاهرة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376765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26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يفحص </a:t>
                      </a:r>
                      <a:r>
                        <a:rPr lang="ar-SA" sz="2200" b="1" dirty="0" smtClean="0">
                          <a:effectLst/>
                        </a:rPr>
                        <a:t>المعطيات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376765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27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 anchor="ctr"/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 يختار المعلومات التي لها علاقة بالمشكلة 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376765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28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 anchor="ctr"/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 يستعمل المفاهيم والمفردات العلمية المناسبة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376765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29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 anchor="ctr"/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 ينقد النتائج، ينقد طريقة الاستدلال، يستدل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376765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30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 anchor="ctr"/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 يقدر دقة القياس أو الارتياب في القياس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200" b="1" dirty="0">
                          <a:effectLst/>
                        </a:rPr>
                        <a:t> 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</a:tbl>
          </a:graphicData>
        </a:graphic>
      </p:graphicFrame>
      <p:sp>
        <p:nvSpPr>
          <p:cNvPr id="4" name="ZoneTexte 3"/>
          <p:cNvSpPr txBox="1"/>
          <p:nvPr/>
        </p:nvSpPr>
        <p:spPr>
          <a:xfrm>
            <a:off x="2343150" y="2445720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VAL</a:t>
            </a:r>
            <a:endParaRPr lang="fr-FR" dirty="0"/>
          </a:p>
        </p:txBody>
      </p:sp>
      <p:sp>
        <p:nvSpPr>
          <p:cNvPr id="5" name="ZoneTexte 4"/>
          <p:cNvSpPr txBox="1"/>
          <p:nvPr/>
        </p:nvSpPr>
        <p:spPr>
          <a:xfrm>
            <a:off x="590550" y="2491140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مركبة</a:t>
            </a:r>
            <a:endParaRPr lang="fr-FR" dirty="0"/>
          </a:p>
        </p:txBody>
      </p:sp>
      <p:sp>
        <p:nvSpPr>
          <p:cNvPr id="6" name="ZoneTexte 5"/>
          <p:cNvSpPr txBox="1"/>
          <p:nvPr/>
        </p:nvSpPr>
        <p:spPr>
          <a:xfrm>
            <a:off x="2343150" y="3294354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COM</a:t>
            </a:r>
            <a:endParaRPr lang="fr-FR" dirty="0"/>
          </a:p>
        </p:txBody>
      </p:sp>
      <p:sp>
        <p:nvSpPr>
          <p:cNvPr id="7" name="ZoneTexte 6"/>
          <p:cNvSpPr txBox="1"/>
          <p:nvPr/>
        </p:nvSpPr>
        <p:spPr>
          <a:xfrm>
            <a:off x="590550" y="3259226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مركبة</a:t>
            </a:r>
            <a:endParaRPr lang="fr-FR" dirty="0"/>
          </a:p>
        </p:txBody>
      </p:sp>
      <p:sp>
        <p:nvSpPr>
          <p:cNvPr id="8" name="ZoneTexte 7"/>
          <p:cNvSpPr txBox="1"/>
          <p:nvPr/>
        </p:nvSpPr>
        <p:spPr>
          <a:xfrm>
            <a:off x="2343150" y="3838418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REA</a:t>
            </a:r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590550" y="3838418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بسيطة</a:t>
            </a:r>
            <a:endParaRPr lang="fr-FR" dirty="0"/>
          </a:p>
        </p:txBody>
      </p:sp>
      <p:sp>
        <p:nvSpPr>
          <p:cNvPr id="10" name="ZoneTexte 9"/>
          <p:cNvSpPr txBox="1"/>
          <p:nvPr/>
        </p:nvSpPr>
        <p:spPr>
          <a:xfrm>
            <a:off x="2343150" y="4207750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ANA</a:t>
            </a:r>
            <a:endParaRPr lang="fr-FR" dirty="0"/>
          </a:p>
        </p:txBody>
      </p:sp>
      <p:sp>
        <p:nvSpPr>
          <p:cNvPr id="11" name="ZoneTexte 10"/>
          <p:cNvSpPr txBox="1"/>
          <p:nvPr/>
        </p:nvSpPr>
        <p:spPr>
          <a:xfrm>
            <a:off x="590550" y="4205450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بسيطة</a:t>
            </a:r>
            <a:endParaRPr lang="fr-FR" dirty="0"/>
          </a:p>
        </p:txBody>
      </p:sp>
      <p:sp>
        <p:nvSpPr>
          <p:cNvPr id="12" name="ZoneTexte 11"/>
          <p:cNvSpPr txBox="1"/>
          <p:nvPr/>
        </p:nvSpPr>
        <p:spPr>
          <a:xfrm>
            <a:off x="2343150" y="4607048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ANA</a:t>
            </a:r>
            <a:endParaRPr lang="fr-FR" dirty="0"/>
          </a:p>
        </p:txBody>
      </p:sp>
      <p:sp>
        <p:nvSpPr>
          <p:cNvPr id="13" name="ZoneTexte 12"/>
          <p:cNvSpPr txBox="1"/>
          <p:nvPr/>
        </p:nvSpPr>
        <p:spPr>
          <a:xfrm>
            <a:off x="590550" y="4570978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بسيطة</a:t>
            </a:r>
            <a:endParaRPr lang="fr-FR" dirty="0"/>
          </a:p>
        </p:txBody>
      </p:sp>
      <p:sp>
        <p:nvSpPr>
          <p:cNvPr id="14" name="ZoneTexte 13"/>
          <p:cNvSpPr txBox="1"/>
          <p:nvPr/>
        </p:nvSpPr>
        <p:spPr>
          <a:xfrm>
            <a:off x="2343150" y="4940310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APP</a:t>
            </a:r>
            <a:endParaRPr lang="fr-FR" dirty="0"/>
          </a:p>
        </p:txBody>
      </p:sp>
      <p:sp>
        <p:nvSpPr>
          <p:cNvPr id="15" name="ZoneTexte 14"/>
          <p:cNvSpPr txBox="1"/>
          <p:nvPr/>
        </p:nvSpPr>
        <p:spPr>
          <a:xfrm>
            <a:off x="590550" y="4933454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بسيطة</a:t>
            </a:r>
            <a:endParaRPr lang="fr-FR" dirty="0"/>
          </a:p>
        </p:txBody>
      </p:sp>
      <p:sp>
        <p:nvSpPr>
          <p:cNvPr id="16" name="ZoneTexte 15"/>
          <p:cNvSpPr txBox="1"/>
          <p:nvPr/>
        </p:nvSpPr>
        <p:spPr>
          <a:xfrm>
            <a:off x="2343150" y="5323384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APP</a:t>
            </a:r>
            <a:endParaRPr lang="fr-FR" dirty="0"/>
          </a:p>
        </p:txBody>
      </p:sp>
      <p:sp>
        <p:nvSpPr>
          <p:cNvPr id="17" name="ZoneTexte 16"/>
          <p:cNvSpPr txBox="1"/>
          <p:nvPr/>
        </p:nvSpPr>
        <p:spPr>
          <a:xfrm>
            <a:off x="590550" y="5330270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بسيطة</a:t>
            </a:r>
            <a:endParaRPr lang="fr-FR" dirty="0"/>
          </a:p>
        </p:txBody>
      </p:sp>
      <p:sp>
        <p:nvSpPr>
          <p:cNvPr id="18" name="ZoneTexte 17"/>
          <p:cNvSpPr txBox="1"/>
          <p:nvPr/>
        </p:nvSpPr>
        <p:spPr>
          <a:xfrm>
            <a:off x="2343150" y="5724738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COM</a:t>
            </a:r>
            <a:endParaRPr lang="fr-FR" dirty="0"/>
          </a:p>
        </p:txBody>
      </p:sp>
      <p:sp>
        <p:nvSpPr>
          <p:cNvPr id="19" name="ZoneTexte 18"/>
          <p:cNvSpPr txBox="1"/>
          <p:nvPr/>
        </p:nvSpPr>
        <p:spPr>
          <a:xfrm>
            <a:off x="590550" y="5724738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مركبة</a:t>
            </a:r>
            <a:endParaRPr lang="fr-FR" dirty="0"/>
          </a:p>
        </p:txBody>
      </p:sp>
      <p:sp>
        <p:nvSpPr>
          <p:cNvPr id="20" name="ZoneTexte 19"/>
          <p:cNvSpPr txBox="1"/>
          <p:nvPr/>
        </p:nvSpPr>
        <p:spPr>
          <a:xfrm>
            <a:off x="2343150" y="6094070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VAL</a:t>
            </a:r>
            <a:endParaRPr lang="fr-FR" dirty="0"/>
          </a:p>
        </p:txBody>
      </p:sp>
      <p:sp>
        <p:nvSpPr>
          <p:cNvPr id="21" name="ZoneTexte 20"/>
          <p:cNvSpPr txBox="1"/>
          <p:nvPr/>
        </p:nvSpPr>
        <p:spPr>
          <a:xfrm>
            <a:off x="590550" y="6094070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مركبة</a:t>
            </a:r>
            <a:endParaRPr lang="fr-FR" dirty="0"/>
          </a:p>
        </p:txBody>
      </p:sp>
      <p:sp>
        <p:nvSpPr>
          <p:cNvPr id="22" name="ZoneTexte 21"/>
          <p:cNvSpPr txBox="1"/>
          <p:nvPr/>
        </p:nvSpPr>
        <p:spPr>
          <a:xfrm>
            <a:off x="2343150" y="6488668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VAL</a:t>
            </a:r>
            <a:endParaRPr lang="fr-FR" dirty="0"/>
          </a:p>
        </p:txBody>
      </p:sp>
      <p:sp>
        <p:nvSpPr>
          <p:cNvPr id="23" name="ZoneTexte 22"/>
          <p:cNvSpPr txBox="1"/>
          <p:nvPr/>
        </p:nvSpPr>
        <p:spPr>
          <a:xfrm>
            <a:off x="590550" y="6494120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مركبة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73576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00051" y="514350"/>
            <a:ext cx="8000999" cy="1166282"/>
          </a:xfrm>
        </p:spPr>
        <p:txBody>
          <a:bodyPr/>
          <a:lstStyle/>
          <a:p>
            <a:pPr algn="ctr" rtl="1"/>
            <a:r>
              <a:rPr lang="ar-DZ" sz="2800" dirty="0" smtClean="0"/>
              <a:t>النشاط (2</a:t>
            </a:r>
            <a:r>
              <a:rPr lang="ar-DZ" sz="2800" dirty="0"/>
              <a:t>): </a:t>
            </a:r>
            <a:r>
              <a:rPr lang="ar-DZ" sz="2800" dirty="0" smtClean="0"/>
              <a:t>تصنيف </a:t>
            </a:r>
            <a:r>
              <a:rPr lang="ar-DZ" sz="2800" dirty="0"/>
              <a:t>المهمات </a:t>
            </a:r>
            <a:r>
              <a:rPr lang="ar-DZ" sz="2800" dirty="0" smtClean="0"/>
              <a:t>حسب </a:t>
            </a:r>
            <a:r>
              <a:rPr lang="ar-DZ" sz="2800" dirty="0"/>
              <a:t>الكفاءة المجندة في ممارسة المسعى </a:t>
            </a:r>
            <a:r>
              <a:rPr lang="ar-DZ" sz="2800" dirty="0" smtClean="0"/>
              <a:t>العلمي مع  تحديد طبيعتها</a:t>
            </a:r>
            <a:endParaRPr lang="fr-FR" sz="2800" dirty="0"/>
          </a:p>
        </p:txBody>
      </p:sp>
      <p:graphicFrame>
        <p:nvGraphicFramePr>
          <p:cNvPr id="3" name="Tableau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5303586"/>
              </p:ext>
            </p:extLst>
          </p:nvPr>
        </p:nvGraphicFramePr>
        <p:xfrm>
          <a:off x="209549" y="1748283"/>
          <a:ext cx="9505950" cy="5052301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691003"/>
                <a:gridCol w="5659992"/>
                <a:gridCol w="1182797"/>
                <a:gridCol w="1972158"/>
              </a:tblGrid>
              <a:tr h="761813"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رقم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نشاطات لأداء مهمات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الكفاءة المجندة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مهمة</a:t>
                      </a:r>
                      <a:endParaRPr lang="fr-FR" sz="2200" b="1" dirty="0">
                        <a:effectLst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 مركبة/ بسيطة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</a:tr>
              <a:tr h="368268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31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ينفذ طريقة الحل، بروتوكولا تجريبيا، محاكاة، توثيق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 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368268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32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 يترجم المعلومات في وثائق بعمل متقن</a:t>
                      </a:r>
                      <a:r>
                        <a:rPr lang="fr-FR" sz="2200" b="1" dirty="0">
                          <a:effectLst/>
                        </a:rPr>
                        <a:t>.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368268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33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يبرز الفرق بين الظاهرة في الواقع وفي المحاكاة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368268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34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200" b="1" dirty="0">
                          <a:effectLst/>
                        </a:rPr>
                        <a:t> </a:t>
                      </a:r>
                      <a:r>
                        <a:rPr lang="ar-SA" sz="2200" b="1" dirty="0">
                          <a:effectLst/>
                        </a:rPr>
                        <a:t>يقترح فرضية ومعها طريقة التحقق منها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200" b="1" dirty="0">
                          <a:effectLst/>
                        </a:rPr>
                        <a:t> 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393545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35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يحترم قواعد الأمن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393545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36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يبني منحنى، يبني جدولا.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393545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37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 يطرح مشكلة ذات أهمية علمية 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393545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38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 يترجم شفويا فكرة ، ملاحظة ، رسم ، جدول</a:t>
                      </a:r>
                      <a:r>
                        <a:rPr lang="fr-FR" sz="2200" b="1">
                          <a:effectLst/>
                        </a:rPr>
                        <a:t> …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761813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39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 يستخرج النتائج من معطيات التجريب، من الملاحظات، ويستغلها في الإثبات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393545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40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 يمثل التنظيمات الوظيفية بالرسم التخطيطي</a:t>
                      </a:r>
                      <a:r>
                        <a:rPr lang="fr-FR" sz="2200" b="1" dirty="0">
                          <a:effectLst/>
                        </a:rPr>
                        <a:t> 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</a:tbl>
          </a:graphicData>
        </a:graphic>
      </p:graphicFrame>
      <p:sp>
        <p:nvSpPr>
          <p:cNvPr id="4" name="ZoneTexte 3"/>
          <p:cNvSpPr txBox="1"/>
          <p:nvPr/>
        </p:nvSpPr>
        <p:spPr>
          <a:xfrm>
            <a:off x="2343150" y="2469118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REA</a:t>
            </a:r>
            <a:endParaRPr lang="fr-FR" dirty="0"/>
          </a:p>
        </p:txBody>
      </p:sp>
      <p:sp>
        <p:nvSpPr>
          <p:cNvPr id="5" name="ZoneTexte 4"/>
          <p:cNvSpPr txBox="1"/>
          <p:nvPr/>
        </p:nvSpPr>
        <p:spPr>
          <a:xfrm>
            <a:off x="561975" y="2478486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بسيطة</a:t>
            </a:r>
            <a:endParaRPr lang="fr-FR" dirty="0"/>
          </a:p>
        </p:txBody>
      </p:sp>
      <p:sp>
        <p:nvSpPr>
          <p:cNvPr id="6" name="ZoneTexte 5"/>
          <p:cNvSpPr txBox="1"/>
          <p:nvPr/>
        </p:nvSpPr>
        <p:spPr>
          <a:xfrm>
            <a:off x="2343150" y="2847818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COM</a:t>
            </a:r>
            <a:endParaRPr lang="fr-FR" dirty="0"/>
          </a:p>
        </p:txBody>
      </p:sp>
      <p:sp>
        <p:nvSpPr>
          <p:cNvPr id="7" name="ZoneTexte 6"/>
          <p:cNvSpPr txBox="1"/>
          <p:nvPr/>
        </p:nvSpPr>
        <p:spPr>
          <a:xfrm>
            <a:off x="561975" y="2847818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مركبة</a:t>
            </a:r>
            <a:endParaRPr lang="fr-FR" dirty="0"/>
          </a:p>
        </p:txBody>
      </p:sp>
      <p:sp>
        <p:nvSpPr>
          <p:cNvPr id="8" name="ZoneTexte 7"/>
          <p:cNvSpPr txBox="1"/>
          <p:nvPr/>
        </p:nvSpPr>
        <p:spPr>
          <a:xfrm>
            <a:off x="2343150" y="3231852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VAL</a:t>
            </a:r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561975" y="3267652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مركبة</a:t>
            </a:r>
            <a:endParaRPr lang="fr-FR" dirty="0"/>
          </a:p>
        </p:txBody>
      </p:sp>
      <p:sp>
        <p:nvSpPr>
          <p:cNvPr id="10" name="ZoneTexte 9"/>
          <p:cNvSpPr txBox="1"/>
          <p:nvPr/>
        </p:nvSpPr>
        <p:spPr>
          <a:xfrm>
            <a:off x="2343150" y="3636984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ANA</a:t>
            </a:r>
            <a:endParaRPr lang="fr-FR" dirty="0"/>
          </a:p>
        </p:txBody>
      </p:sp>
      <p:sp>
        <p:nvSpPr>
          <p:cNvPr id="11" name="ZoneTexte 10"/>
          <p:cNvSpPr txBox="1"/>
          <p:nvPr/>
        </p:nvSpPr>
        <p:spPr>
          <a:xfrm>
            <a:off x="561975" y="3635418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مركبة</a:t>
            </a:r>
            <a:endParaRPr lang="fr-FR" dirty="0"/>
          </a:p>
        </p:txBody>
      </p:sp>
      <p:sp>
        <p:nvSpPr>
          <p:cNvPr id="12" name="ZoneTexte 11"/>
          <p:cNvSpPr txBox="1"/>
          <p:nvPr/>
        </p:nvSpPr>
        <p:spPr>
          <a:xfrm>
            <a:off x="2343150" y="4104196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REA</a:t>
            </a:r>
            <a:endParaRPr lang="fr-FR" dirty="0"/>
          </a:p>
        </p:txBody>
      </p:sp>
      <p:sp>
        <p:nvSpPr>
          <p:cNvPr id="13" name="ZoneTexte 12"/>
          <p:cNvSpPr txBox="1"/>
          <p:nvPr/>
        </p:nvSpPr>
        <p:spPr>
          <a:xfrm>
            <a:off x="561975" y="4126762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بسيطة</a:t>
            </a:r>
            <a:endParaRPr lang="fr-FR" dirty="0"/>
          </a:p>
        </p:txBody>
      </p:sp>
      <p:sp>
        <p:nvSpPr>
          <p:cNvPr id="14" name="ZoneTexte 13"/>
          <p:cNvSpPr txBox="1"/>
          <p:nvPr/>
        </p:nvSpPr>
        <p:spPr>
          <a:xfrm>
            <a:off x="2343150" y="4509292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REA</a:t>
            </a:r>
            <a:endParaRPr lang="fr-FR" dirty="0"/>
          </a:p>
        </p:txBody>
      </p:sp>
      <p:sp>
        <p:nvSpPr>
          <p:cNvPr id="15" name="ZoneTexte 14"/>
          <p:cNvSpPr txBox="1"/>
          <p:nvPr/>
        </p:nvSpPr>
        <p:spPr>
          <a:xfrm>
            <a:off x="561975" y="4473528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بسيطة</a:t>
            </a:r>
            <a:endParaRPr lang="fr-FR" dirty="0"/>
          </a:p>
        </p:txBody>
      </p:sp>
      <p:sp>
        <p:nvSpPr>
          <p:cNvPr id="16" name="ZoneTexte 15"/>
          <p:cNvSpPr txBox="1"/>
          <p:nvPr/>
        </p:nvSpPr>
        <p:spPr>
          <a:xfrm>
            <a:off x="2343150" y="4904034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APP</a:t>
            </a:r>
            <a:endParaRPr lang="fr-FR" dirty="0"/>
          </a:p>
        </p:txBody>
      </p:sp>
      <p:sp>
        <p:nvSpPr>
          <p:cNvPr id="17" name="ZoneTexte 16"/>
          <p:cNvSpPr txBox="1"/>
          <p:nvPr/>
        </p:nvSpPr>
        <p:spPr>
          <a:xfrm>
            <a:off x="561975" y="4832336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بسيطة</a:t>
            </a:r>
            <a:endParaRPr lang="fr-FR" dirty="0"/>
          </a:p>
        </p:txBody>
      </p:sp>
      <p:sp>
        <p:nvSpPr>
          <p:cNvPr id="18" name="ZoneTexte 17"/>
          <p:cNvSpPr txBox="1"/>
          <p:nvPr/>
        </p:nvSpPr>
        <p:spPr>
          <a:xfrm>
            <a:off x="2343150" y="5273366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COM</a:t>
            </a:r>
            <a:endParaRPr lang="fr-FR" dirty="0"/>
          </a:p>
        </p:txBody>
      </p:sp>
      <p:sp>
        <p:nvSpPr>
          <p:cNvPr id="19" name="ZoneTexte 18"/>
          <p:cNvSpPr txBox="1"/>
          <p:nvPr/>
        </p:nvSpPr>
        <p:spPr>
          <a:xfrm>
            <a:off x="561975" y="5271066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مركبة</a:t>
            </a:r>
            <a:endParaRPr lang="fr-FR" dirty="0"/>
          </a:p>
        </p:txBody>
      </p:sp>
      <p:sp>
        <p:nvSpPr>
          <p:cNvPr id="20" name="ZoneTexte 19"/>
          <p:cNvSpPr txBox="1"/>
          <p:nvPr/>
        </p:nvSpPr>
        <p:spPr>
          <a:xfrm>
            <a:off x="2343150" y="5881698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VAL</a:t>
            </a:r>
            <a:endParaRPr lang="fr-FR" dirty="0"/>
          </a:p>
        </p:txBody>
      </p:sp>
      <p:sp>
        <p:nvSpPr>
          <p:cNvPr id="21" name="ZoneTexte 20"/>
          <p:cNvSpPr txBox="1"/>
          <p:nvPr/>
        </p:nvSpPr>
        <p:spPr>
          <a:xfrm>
            <a:off x="561975" y="5886500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مركبة</a:t>
            </a:r>
            <a:endParaRPr lang="fr-FR" dirty="0"/>
          </a:p>
        </p:txBody>
      </p:sp>
      <p:sp>
        <p:nvSpPr>
          <p:cNvPr id="22" name="ZoneTexte 21"/>
          <p:cNvSpPr txBox="1"/>
          <p:nvPr/>
        </p:nvSpPr>
        <p:spPr>
          <a:xfrm>
            <a:off x="2343150" y="6416366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COM</a:t>
            </a:r>
            <a:endParaRPr lang="fr-FR" dirty="0"/>
          </a:p>
        </p:txBody>
      </p:sp>
      <p:sp>
        <p:nvSpPr>
          <p:cNvPr id="23" name="ZoneTexte 22"/>
          <p:cNvSpPr txBox="1"/>
          <p:nvPr/>
        </p:nvSpPr>
        <p:spPr>
          <a:xfrm>
            <a:off x="561975" y="6422200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مركبة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84284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00051" y="514350"/>
            <a:ext cx="8000999" cy="1166282"/>
          </a:xfrm>
        </p:spPr>
        <p:txBody>
          <a:bodyPr/>
          <a:lstStyle/>
          <a:p>
            <a:pPr algn="ctr" rtl="1"/>
            <a:r>
              <a:rPr lang="ar-DZ" sz="2800" dirty="0" smtClean="0"/>
              <a:t>النشاط (2</a:t>
            </a:r>
            <a:r>
              <a:rPr lang="ar-DZ" sz="2800" dirty="0"/>
              <a:t>): </a:t>
            </a:r>
            <a:r>
              <a:rPr lang="ar-DZ" sz="2800" dirty="0" smtClean="0"/>
              <a:t>تصنيف </a:t>
            </a:r>
            <a:r>
              <a:rPr lang="ar-DZ" sz="2800" dirty="0"/>
              <a:t>المهمات </a:t>
            </a:r>
            <a:r>
              <a:rPr lang="ar-DZ" sz="2800" dirty="0" smtClean="0"/>
              <a:t>حسب </a:t>
            </a:r>
            <a:r>
              <a:rPr lang="ar-DZ" sz="2800" dirty="0"/>
              <a:t>الكفاءة المجندة في ممارسة المسعى </a:t>
            </a:r>
            <a:r>
              <a:rPr lang="ar-DZ" sz="2800" dirty="0" smtClean="0"/>
              <a:t>العلمي مع  تحديد طبيعتها</a:t>
            </a:r>
            <a:endParaRPr lang="fr-FR" sz="2800" dirty="0"/>
          </a:p>
        </p:txBody>
      </p:sp>
      <p:graphicFrame>
        <p:nvGraphicFramePr>
          <p:cNvPr id="3" name="Tableau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9813000"/>
              </p:ext>
            </p:extLst>
          </p:nvPr>
        </p:nvGraphicFramePr>
        <p:xfrm>
          <a:off x="152400" y="1674114"/>
          <a:ext cx="9620250" cy="5040620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618016"/>
                <a:gridCol w="6278067"/>
                <a:gridCol w="1039002"/>
                <a:gridCol w="1685165"/>
              </a:tblGrid>
              <a:tr h="785236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رقم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نشاطات لأداء مهمات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الكفاءة المجندة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مهمة</a:t>
                      </a:r>
                      <a:endParaRPr lang="fr-FR" sz="2200" b="1" dirty="0">
                        <a:effectLst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 مركبة/ بسيطة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</a:tr>
              <a:tr h="379591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41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يعيد صياغة مشكلة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379591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42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ينظم ويستغل المعلومات، المعطيات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379591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43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ينجز رسما تخطيطيا يسمح بتنفيذ بروتوكول تجريبي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379591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44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 anchor="ctr"/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 يحدد شروط استعمال الأدوات، </a:t>
                      </a:r>
                      <a:r>
                        <a:rPr lang="ar-SA" sz="2200" b="1" dirty="0" smtClean="0">
                          <a:effectLst/>
                        </a:rPr>
                        <a:t>ويعدل </a:t>
                      </a:r>
                      <a:r>
                        <a:rPr lang="ar-SA" sz="2200" b="1" dirty="0">
                          <a:effectLst/>
                        </a:rPr>
                        <a:t>التركيب التجريبي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379591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45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يقدم عرضا للنتائج المتحصل عليها (بمختلف أشكال العرض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379591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46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يوظف</a:t>
                      </a:r>
                      <a:r>
                        <a:rPr lang="fr-FR" sz="2200" b="1">
                          <a:effectLst/>
                        </a:rPr>
                        <a:t> TIC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379591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47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200" b="1" dirty="0" smtClean="0">
                          <a:effectLst/>
                        </a:rPr>
                        <a:t>يضع مخططا للوضعية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379591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48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يلخص في شكل نص، رسم تخطيطي، خريطة ذهنية</a:t>
                      </a:r>
                      <a:r>
                        <a:rPr lang="fr-FR" sz="2200" b="1">
                          <a:effectLst/>
                        </a:rPr>
                        <a:t>.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785236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49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يحلل مجمل النتائج بطريقة نقدية ويقدم اقتراحات لتحسين المسعى أو النموذج  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379591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50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200" b="1" dirty="0">
                          <a:effectLst/>
                        </a:rPr>
                        <a:t> </a:t>
                      </a:r>
                      <a:r>
                        <a:rPr lang="ar-SA" sz="2200" b="1" dirty="0">
                          <a:effectLst/>
                        </a:rPr>
                        <a:t>يقترح طريقة لحل المشكلة (تقنية البحث)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 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</a:tbl>
          </a:graphicData>
        </a:graphic>
      </p:graphicFrame>
      <p:sp>
        <p:nvSpPr>
          <p:cNvPr id="4" name="ZoneTexte 3"/>
          <p:cNvSpPr txBox="1"/>
          <p:nvPr/>
        </p:nvSpPr>
        <p:spPr>
          <a:xfrm>
            <a:off x="1876425" y="2443954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APP</a:t>
            </a:r>
            <a:endParaRPr lang="fr-FR" dirty="0"/>
          </a:p>
        </p:txBody>
      </p:sp>
      <p:sp>
        <p:nvSpPr>
          <p:cNvPr id="5" name="ZoneTexte 4"/>
          <p:cNvSpPr txBox="1"/>
          <p:nvPr/>
        </p:nvSpPr>
        <p:spPr>
          <a:xfrm>
            <a:off x="447675" y="2443954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بسيطة</a:t>
            </a:r>
            <a:endParaRPr lang="fr-FR" dirty="0"/>
          </a:p>
        </p:txBody>
      </p:sp>
      <p:sp>
        <p:nvSpPr>
          <p:cNvPr id="6" name="ZoneTexte 5"/>
          <p:cNvSpPr txBox="1"/>
          <p:nvPr/>
        </p:nvSpPr>
        <p:spPr>
          <a:xfrm>
            <a:off x="1876425" y="2813286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ANA</a:t>
            </a:r>
            <a:endParaRPr lang="fr-FR" dirty="0"/>
          </a:p>
        </p:txBody>
      </p:sp>
      <p:sp>
        <p:nvSpPr>
          <p:cNvPr id="7" name="ZoneTexte 6"/>
          <p:cNvSpPr txBox="1"/>
          <p:nvPr/>
        </p:nvSpPr>
        <p:spPr>
          <a:xfrm>
            <a:off x="447675" y="2813286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مركبة</a:t>
            </a:r>
            <a:endParaRPr lang="fr-FR" dirty="0"/>
          </a:p>
        </p:txBody>
      </p:sp>
      <p:sp>
        <p:nvSpPr>
          <p:cNvPr id="8" name="ZoneTexte 7"/>
          <p:cNvSpPr txBox="1"/>
          <p:nvPr/>
        </p:nvSpPr>
        <p:spPr>
          <a:xfrm>
            <a:off x="1876425" y="3214604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REA</a:t>
            </a:r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447675" y="3182618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بسيطة</a:t>
            </a:r>
            <a:endParaRPr lang="fr-FR" dirty="0"/>
          </a:p>
        </p:txBody>
      </p:sp>
      <p:sp>
        <p:nvSpPr>
          <p:cNvPr id="10" name="ZoneTexte 9"/>
          <p:cNvSpPr txBox="1"/>
          <p:nvPr/>
        </p:nvSpPr>
        <p:spPr>
          <a:xfrm>
            <a:off x="1876425" y="3583936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ANA</a:t>
            </a:r>
            <a:endParaRPr lang="fr-FR" dirty="0"/>
          </a:p>
        </p:txBody>
      </p:sp>
      <p:sp>
        <p:nvSpPr>
          <p:cNvPr id="11" name="ZoneTexte 10"/>
          <p:cNvSpPr txBox="1"/>
          <p:nvPr/>
        </p:nvSpPr>
        <p:spPr>
          <a:xfrm>
            <a:off x="447675" y="3649736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بسيطة</a:t>
            </a:r>
            <a:endParaRPr lang="fr-FR" dirty="0"/>
          </a:p>
        </p:txBody>
      </p:sp>
      <p:sp>
        <p:nvSpPr>
          <p:cNvPr id="12" name="ZoneTexte 11"/>
          <p:cNvSpPr txBox="1"/>
          <p:nvPr/>
        </p:nvSpPr>
        <p:spPr>
          <a:xfrm>
            <a:off x="1876425" y="4019068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COM</a:t>
            </a:r>
            <a:endParaRPr lang="fr-FR" dirty="0"/>
          </a:p>
        </p:txBody>
      </p:sp>
      <p:sp>
        <p:nvSpPr>
          <p:cNvPr id="13" name="ZoneTexte 12"/>
          <p:cNvSpPr txBox="1"/>
          <p:nvPr/>
        </p:nvSpPr>
        <p:spPr>
          <a:xfrm>
            <a:off x="447675" y="3961436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مركبة</a:t>
            </a:r>
            <a:endParaRPr lang="fr-FR" dirty="0"/>
          </a:p>
        </p:txBody>
      </p:sp>
      <p:sp>
        <p:nvSpPr>
          <p:cNvPr id="14" name="ZoneTexte 13"/>
          <p:cNvSpPr txBox="1"/>
          <p:nvPr/>
        </p:nvSpPr>
        <p:spPr>
          <a:xfrm>
            <a:off x="1876425" y="4396770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REA</a:t>
            </a:r>
            <a:endParaRPr lang="fr-FR" dirty="0"/>
          </a:p>
        </p:txBody>
      </p:sp>
      <p:sp>
        <p:nvSpPr>
          <p:cNvPr id="15" name="ZoneTexte 14"/>
          <p:cNvSpPr txBox="1"/>
          <p:nvPr/>
        </p:nvSpPr>
        <p:spPr>
          <a:xfrm>
            <a:off x="447675" y="4330768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بسيطة</a:t>
            </a:r>
            <a:endParaRPr lang="fr-FR" dirty="0"/>
          </a:p>
        </p:txBody>
      </p:sp>
      <p:sp>
        <p:nvSpPr>
          <p:cNvPr id="16" name="ZoneTexte 15"/>
          <p:cNvSpPr txBox="1"/>
          <p:nvPr/>
        </p:nvSpPr>
        <p:spPr>
          <a:xfrm>
            <a:off x="1876425" y="4732086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APP</a:t>
            </a:r>
            <a:endParaRPr lang="fr-FR" dirty="0"/>
          </a:p>
        </p:txBody>
      </p:sp>
      <p:sp>
        <p:nvSpPr>
          <p:cNvPr id="17" name="ZoneTexte 16"/>
          <p:cNvSpPr txBox="1"/>
          <p:nvPr/>
        </p:nvSpPr>
        <p:spPr>
          <a:xfrm>
            <a:off x="447675" y="4766102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بسيطة</a:t>
            </a:r>
            <a:endParaRPr lang="fr-FR" dirty="0"/>
          </a:p>
        </p:txBody>
      </p:sp>
      <p:sp>
        <p:nvSpPr>
          <p:cNvPr id="18" name="ZoneTexte 17"/>
          <p:cNvSpPr txBox="1"/>
          <p:nvPr/>
        </p:nvSpPr>
        <p:spPr>
          <a:xfrm>
            <a:off x="1876425" y="5128636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COM</a:t>
            </a:r>
            <a:endParaRPr lang="fr-FR" dirty="0"/>
          </a:p>
        </p:txBody>
      </p:sp>
      <p:sp>
        <p:nvSpPr>
          <p:cNvPr id="19" name="ZoneTexte 18"/>
          <p:cNvSpPr txBox="1"/>
          <p:nvPr/>
        </p:nvSpPr>
        <p:spPr>
          <a:xfrm>
            <a:off x="447675" y="5101418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مركبة</a:t>
            </a:r>
            <a:endParaRPr lang="fr-FR" dirty="0"/>
          </a:p>
        </p:txBody>
      </p:sp>
      <p:sp>
        <p:nvSpPr>
          <p:cNvPr id="20" name="ZoneTexte 19"/>
          <p:cNvSpPr txBox="1"/>
          <p:nvPr/>
        </p:nvSpPr>
        <p:spPr>
          <a:xfrm>
            <a:off x="1876425" y="5689302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VAL</a:t>
            </a:r>
            <a:endParaRPr lang="fr-FR" dirty="0"/>
          </a:p>
        </p:txBody>
      </p:sp>
      <p:sp>
        <p:nvSpPr>
          <p:cNvPr id="21" name="ZoneTexte 20"/>
          <p:cNvSpPr txBox="1"/>
          <p:nvPr/>
        </p:nvSpPr>
        <p:spPr>
          <a:xfrm>
            <a:off x="447675" y="5711752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مركبة</a:t>
            </a:r>
            <a:endParaRPr lang="fr-FR" dirty="0"/>
          </a:p>
        </p:txBody>
      </p:sp>
      <p:sp>
        <p:nvSpPr>
          <p:cNvPr id="22" name="ZoneTexte 21"/>
          <p:cNvSpPr txBox="1"/>
          <p:nvPr/>
        </p:nvSpPr>
        <p:spPr>
          <a:xfrm>
            <a:off x="1876425" y="6289036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ANA</a:t>
            </a:r>
            <a:endParaRPr lang="fr-FR" dirty="0"/>
          </a:p>
        </p:txBody>
      </p:sp>
      <p:sp>
        <p:nvSpPr>
          <p:cNvPr id="23" name="ZoneTexte 22"/>
          <p:cNvSpPr txBox="1"/>
          <p:nvPr/>
        </p:nvSpPr>
        <p:spPr>
          <a:xfrm>
            <a:off x="447675" y="6291572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مركبة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57648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00051" y="514350"/>
            <a:ext cx="8000999" cy="1166282"/>
          </a:xfrm>
        </p:spPr>
        <p:txBody>
          <a:bodyPr/>
          <a:lstStyle/>
          <a:p>
            <a:pPr algn="ctr" rtl="1"/>
            <a:r>
              <a:rPr lang="ar-DZ" sz="2800" dirty="0" smtClean="0"/>
              <a:t>النشاط (2</a:t>
            </a:r>
            <a:r>
              <a:rPr lang="ar-DZ" sz="2800" dirty="0"/>
              <a:t>): </a:t>
            </a:r>
            <a:r>
              <a:rPr lang="ar-DZ" sz="2800" dirty="0" smtClean="0"/>
              <a:t>تصنيف </a:t>
            </a:r>
            <a:r>
              <a:rPr lang="ar-DZ" sz="2800" dirty="0"/>
              <a:t>المهمات </a:t>
            </a:r>
            <a:r>
              <a:rPr lang="ar-DZ" sz="2800" dirty="0" smtClean="0"/>
              <a:t>حسب </a:t>
            </a:r>
            <a:r>
              <a:rPr lang="ar-DZ" sz="2800" dirty="0"/>
              <a:t>الكفاءة المجندة في ممارسة المسعى </a:t>
            </a:r>
            <a:r>
              <a:rPr lang="ar-DZ" sz="2800" dirty="0" smtClean="0"/>
              <a:t>العلمي مع  تحديد طبيعتها</a:t>
            </a:r>
            <a:endParaRPr lang="fr-FR" sz="2800" dirty="0"/>
          </a:p>
        </p:txBody>
      </p:sp>
      <p:graphicFrame>
        <p:nvGraphicFramePr>
          <p:cNvPr id="3" name="Tableau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8800612"/>
              </p:ext>
            </p:extLst>
          </p:nvPr>
        </p:nvGraphicFramePr>
        <p:xfrm>
          <a:off x="152400" y="1737614"/>
          <a:ext cx="9467849" cy="4720333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688233"/>
                <a:gridCol w="5637307"/>
                <a:gridCol w="1178056"/>
                <a:gridCol w="1964253"/>
              </a:tblGrid>
              <a:tr h="799995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رقم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نشاطات لأداء مهمات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الكفاءة المجندة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مهمة</a:t>
                      </a:r>
                      <a:endParaRPr lang="fr-FR" sz="2200" b="1" dirty="0">
                        <a:effectLst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 مركبة/ بسيطة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</a:tr>
              <a:tr h="413269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51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يقوم بحسابات دقيقة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413269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52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يوظف موارد من مواد أخرى (كيمياء، رياضيات...)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386725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53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ينظم ويرتب مكان العمل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386725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54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يحدد المفاهيم </a:t>
                      </a:r>
                      <a:r>
                        <a:rPr lang="ar-SA" sz="2200" b="1" dirty="0" smtClean="0">
                          <a:effectLst/>
                        </a:rPr>
                        <a:t>المستعملة</a:t>
                      </a:r>
                      <a:r>
                        <a:rPr lang="ar-DZ" sz="2200" b="1" dirty="0" smtClean="0">
                          <a:effectLst/>
                        </a:rPr>
                        <a:t> و العلاقات القائمة فيما بينها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386725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55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200" b="1">
                          <a:effectLst/>
                        </a:rPr>
                        <a:t> </a:t>
                      </a:r>
                      <a:r>
                        <a:rPr lang="ar-SA" sz="2200" b="1">
                          <a:effectLst/>
                        </a:rPr>
                        <a:t>يتعرف على المعطيات المفيدة في الإجابة عن التعليمة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386725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56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200" b="1">
                          <a:effectLst/>
                        </a:rPr>
                        <a:t> </a:t>
                      </a:r>
                      <a:r>
                        <a:rPr lang="ar-SA" sz="2200" b="1">
                          <a:effectLst/>
                        </a:rPr>
                        <a:t>يمثل المعطيات برسوم بيانية ، رموز</a:t>
                      </a:r>
                      <a:r>
                        <a:rPr lang="fr-FR" sz="2200" b="1">
                          <a:effectLst/>
                        </a:rPr>
                        <a:t>…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386725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57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يجد النتائج التي تتعلق بفرضية والتي يمكن التحقق منها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386725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58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ينجز التركيب التجريبي الموافق للبروتوكول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386725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59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يتابع، يحترم، ينجز متتالية من التعليمات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386725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60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 anchor="ctr"/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200" b="1" dirty="0">
                          <a:effectLst/>
                        </a:rPr>
                        <a:t> يقترح برتوكولا تجريبيا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200" b="1">
                          <a:effectLst/>
                        </a:rPr>
                        <a:t> </a:t>
                      </a:r>
                      <a:endParaRPr lang="fr-FR" sz="22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200" b="1" dirty="0">
                          <a:effectLst/>
                        </a:rPr>
                        <a:t> </a:t>
                      </a:r>
                      <a:endParaRPr lang="fr-FR" sz="2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</a:tbl>
          </a:graphicData>
        </a:graphic>
      </p:graphicFrame>
      <p:sp>
        <p:nvSpPr>
          <p:cNvPr id="4" name="ZoneTexte 3"/>
          <p:cNvSpPr txBox="1"/>
          <p:nvPr/>
        </p:nvSpPr>
        <p:spPr>
          <a:xfrm>
            <a:off x="2295525" y="2606070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REA</a:t>
            </a:r>
            <a:endParaRPr lang="fr-FR" dirty="0"/>
          </a:p>
        </p:txBody>
      </p:sp>
      <p:sp>
        <p:nvSpPr>
          <p:cNvPr id="5" name="ZoneTexte 4"/>
          <p:cNvSpPr txBox="1"/>
          <p:nvPr/>
        </p:nvSpPr>
        <p:spPr>
          <a:xfrm>
            <a:off x="638175" y="2606070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بسيطة</a:t>
            </a:r>
            <a:endParaRPr lang="fr-FR" dirty="0"/>
          </a:p>
        </p:txBody>
      </p:sp>
      <p:sp>
        <p:nvSpPr>
          <p:cNvPr id="6" name="ZoneTexte 5"/>
          <p:cNvSpPr txBox="1"/>
          <p:nvPr/>
        </p:nvSpPr>
        <p:spPr>
          <a:xfrm>
            <a:off x="2295525" y="2975402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REA</a:t>
            </a:r>
            <a:endParaRPr lang="fr-FR" dirty="0"/>
          </a:p>
        </p:txBody>
      </p:sp>
      <p:sp>
        <p:nvSpPr>
          <p:cNvPr id="7" name="ZoneTexte 6"/>
          <p:cNvSpPr txBox="1"/>
          <p:nvPr/>
        </p:nvSpPr>
        <p:spPr>
          <a:xfrm>
            <a:off x="638175" y="2927688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بسيطة</a:t>
            </a:r>
            <a:endParaRPr lang="fr-FR" dirty="0"/>
          </a:p>
        </p:txBody>
      </p:sp>
      <p:sp>
        <p:nvSpPr>
          <p:cNvPr id="8" name="ZoneTexte 7"/>
          <p:cNvSpPr txBox="1"/>
          <p:nvPr/>
        </p:nvSpPr>
        <p:spPr>
          <a:xfrm>
            <a:off x="2295525" y="3391298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REA</a:t>
            </a:r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638175" y="3391298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بسيطة</a:t>
            </a:r>
            <a:endParaRPr lang="fr-FR" dirty="0"/>
          </a:p>
        </p:txBody>
      </p:sp>
      <p:sp>
        <p:nvSpPr>
          <p:cNvPr id="10" name="ZoneTexte 9"/>
          <p:cNvSpPr txBox="1"/>
          <p:nvPr/>
        </p:nvSpPr>
        <p:spPr>
          <a:xfrm>
            <a:off x="2295525" y="3775034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ANA</a:t>
            </a:r>
            <a:endParaRPr lang="fr-FR" dirty="0"/>
          </a:p>
        </p:txBody>
      </p:sp>
      <p:sp>
        <p:nvSpPr>
          <p:cNvPr id="11" name="ZoneTexte 10"/>
          <p:cNvSpPr txBox="1"/>
          <p:nvPr/>
        </p:nvSpPr>
        <p:spPr>
          <a:xfrm>
            <a:off x="638175" y="3787566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مركبة</a:t>
            </a:r>
            <a:endParaRPr lang="fr-FR" dirty="0"/>
          </a:p>
        </p:txBody>
      </p:sp>
      <p:sp>
        <p:nvSpPr>
          <p:cNvPr id="12" name="ZoneTexte 11"/>
          <p:cNvSpPr txBox="1"/>
          <p:nvPr/>
        </p:nvSpPr>
        <p:spPr>
          <a:xfrm>
            <a:off x="2295525" y="4169834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APP</a:t>
            </a:r>
            <a:endParaRPr lang="fr-FR" dirty="0"/>
          </a:p>
        </p:txBody>
      </p:sp>
      <p:sp>
        <p:nvSpPr>
          <p:cNvPr id="13" name="ZoneTexte 12"/>
          <p:cNvSpPr txBox="1"/>
          <p:nvPr/>
        </p:nvSpPr>
        <p:spPr>
          <a:xfrm>
            <a:off x="638175" y="4169834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بسيطة</a:t>
            </a:r>
            <a:endParaRPr lang="fr-FR" dirty="0"/>
          </a:p>
        </p:txBody>
      </p:sp>
      <p:sp>
        <p:nvSpPr>
          <p:cNvPr id="14" name="ZoneTexte 13"/>
          <p:cNvSpPr txBox="1"/>
          <p:nvPr/>
        </p:nvSpPr>
        <p:spPr>
          <a:xfrm>
            <a:off x="2295525" y="4499416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COM</a:t>
            </a:r>
            <a:endParaRPr lang="fr-FR" dirty="0"/>
          </a:p>
        </p:txBody>
      </p:sp>
      <p:sp>
        <p:nvSpPr>
          <p:cNvPr id="15" name="ZoneTexte 14"/>
          <p:cNvSpPr txBox="1"/>
          <p:nvPr/>
        </p:nvSpPr>
        <p:spPr>
          <a:xfrm>
            <a:off x="638175" y="4494648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مركبة</a:t>
            </a:r>
            <a:endParaRPr lang="fr-FR" dirty="0"/>
          </a:p>
        </p:txBody>
      </p:sp>
      <p:sp>
        <p:nvSpPr>
          <p:cNvPr id="16" name="ZoneTexte 15"/>
          <p:cNvSpPr txBox="1"/>
          <p:nvPr/>
        </p:nvSpPr>
        <p:spPr>
          <a:xfrm>
            <a:off x="2295525" y="4947578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VAL</a:t>
            </a:r>
            <a:endParaRPr lang="fr-FR" dirty="0"/>
          </a:p>
        </p:txBody>
      </p:sp>
      <p:sp>
        <p:nvSpPr>
          <p:cNvPr id="17" name="ZoneTexte 16"/>
          <p:cNvSpPr txBox="1"/>
          <p:nvPr/>
        </p:nvSpPr>
        <p:spPr>
          <a:xfrm>
            <a:off x="638175" y="4916838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مركبة</a:t>
            </a:r>
            <a:endParaRPr lang="fr-FR" dirty="0"/>
          </a:p>
        </p:txBody>
      </p:sp>
      <p:sp>
        <p:nvSpPr>
          <p:cNvPr id="18" name="ZoneTexte 17"/>
          <p:cNvSpPr txBox="1"/>
          <p:nvPr/>
        </p:nvSpPr>
        <p:spPr>
          <a:xfrm>
            <a:off x="2295525" y="5374060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REA</a:t>
            </a:r>
            <a:endParaRPr lang="fr-FR" dirty="0"/>
          </a:p>
        </p:txBody>
      </p:sp>
      <p:sp>
        <p:nvSpPr>
          <p:cNvPr id="19" name="ZoneTexte 18"/>
          <p:cNvSpPr txBox="1"/>
          <p:nvPr/>
        </p:nvSpPr>
        <p:spPr>
          <a:xfrm>
            <a:off x="638175" y="5363056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بسيطة</a:t>
            </a:r>
            <a:endParaRPr lang="fr-FR" dirty="0"/>
          </a:p>
        </p:txBody>
      </p:sp>
      <p:sp>
        <p:nvSpPr>
          <p:cNvPr id="20" name="ZoneTexte 19"/>
          <p:cNvSpPr txBox="1"/>
          <p:nvPr/>
        </p:nvSpPr>
        <p:spPr>
          <a:xfrm>
            <a:off x="2295525" y="5711126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REA</a:t>
            </a:r>
            <a:endParaRPr lang="fr-FR" dirty="0"/>
          </a:p>
        </p:txBody>
      </p:sp>
      <p:sp>
        <p:nvSpPr>
          <p:cNvPr id="21" name="ZoneTexte 20"/>
          <p:cNvSpPr txBox="1"/>
          <p:nvPr/>
        </p:nvSpPr>
        <p:spPr>
          <a:xfrm>
            <a:off x="638175" y="5743392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بسيطة</a:t>
            </a:r>
            <a:endParaRPr lang="fr-FR" dirty="0"/>
          </a:p>
        </p:txBody>
      </p:sp>
      <p:sp>
        <p:nvSpPr>
          <p:cNvPr id="22" name="ZoneTexte 21"/>
          <p:cNvSpPr txBox="1"/>
          <p:nvPr/>
        </p:nvSpPr>
        <p:spPr>
          <a:xfrm>
            <a:off x="2295525" y="6138192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ANA</a:t>
            </a:r>
            <a:endParaRPr lang="fr-FR" dirty="0"/>
          </a:p>
        </p:txBody>
      </p:sp>
      <p:sp>
        <p:nvSpPr>
          <p:cNvPr id="23" name="ZoneTexte 22"/>
          <p:cNvSpPr txBox="1"/>
          <p:nvPr/>
        </p:nvSpPr>
        <p:spPr>
          <a:xfrm>
            <a:off x="638175" y="6110168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مركبة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11615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00051" y="514350"/>
            <a:ext cx="8000999" cy="1166282"/>
          </a:xfrm>
        </p:spPr>
        <p:txBody>
          <a:bodyPr/>
          <a:lstStyle/>
          <a:p>
            <a:pPr algn="ctr" rtl="1"/>
            <a:r>
              <a:rPr lang="ar-DZ" sz="2800" dirty="0" smtClean="0"/>
              <a:t>النشاط (2</a:t>
            </a:r>
            <a:r>
              <a:rPr lang="ar-DZ" sz="2800" dirty="0"/>
              <a:t>): </a:t>
            </a:r>
            <a:r>
              <a:rPr lang="ar-DZ" sz="2800" dirty="0" smtClean="0"/>
              <a:t>تصنيف </a:t>
            </a:r>
            <a:r>
              <a:rPr lang="ar-DZ" sz="2800" dirty="0"/>
              <a:t>المهمات </a:t>
            </a:r>
            <a:r>
              <a:rPr lang="ar-DZ" sz="2800" dirty="0" smtClean="0"/>
              <a:t>حسب </a:t>
            </a:r>
            <a:r>
              <a:rPr lang="ar-DZ" sz="2800" dirty="0"/>
              <a:t>الكفاءة المجندة في ممارسة المسعى </a:t>
            </a:r>
            <a:r>
              <a:rPr lang="ar-DZ" sz="2800" dirty="0" smtClean="0"/>
              <a:t>العلمي مع  تحديد طبيعتها</a:t>
            </a:r>
            <a:endParaRPr lang="fr-FR" sz="2800" dirty="0"/>
          </a:p>
        </p:txBody>
      </p:sp>
      <p:graphicFrame>
        <p:nvGraphicFramePr>
          <p:cNvPr id="3" name="Tableau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6023361"/>
              </p:ext>
            </p:extLst>
          </p:nvPr>
        </p:nvGraphicFramePr>
        <p:xfrm>
          <a:off x="209550" y="1653897"/>
          <a:ext cx="9467849" cy="4837176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688233"/>
                <a:gridCol w="5637307"/>
                <a:gridCol w="1178056"/>
                <a:gridCol w="1964253"/>
              </a:tblGrid>
              <a:tr h="152142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300" b="1" dirty="0">
                          <a:effectLst/>
                        </a:rPr>
                        <a:t>رقم</a:t>
                      </a:r>
                      <a:endParaRPr lang="fr-FR" sz="23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300" b="1" dirty="0">
                          <a:effectLst/>
                        </a:rPr>
                        <a:t>نشاطات لأداء مهمات</a:t>
                      </a:r>
                      <a:endParaRPr lang="fr-FR" sz="23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300" b="1">
                          <a:effectLst/>
                        </a:rPr>
                        <a:t>الكفاءة المجندة</a:t>
                      </a:r>
                      <a:endParaRPr lang="fr-FR" sz="23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300" b="1" dirty="0">
                          <a:effectLst/>
                        </a:rPr>
                        <a:t>مهمة</a:t>
                      </a:r>
                      <a:endParaRPr lang="fr-FR" sz="2300" b="1" dirty="0">
                        <a:effectLst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300" b="1" dirty="0">
                          <a:effectLst/>
                        </a:rPr>
                        <a:t> مركبة/ بسيطة</a:t>
                      </a:r>
                      <a:endParaRPr lang="fr-FR" sz="23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</a:tr>
              <a:tr h="152142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300" b="1" dirty="0">
                          <a:effectLst/>
                        </a:rPr>
                        <a:t>61</a:t>
                      </a:r>
                      <a:endParaRPr lang="fr-FR" sz="23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300" b="1">
                          <a:effectLst/>
                        </a:rPr>
                        <a:t> ينظم معطيات وثيقة للتعبير عن مشكلة</a:t>
                      </a:r>
                      <a:endParaRPr lang="fr-FR" sz="23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23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23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152142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300" b="1">
                          <a:effectLst/>
                        </a:rPr>
                        <a:t>62</a:t>
                      </a:r>
                      <a:endParaRPr lang="fr-FR" sz="23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300" b="1" dirty="0">
                          <a:effectLst/>
                        </a:rPr>
                        <a:t>يجمع </a:t>
                      </a:r>
                      <a:r>
                        <a:rPr lang="ar-SA" sz="2300" b="1" dirty="0" smtClean="0">
                          <a:effectLst/>
                        </a:rPr>
                        <a:t>النتائج</a:t>
                      </a:r>
                      <a:endParaRPr lang="fr-FR" sz="23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23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23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152142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300" b="1">
                          <a:effectLst/>
                        </a:rPr>
                        <a:t>63</a:t>
                      </a:r>
                      <a:endParaRPr lang="fr-FR" sz="23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300" b="1">
                          <a:effectLst/>
                        </a:rPr>
                        <a:t>يقوم بقياسات دقيقة</a:t>
                      </a:r>
                      <a:endParaRPr lang="fr-FR" sz="23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300" b="1">
                          <a:effectLst/>
                        </a:rPr>
                        <a:t> </a:t>
                      </a:r>
                      <a:endParaRPr lang="fr-FR" sz="23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300" b="1">
                          <a:effectLst/>
                        </a:rPr>
                        <a:t> </a:t>
                      </a:r>
                      <a:endParaRPr lang="fr-FR" sz="23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152142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300" b="1" dirty="0">
                          <a:effectLst/>
                        </a:rPr>
                        <a:t>64</a:t>
                      </a:r>
                      <a:endParaRPr lang="fr-FR" sz="23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300" b="1">
                          <a:effectLst/>
                        </a:rPr>
                        <a:t> يتبنى موقفا نقديا مدروسا تجاه المعلومات المعطاة</a:t>
                      </a:r>
                      <a:endParaRPr lang="fr-FR" sz="23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300" b="1">
                          <a:effectLst/>
                        </a:rPr>
                        <a:t> </a:t>
                      </a:r>
                      <a:endParaRPr lang="fr-FR" sz="23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300" b="1">
                          <a:effectLst/>
                        </a:rPr>
                        <a:t> </a:t>
                      </a:r>
                      <a:endParaRPr lang="fr-FR" sz="23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152142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300" b="1">
                          <a:effectLst/>
                        </a:rPr>
                        <a:t>65</a:t>
                      </a:r>
                      <a:endParaRPr lang="fr-FR" sz="23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300" b="1" dirty="0" smtClean="0">
                          <a:effectLst/>
                        </a:rPr>
                        <a:t>يستعمل</a:t>
                      </a:r>
                      <a:r>
                        <a:rPr lang="ar-DZ" sz="2300" b="1" baseline="0" dirty="0" smtClean="0">
                          <a:effectLst/>
                        </a:rPr>
                        <a:t> نموذجا نظريا</a:t>
                      </a:r>
                      <a:endParaRPr lang="fr-FR" sz="23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300" b="1">
                          <a:effectLst/>
                        </a:rPr>
                        <a:t> </a:t>
                      </a:r>
                      <a:endParaRPr lang="fr-FR" sz="23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300" b="1">
                          <a:effectLst/>
                        </a:rPr>
                        <a:t> </a:t>
                      </a:r>
                      <a:endParaRPr lang="fr-FR" sz="23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152142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300" b="1">
                          <a:effectLst/>
                        </a:rPr>
                        <a:t>66</a:t>
                      </a:r>
                      <a:endParaRPr lang="fr-FR" sz="23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300" b="1">
                          <a:effectLst/>
                        </a:rPr>
                        <a:t> يثبت أو يرفض الفرضية المقترحة</a:t>
                      </a:r>
                      <a:endParaRPr lang="fr-FR" sz="23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300" b="1">
                          <a:effectLst/>
                        </a:rPr>
                        <a:t> </a:t>
                      </a:r>
                      <a:endParaRPr lang="fr-FR" sz="23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300" b="1">
                          <a:effectLst/>
                        </a:rPr>
                        <a:t> </a:t>
                      </a:r>
                      <a:endParaRPr lang="fr-FR" sz="23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152142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300" b="1">
                          <a:effectLst/>
                        </a:rPr>
                        <a:t>67</a:t>
                      </a:r>
                      <a:endParaRPr lang="fr-FR" sz="23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300" b="1" dirty="0">
                          <a:effectLst/>
                        </a:rPr>
                        <a:t> يقدم </a:t>
                      </a:r>
                      <a:r>
                        <a:rPr lang="ar-SA" sz="2300" b="1" dirty="0" smtClean="0">
                          <a:effectLst/>
                        </a:rPr>
                        <a:t>خلاصة </a:t>
                      </a:r>
                      <a:r>
                        <a:rPr lang="ar-SA" sz="2300" b="1" dirty="0">
                          <a:effectLst/>
                        </a:rPr>
                        <a:t>بطريقة منسجمة وبسيطة</a:t>
                      </a:r>
                      <a:endParaRPr lang="fr-FR" sz="23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300" b="1">
                          <a:effectLst/>
                        </a:rPr>
                        <a:t> </a:t>
                      </a:r>
                      <a:endParaRPr lang="fr-FR" sz="23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300" b="1">
                          <a:effectLst/>
                        </a:rPr>
                        <a:t> </a:t>
                      </a:r>
                      <a:endParaRPr lang="fr-FR" sz="23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152142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300" b="1" dirty="0">
                          <a:effectLst/>
                        </a:rPr>
                        <a:t>68</a:t>
                      </a:r>
                      <a:endParaRPr lang="fr-FR" sz="23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300" b="1">
                          <a:effectLst/>
                        </a:rPr>
                        <a:t>يستغل المعلومات للبرهنة على صحة فرضية</a:t>
                      </a:r>
                      <a:endParaRPr lang="fr-FR" sz="23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300" b="1">
                          <a:effectLst/>
                        </a:rPr>
                        <a:t> </a:t>
                      </a:r>
                      <a:endParaRPr lang="fr-FR" sz="23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300" b="1">
                          <a:effectLst/>
                        </a:rPr>
                        <a:t> </a:t>
                      </a:r>
                      <a:endParaRPr lang="fr-FR" sz="23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152142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300" b="1" dirty="0">
                          <a:effectLst/>
                        </a:rPr>
                        <a:t>69</a:t>
                      </a:r>
                      <a:endParaRPr lang="fr-FR" sz="23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300" b="1" dirty="0" smtClean="0">
                          <a:effectLst/>
                        </a:rPr>
                        <a:t>يجند موارده</a:t>
                      </a:r>
                      <a:endParaRPr lang="fr-FR" sz="23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300" b="1">
                          <a:effectLst/>
                        </a:rPr>
                        <a:t> </a:t>
                      </a:r>
                      <a:endParaRPr lang="fr-FR" sz="23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300" b="1">
                          <a:effectLst/>
                        </a:rPr>
                        <a:t> </a:t>
                      </a:r>
                      <a:endParaRPr lang="fr-FR" sz="23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  <a:tr h="152142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300" b="1" dirty="0">
                          <a:effectLst/>
                        </a:rPr>
                        <a:t>70</a:t>
                      </a:r>
                      <a:endParaRPr lang="fr-FR" sz="23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300" b="1" dirty="0">
                          <a:effectLst/>
                        </a:rPr>
                        <a:t>يلاحظ ويصف الظاهرة</a:t>
                      </a:r>
                      <a:endParaRPr lang="fr-FR" sz="23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300" b="1">
                          <a:effectLst/>
                        </a:rPr>
                        <a:t> </a:t>
                      </a:r>
                      <a:endParaRPr lang="fr-FR" sz="2300" b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300" b="1" dirty="0">
                          <a:effectLst/>
                        </a:rPr>
                        <a:t> </a:t>
                      </a:r>
                      <a:endParaRPr lang="fr-FR" sz="23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9612" marR="49612" marT="0" marB="0"/>
                </a:tc>
              </a:tr>
            </a:tbl>
          </a:graphicData>
        </a:graphic>
      </p:graphicFrame>
      <p:sp>
        <p:nvSpPr>
          <p:cNvPr id="4" name="ZoneTexte 3"/>
          <p:cNvSpPr txBox="1"/>
          <p:nvPr/>
        </p:nvSpPr>
        <p:spPr>
          <a:xfrm>
            <a:off x="2295525" y="2495350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APP</a:t>
            </a:r>
            <a:endParaRPr lang="fr-FR" dirty="0"/>
          </a:p>
        </p:txBody>
      </p:sp>
      <p:sp>
        <p:nvSpPr>
          <p:cNvPr id="5" name="ZoneTexte 4"/>
          <p:cNvSpPr txBox="1"/>
          <p:nvPr/>
        </p:nvSpPr>
        <p:spPr>
          <a:xfrm>
            <a:off x="600075" y="2495350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بسيطة</a:t>
            </a:r>
            <a:endParaRPr lang="fr-FR" dirty="0"/>
          </a:p>
        </p:txBody>
      </p:sp>
      <p:sp>
        <p:nvSpPr>
          <p:cNvPr id="6" name="ZoneTexte 5"/>
          <p:cNvSpPr txBox="1"/>
          <p:nvPr/>
        </p:nvSpPr>
        <p:spPr>
          <a:xfrm>
            <a:off x="2295525" y="2864682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REA</a:t>
            </a:r>
            <a:endParaRPr lang="fr-FR" dirty="0"/>
          </a:p>
        </p:txBody>
      </p:sp>
      <p:sp>
        <p:nvSpPr>
          <p:cNvPr id="7" name="ZoneTexte 6"/>
          <p:cNvSpPr txBox="1"/>
          <p:nvPr/>
        </p:nvSpPr>
        <p:spPr>
          <a:xfrm>
            <a:off x="600075" y="2864682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بسيطة</a:t>
            </a:r>
            <a:endParaRPr lang="fr-FR" dirty="0"/>
          </a:p>
        </p:txBody>
      </p:sp>
      <p:sp>
        <p:nvSpPr>
          <p:cNvPr id="8" name="ZoneTexte 7"/>
          <p:cNvSpPr txBox="1"/>
          <p:nvPr/>
        </p:nvSpPr>
        <p:spPr>
          <a:xfrm>
            <a:off x="2295525" y="3299814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REA</a:t>
            </a:r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600075" y="3234014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بسيطة</a:t>
            </a:r>
            <a:endParaRPr lang="fr-FR" dirty="0"/>
          </a:p>
        </p:txBody>
      </p:sp>
      <p:sp>
        <p:nvSpPr>
          <p:cNvPr id="10" name="ZoneTexte 9"/>
          <p:cNvSpPr txBox="1"/>
          <p:nvPr/>
        </p:nvSpPr>
        <p:spPr>
          <a:xfrm>
            <a:off x="2295525" y="3669146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APP</a:t>
            </a:r>
            <a:endParaRPr lang="fr-FR" dirty="0"/>
          </a:p>
        </p:txBody>
      </p:sp>
      <p:sp>
        <p:nvSpPr>
          <p:cNvPr id="11" name="ZoneTexte 10"/>
          <p:cNvSpPr txBox="1"/>
          <p:nvPr/>
        </p:nvSpPr>
        <p:spPr>
          <a:xfrm>
            <a:off x="600075" y="3608978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بسيطة</a:t>
            </a:r>
            <a:endParaRPr lang="fr-FR" dirty="0"/>
          </a:p>
        </p:txBody>
      </p:sp>
      <p:sp>
        <p:nvSpPr>
          <p:cNvPr id="12" name="ZoneTexte 11"/>
          <p:cNvSpPr txBox="1"/>
          <p:nvPr/>
        </p:nvSpPr>
        <p:spPr>
          <a:xfrm>
            <a:off x="2295525" y="4104438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REA</a:t>
            </a:r>
            <a:endParaRPr lang="fr-FR" dirty="0"/>
          </a:p>
        </p:txBody>
      </p:sp>
      <p:sp>
        <p:nvSpPr>
          <p:cNvPr id="13" name="ZoneTexte 12"/>
          <p:cNvSpPr txBox="1"/>
          <p:nvPr/>
        </p:nvSpPr>
        <p:spPr>
          <a:xfrm>
            <a:off x="600075" y="4121816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بسيطة</a:t>
            </a:r>
            <a:endParaRPr lang="fr-FR" dirty="0"/>
          </a:p>
        </p:txBody>
      </p:sp>
      <p:sp>
        <p:nvSpPr>
          <p:cNvPr id="14" name="ZoneTexte 13"/>
          <p:cNvSpPr txBox="1"/>
          <p:nvPr/>
        </p:nvSpPr>
        <p:spPr>
          <a:xfrm>
            <a:off x="2295525" y="4565924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VAL</a:t>
            </a:r>
            <a:endParaRPr lang="fr-FR" dirty="0"/>
          </a:p>
        </p:txBody>
      </p:sp>
      <p:sp>
        <p:nvSpPr>
          <p:cNvPr id="15" name="ZoneTexte 14"/>
          <p:cNvSpPr txBox="1"/>
          <p:nvPr/>
        </p:nvSpPr>
        <p:spPr>
          <a:xfrm>
            <a:off x="600075" y="4535184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مركبة</a:t>
            </a:r>
            <a:endParaRPr lang="fr-FR" dirty="0"/>
          </a:p>
        </p:txBody>
      </p:sp>
      <p:sp>
        <p:nvSpPr>
          <p:cNvPr id="16" name="ZoneTexte 15"/>
          <p:cNvSpPr txBox="1"/>
          <p:nvPr/>
        </p:nvSpPr>
        <p:spPr>
          <a:xfrm>
            <a:off x="2295525" y="4946378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COM</a:t>
            </a:r>
            <a:endParaRPr lang="fr-FR" dirty="0"/>
          </a:p>
        </p:txBody>
      </p:sp>
      <p:sp>
        <p:nvSpPr>
          <p:cNvPr id="17" name="ZoneTexte 16"/>
          <p:cNvSpPr txBox="1"/>
          <p:nvPr/>
        </p:nvSpPr>
        <p:spPr>
          <a:xfrm>
            <a:off x="600075" y="4946378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مركبة</a:t>
            </a:r>
            <a:endParaRPr lang="fr-FR" dirty="0"/>
          </a:p>
        </p:txBody>
      </p:sp>
      <p:sp>
        <p:nvSpPr>
          <p:cNvPr id="18" name="ZoneTexte 17"/>
          <p:cNvSpPr txBox="1"/>
          <p:nvPr/>
        </p:nvSpPr>
        <p:spPr>
          <a:xfrm>
            <a:off x="2295525" y="5375474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VAL</a:t>
            </a:r>
            <a:endParaRPr lang="fr-FR" dirty="0"/>
          </a:p>
        </p:txBody>
      </p:sp>
      <p:sp>
        <p:nvSpPr>
          <p:cNvPr id="19" name="ZoneTexte 18"/>
          <p:cNvSpPr txBox="1"/>
          <p:nvPr/>
        </p:nvSpPr>
        <p:spPr>
          <a:xfrm>
            <a:off x="600075" y="5328298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مركبة</a:t>
            </a:r>
            <a:endParaRPr lang="fr-FR" dirty="0"/>
          </a:p>
        </p:txBody>
      </p:sp>
      <p:sp>
        <p:nvSpPr>
          <p:cNvPr id="20" name="ZoneTexte 19"/>
          <p:cNvSpPr txBox="1"/>
          <p:nvPr/>
        </p:nvSpPr>
        <p:spPr>
          <a:xfrm>
            <a:off x="2295525" y="5759290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APP</a:t>
            </a:r>
            <a:endParaRPr lang="fr-FR" dirty="0"/>
          </a:p>
        </p:txBody>
      </p:sp>
      <p:sp>
        <p:nvSpPr>
          <p:cNvPr id="21" name="ZoneTexte 20"/>
          <p:cNvSpPr txBox="1"/>
          <p:nvPr/>
        </p:nvSpPr>
        <p:spPr>
          <a:xfrm>
            <a:off x="600075" y="5697630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مركبة</a:t>
            </a:r>
            <a:endParaRPr lang="fr-FR" dirty="0"/>
          </a:p>
        </p:txBody>
      </p:sp>
      <p:sp>
        <p:nvSpPr>
          <p:cNvPr id="22" name="ZoneTexte 21"/>
          <p:cNvSpPr txBox="1"/>
          <p:nvPr/>
        </p:nvSpPr>
        <p:spPr>
          <a:xfrm>
            <a:off x="2295525" y="6123588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 smtClean="0"/>
              <a:t>ANA</a:t>
            </a:r>
            <a:endParaRPr lang="fr-FR" dirty="0"/>
          </a:p>
        </p:txBody>
      </p:sp>
      <p:sp>
        <p:nvSpPr>
          <p:cNvPr id="23" name="ZoneTexte 22"/>
          <p:cNvSpPr txBox="1"/>
          <p:nvPr/>
        </p:nvSpPr>
        <p:spPr>
          <a:xfrm>
            <a:off x="600075" y="6123588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DZ" dirty="0" smtClean="0"/>
              <a:t>بسيطة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10985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idx="4294967295"/>
          </p:nvPr>
        </p:nvSpPr>
        <p:spPr>
          <a:xfrm>
            <a:off x="772511" y="0"/>
            <a:ext cx="7118350" cy="706438"/>
          </a:xfrm>
        </p:spPr>
        <p:txBody>
          <a:bodyPr/>
          <a:lstStyle/>
          <a:p>
            <a:pPr algn="ctr"/>
            <a:r>
              <a:rPr lang="ar-DZ" b="1" dirty="0" smtClean="0">
                <a:solidFill>
                  <a:schemeClr val="tx1"/>
                </a:solidFill>
              </a:rPr>
              <a:t>الحصيلة</a:t>
            </a:r>
            <a:endParaRPr lang="fr-FR" b="1" dirty="0">
              <a:solidFill>
                <a:schemeClr val="tx1"/>
              </a:solidFill>
            </a:endParaRPr>
          </a:p>
        </p:txBody>
      </p:sp>
      <p:graphicFrame>
        <p:nvGraphicFramePr>
          <p:cNvPr id="3" name="Tableau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644369"/>
              </p:ext>
            </p:extLst>
          </p:nvPr>
        </p:nvGraphicFramePr>
        <p:xfrm>
          <a:off x="126125" y="662151"/>
          <a:ext cx="9648496" cy="6177561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1204690"/>
                <a:gridCol w="1527628"/>
                <a:gridCol w="6916178"/>
              </a:tblGrid>
              <a:tr h="709449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1800" dirty="0">
                          <a:effectLst/>
                        </a:rPr>
                        <a:t>خطوات المسعى العلمي</a:t>
                      </a:r>
                      <a:endParaRPr lang="fr-FR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6645" marR="56645" marT="0" marB="0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dirty="0">
                          <a:effectLst/>
                        </a:rPr>
                        <a:t>الكفاءات المنهجية المجندة</a:t>
                      </a:r>
                      <a:endParaRPr lang="fr-FR" sz="20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6645" marR="56645" marT="0" marB="0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400" dirty="0">
                          <a:effectLst/>
                        </a:rPr>
                        <a:t>التعليمة</a:t>
                      </a:r>
                      <a:endParaRPr lang="fr-FR" sz="24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6645" marR="56645" marT="0" marB="0" anchor="ctr"/>
                </a:tc>
              </a:tr>
              <a:tr h="3219616"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DZ" sz="2400">
                          <a:effectLst/>
                        </a:rPr>
                        <a:t>الملاحظة والتساؤل</a:t>
                      </a:r>
                      <a:endParaRPr lang="fr-FR" sz="2400">
                        <a:effectLst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2400">
                          <a:effectLst/>
                        </a:rPr>
                        <a:t>O P</a:t>
                      </a:r>
                      <a:endParaRPr lang="fr-FR" sz="24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6645" marR="56645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400">
                          <a:effectLst/>
                        </a:rPr>
                        <a:t>يتملك</a:t>
                      </a:r>
                      <a:endParaRPr lang="fr-FR" sz="2400">
                        <a:effectLst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400">
                          <a:effectLst/>
                        </a:rPr>
                        <a:t>=</a:t>
                      </a:r>
                      <a:endParaRPr lang="fr-FR" sz="2400">
                        <a:effectLst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400">
                          <a:effectLst/>
                        </a:rPr>
                        <a:t>S’APPROPRIER</a:t>
                      </a: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400">
                          <a:effectLst/>
                        </a:rPr>
                        <a:t> </a:t>
                      </a: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400">
                          <a:effectLst/>
                        </a:rPr>
                        <a:t>(APP)</a:t>
                      </a:r>
                      <a:endParaRPr lang="fr-FR" sz="24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6645" marR="56645" marT="0" marB="0" anchor="ctr"/>
                </a:tc>
                <a:tc>
                  <a:txBody>
                    <a:bodyPr/>
                    <a:lstStyle/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ar-DZ" sz="2400" dirty="0">
                          <a:effectLst/>
                        </a:rPr>
                        <a:t>يفحص المعطيات </a:t>
                      </a:r>
                      <a:endParaRPr lang="fr-FR" sz="2400" dirty="0">
                        <a:effectLst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fr-FR" sz="2400" dirty="0">
                          <a:effectLst/>
                        </a:rPr>
                        <a:t> </a:t>
                      </a:r>
                      <a:r>
                        <a:rPr lang="ar-DZ" sz="2400" dirty="0">
                          <a:effectLst/>
                        </a:rPr>
                        <a:t>يختار المعلومات التي لها علاقة بالمشكلة </a:t>
                      </a:r>
                      <a:endParaRPr lang="fr-FR" sz="2400" dirty="0">
                        <a:effectLst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fr-FR" sz="2400" dirty="0">
                          <a:effectLst/>
                        </a:rPr>
                        <a:t> </a:t>
                      </a:r>
                      <a:r>
                        <a:rPr lang="ar-DZ" sz="2400" dirty="0">
                          <a:effectLst/>
                        </a:rPr>
                        <a:t>يميز بين المعطيات الأساسية والثانوية</a:t>
                      </a:r>
                      <a:endParaRPr lang="fr-FR" sz="2400" dirty="0">
                        <a:effectLst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fr-FR" sz="2400" dirty="0">
                          <a:effectLst/>
                        </a:rPr>
                        <a:t> </a:t>
                      </a:r>
                      <a:r>
                        <a:rPr lang="ar-DZ" sz="2400" dirty="0">
                          <a:effectLst/>
                        </a:rPr>
                        <a:t>يتعرف على المعطيات المفيدة  للإجابة على التعليمة</a:t>
                      </a:r>
                      <a:endParaRPr lang="fr-FR" sz="2400" dirty="0">
                        <a:effectLst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ar-DZ" sz="2400" dirty="0">
                          <a:effectLst/>
                        </a:rPr>
                        <a:t>يضع مخططا للوضعية</a:t>
                      </a:r>
                      <a:endParaRPr lang="fr-FR" sz="2400" dirty="0">
                        <a:effectLst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fr-FR" sz="2400" dirty="0">
                          <a:effectLst/>
                        </a:rPr>
                        <a:t> </a:t>
                      </a:r>
                      <a:r>
                        <a:rPr lang="ar-DZ" sz="2400" dirty="0">
                          <a:effectLst/>
                        </a:rPr>
                        <a:t>ينظم معطيات وثيقة للتعبير عن مشكلة</a:t>
                      </a:r>
                      <a:endParaRPr lang="fr-FR" sz="2400" dirty="0">
                        <a:effectLst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fr-FR" sz="2400" dirty="0">
                          <a:effectLst/>
                        </a:rPr>
                        <a:t> </a:t>
                      </a:r>
                      <a:r>
                        <a:rPr lang="ar-DZ" sz="2400" dirty="0">
                          <a:effectLst/>
                        </a:rPr>
                        <a:t>يتعرف على المفردات العلمية والرموز والوحدات والمقاييس المرتبطة بالوضعية</a:t>
                      </a:r>
                      <a:endParaRPr lang="fr-FR" sz="2400" dirty="0">
                        <a:effectLst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fr-FR" sz="2400" dirty="0">
                          <a:effectLst/>
                        </a:rPr>
                        <a:t> </a:t>
                      </a:r>
                      <a:r>
                        <a:rPr lang="ar-DZ" sz="2400" dirty="0">
                          <a:effectLst/>
                        </a:rPr>
                        <a:t>يجند موارده </a:t>
                      </a:r>
                      <a:endParaRPr lang="fr-FR" sz="2400" dirty="0">
                        <a:effectLst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fr-FR" sz="2400" dirty="0">
                          <a:effectLst/>
                        </a:rPr>
                        <a:t> </a:t>
                      </a:r>
                      <a:r>
                        <a:rPr lang="ar-DZ" sz="2400" dirty="0">
                          <a:effectLst/>
                        </a:rPr>
                        <a:t>يتبنى موقفا نقديا مدروسا تجاه المعلومات المعطاة</a:t>
                      </a:r>
                      <a:endParaRPr lang="fr-FR" sz="2400" dirty="0">
                        <a:effectLst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fr-FR" sz="2400" dirty="0">
                          <a:effectLst/>
                        </a:rPr>
                        <a:t> </a:t>
                      </a:r>
                      <a:r>
                        <a:rPr lang="ar-DZ" sz="2400" dirty="0">
                          <a:effectLst/>
                        </a:rPr>
                        <a:t>يطرح مشكلة ذات أهمية علمية</a:t>
                      </a:r>
                      <a:endParaRPr lang="fr-FR" sz="2400" dirty="0">
                        <a:effectLst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ar-DZ" sz="2400" dirty="0">
                          <a:effectLst/>
                        </a:rPr>
                        <a:t>يعيد صياغة مشكلة</a:t>
                      </a:r>
                      <a:endParaRPr lang="fr-FR" sz="2400" dirty="0">
                        <a:effectLst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fr-FR" sz="2400" dirty="0">
                          <a:effectLst/>
                        </a:rPr>
                        <a:t> </a:t>
                      </a:r>
                      <a:r>
                        <a:rPr lang="ar-DZ" sz="2400" dirty="0">
                          <a:effectLst/>
                        </a:rPr>
                        <a:t>يحدد الأهداف</a:t>
                      </a:r>
                      <a:endParaRPr lang="fr-FR" sz="24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6645" marR="56645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9276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idx="4294967295"/>
          </p:nvPr>
        </p:nvSpPr>
        <p:spPr>
          <a:xfrm>
            <a:off x="772511" y="0"/>
            <a:ext cx="7118350" cy="706438"/>
          </a:xfrm>
        </p:spPr>
        <p:txBody>
          <a:bodyPr/>
          <a:lstStyle/>
          <a:p>
            <a:pPr algn="ctr"/>
            <a:r>
              <a:rPr lang="ar-DZ" b="1" dirty="0" smtClean="0">
                <a:solidFill>
                  <a:schemeClr val="tx1"/>
                </a:solidFill>
              </a:rPr>
              <a:t>الحصيلة</a:t>
            </a:r>
            <a:endParaRPr lang="fr-FR" b="1" dirty="0">
              <a:solidFill>
                <a:schemeClr val="tx1"/>
              </a:solidFill>
            </a:endParaRPr>
          </a:p>
        </p:txBody>
      </p:sp>
      <p:graphicFrame>
        <p:nvGraphicFramePr>
          <p:cNvPr id="3" name="Tableau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2291435"/>
              </p:ext>
            </p:extLst>
          </p:nvPr>
        </p:nvGraphicFramePr>
        <p:xfrm>
          <a:off x="126125" y="662151"/>
          <a:ext cx="9648496" cy="6177561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1204690"/>
                <a:gridCol w="1527628"/>
                <a:gridCol w="6916178"/>
              </a:tblGrid>
              <a:tr h="709449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1800" dirty="0">
                          <a:effectLst/>
                        </a:rPr>
                        <a:t>خطوات المسعى العلمي</a:t>
                      </a:r>
                      <a:endParaRPr lang="fr-FR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6645" marR="56645" marT="0" marB="0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dirty="0">
                          <a:effectLst/>
                        </a:rPr>
                        <a:t>الكفاءات المنهجية المجندة</a:t>
                      </a:r>
                      <a:endParaRPr lang="fr-FR" sz="20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6645" marR="56645" marT="0" marB="0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400" dirty="0">
                          <a:effectLst/>
                        </a:rPr>
                        <a:t>التعليمة</a:t>
                      </a:r>
                      <a:endParaRPr lang="fr-FR" sz="24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6645" marR="56645" marT="0" marB="0" anchor="ctr"/>
                </a:tc>
              </a:tr>
              <a:tr h="3219616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DZ" sz="2400" b="1">
                          <a:effectLst/>
                          <a:latin typeface="Calibri"/>
                          <a:ea typeface="Calibri"/>
                          <a:cs typeface="Times New Roman"/>
                        </a:rPr>
                        <a:t>الفرضية</a:t>
                      </a:r>
                      <a:endParaRPr lang="fr-FR" sz="24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2400" b="1">
                          <a:effectLst/>
                          <a:latin typeface="Times New Roman"/>
                          <a:ea typeface="Calibri"/>
                          <a:cs typeface="Arial"/>
                        </a:rPr>
                        <a:t>H</a:t>
                      </a:r>
                      <a:endParaRPr lang="fr-FR" sz="24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400" b="1">
                          <a:effectLst/>
                          <a:latin typeface="Calibri"/>
                          <a:ea typeface="Calibri"/>
                          <a:cs typeface="Arial"/>
                        </a:rPr>
                        <a:t>يحلل و يستدل</a:t>
                      </a:r>
                      <a:endParaRPr lang="fr-FR" sz="24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400" b="1">
                          <a:effectLst/>
                          <a:latin typeface="Calibri"/>
                          <a:ea typeface="Calibri"/>
                          <a:cs typeface="Arial"/>
                        </a:rPr>
                        <a:t>=</a:t>
                      </a:r>
                      <a:endParaRPr lang="fr-FR" sz="24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400" b="1">
                          <a:effectLst/>
                          <a:latin typeface="Calibri"/>
                          <a:ea typeface="Calibri"/>
                          <a:cs typeface="Arial"/>
                        </a:rPr>
                        <a:t>ANALYSER-RAISONNER</a:t>
                      </a:r>
                      <a:endParaRPr lang="fr-FR" sz="24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400" b="1">
                          <a:effectLst/>
                          <a:latin typeface="Calibri"/>
                          <a:ea typeface="Calibri"/>
                          <a:cs typeface="Arial"/>
                        </a:rPr>
                        <a:t> </a:t>
                      </a:r>
                      <a:endParaRPr lang="fr-FR" sz="24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400" b="1">
                          <a:effectLst/>
                          <a:latin typeface="Calibri"/>
                          <a:ea typeface="Calibri"/>
                          <a:cs typeface="Arial"/>
                        </a:rPr>
                        <a:t>(ANA)</a:t>
                      </a:r>
                      <a:endParaRPr lang="fr-FR" sz="24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ar-DZ" sz="2400" dirty="0">
                          <a:effectLst/>
                          <a:latin typeface="Calibri"/>
                          <a:ea typeface="Calibri"/>
                          <a:cs typeface="Arial"/>
                        </a:rPr>
                        <a:t>ينظم ويستغل المعلومات، المعطيات</a:t>
                      </a:r>
                      <a:endParaRPr lang="fr-FR" sz="24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ar-DZ" sz="2400" dirty="0">
                          <a:effectLst/>
                          <a:latin typeface="Calibri"/>
                          <a:ea typeface="Calibri"/>
                          <a:cs typeface="Arial"/>
                        </a:rPr>
                        <a:t>يتعرف على العوامل المؤثرة في الظاهرة</a:t>
                      </a:r>
                      <a:endParaRPr lang="fr-FR" sz="24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fr-FR" sz="2400" dirty="0">
                          <a:effectLst/>
                          <a:latin typeface="Arial"/>
                          <a:ea typeface="Calibri"/>
                          <a:cs typeface="Arial"/>
                        </a:rPr>
                        <a:t> </a:t>
                      </a:r>
                      <a:r>
                        <a:rPr lang="ar-DZ" sz="2400" dirty="0">
                          <a:effectLst/>
                          <a:latin typeface="Arial"/>
                          <a:ea typeface="Calibri"/>
                          <a:cs typeface="Arial"/>
                        </a:rPr>
                        <a:t>يقترح فرضية</a:t>
                      </a:r>
                      <a:endParaRPr lang="fr-FR" sz="24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fr-FR" sz="2400" dirty="0">
                          <a:effectLst/>
                          <a:latin typeface="Arial"/>
                          <a:ea typeface="Calibri"/>
                          <a:cs typeface="Arial"/>
                        </a:rPr>
                        <a:t> </a:t>
                      </a:r>
                      <a:r>
                        <a:rPr lang="ar-DZ" sz="2400" dirty="0">
                          <a:effectLst/>
                          <a:latin typeface="Arial"/>
                          <a:ea typeface="Calibri"/>
                          <a:cs typeface="Arial"/>
                        </a:rPr>
                        <a:t>يقترح طريقة لحل المشكلة (تقنية البحث)</a:t>
                      </a:r>
                      <a:endParaRPr lang="fr-FR" sz="24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fr-FR" sz="2400" dirty="0">
                          <a:effectLst/>
                          <a:latin typeface="Arial"/>
                          <a:ea typeface="Calibri"/>
                          <a:cs typeface="Arial"/>
                        </a:rPr>
                        <a:t> </a:t>
                      </a:r>
                      <a:r>
                        <a:rPr lang="ar-DZ" sz="2400" dirty="0">
                          <a:effectLst/>
                          <a:latin typeface="Arial"/>
                          <a:ea typeface="Calibri"/>
                          <a:cs typeface="Arial"/>
                        </a:rPr>
                        <a:t>يقترح برتوكولا تجريبيا</a:t>
                      </a:r>
                      <a:endParaRPr lang="fr-FR" sz="24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fr-FR" sz="2400" dirty="0">
                          <a:effectLst/>
                          <a:latin typeface="Arial"/>
                          <a:ea typeface="Calibri"/>
                          <a:cs typeface="Arial"/>
                        </a:rPr>
                        <a:t> </a:t>
                      </a:r>
                      <a:r>
                        <a:rPr lang="ar-DZ" sz="2400" dirty="0">
                          <a:effectLst/>
                          <a:latin typeface="Arial"/>
                          <a:ea typeface="Calibri"/>
                          <a:cs typeface="Arial"/>
                        </a:rPr>
                        <a:t>يقترح فرضية ومعها طريقة التحقق منها</a:t>
                      </a:r>
                      <a:endParaRPr lang="fr-FR" sz="24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fr-FR" sz="2400" dirty="0">
                          <a:effectLst/>
                          <a:latin typeface="Arial"/>
                          <a:ea typeface="Calibri"/>
                          <a:cs typeface="Arial"/>
                        </a:rPr>
                        <a:t> </a:t>
                      </a:r>
                      <a:r>
                        <a:rPr lang="ar-DZ" sz="2400" dirty="0">
                          <a:effectLst/>
                          <a:latin typeface="Arial"/>
                          <a:ea typeface="Calibri"/>
                          <a:cs typeface="Arial"/>
                        </a:rPr>
                        <a:t>يصمم ، يختار ويستعمل نموذجا مكيفا</a:t>
                      </a:r>
                      <a:endParaRPr lang="fr-FR" sz="24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ar-DZ" sz="2400" dirty="0">
                          <a:effectLst/>
                          <a:latin typeface="Calibri"/>
                          <a:ea typeface="Calibri"/>
                          <a:cs typeface="Arial"/>
                        </a:rPr>
                        <a:t>يقوم باستدلال علمي</a:t>
                      </a:r>
                      <a:endParaRPr lang="fr-FR" sz="24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fr-FR" sz="2400" dirty="0">
                          <a:effectLst/>
                          <a:latin typeface="Arial"/>
                          <a:ea typeface="Calibri"/>
                          <a:cs typeface="Arial"/>
                        </a:rPr>
                        <a:t> </a:t>
                      </a:r>
                      <a:r>
                        <a:rPr lang="ar-DZ" sz="2400" dirty="0">
                          <a:effectLst/>
                          <a:latin typeface="Arial"/>
                          <a:ea typeface="Calibri"/>
                          <a:cs typeface="Arial"/>
                        </a:rPr>
                        <a:t>يعلل البروتوكول التجريبي، </a:t>
                      </a:r>
                      <a:endParaRPr lang="fr-FR" sz="24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ar-DZ" sz="2400" dirty="0">
                          <a:effectLst/>
                          <a:latin typeface="Calibri"/>
                          <a:ea typeface="Calibri"/>
                          <a:cs typeface="Arial"/>
                        </a:rPr>
                        <a:t>يحدد العوامل والمتغيرات ذات الصلة</a:t>
                      </a:r>
                      <a:endParaRPr lang="fr-FR" sz="24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fr-FR" sz="2400" dirty="0">
                          <a:effectLst/>
                          <a:latin typeface="Arial"/>
                          <a:ea typeface="Calibri"/>
                          <a:cs typeface="Arial"/>
                        </a:rPr>
                        <a:t> </a:t>
                      </a:r>
                      <a:r>
                        <a:rPr lang="ar-DZ" sz="2400" dirty="0">
                          <a:effectLst/>
                          <a:latin typeface="Arial"/>
                          <a:ea typeface="Calibri"/>
                          <a:cs typeface="Arial"/>
                        </a:rPr>
                        <a:t>يحدد شروط استعمال الأدوات، ويعدل التركيب التجريبي</a:t>
                      </a:r>
                      <a:endParaRPr lang="fr-FR" sz="24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fr-FR" sz="2400" dirty="0">
                          <a:effectLst/>
                          <a:latin typeface="Arial"/>
                          <a:ea typeface="Calibri"/>
                          <a:cs typeface="Arial"/>
                        </a:rPr>
                        <a:t> </a:t>
                      </a:r>
                      <a:r>
                        <a:rPr lang="ar-DZ" sz="2400" dirty="0">
                          <a:effectLst/>
                          <a:latin typeface="Arial"/>
                          <a:ea typeface="Calibri"/>
                          <a:cs typeface="Arial"/>
                        </a:rPr>
                        <a:t>يقترح استراتيجية للإجابة عن المشكل المطروح</a:t>
                      </a:r>
                      <a:endParaRPr lang="fr-FR" sz="24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fr-FR" sz="2400" dirty="0">
                          <a:effectLst/>
                          <a:latin typeface="Arial"/>
                          <a:ea typeface="Calibri"/>
                          <a:cs typeface="Arial"/>
                        </a:rPr>
                        <a:t> </a:t>
                      </a:r>
                      <a:r>
                        <a:rPr lang="ar-DZ" sz="2400" dirty="0">
                          <a:effectLst/>
                          <a:latin typeface="Arial"/>
                          <a:ea typeface="Calibri"/>
                          <a:cs typeface="Arial"/>
                        </a:rPr>
                        <a:t>يحدد المفاهيم المستعملة و العلاقات القائمة بينها</a:t>
                      </a:r>
                      <a:endParaRPr lang="fr-FR" sz="24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7298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idx="4294967295"/>
          </p:nvPr>
        </p:nvSpPr>
        <p:spPr>
          <a:xfrm>
            <a:off x="772511" y="0"/>
            <a:ext cx="7118350" cy="706438"/>
          </a:xfrm>
        </p:spPr>
        <p:txBody>
          <a:bodyPr/>
          <a:lstStyle/>
          <a:p>
            <a:pPr algn="ctr"/>
            <a:r>
              <a:rPr lang="ar-DZ" b="1" dirty="0" smtClean="0">
                <a:solidFill>
                  <a:schemeClr val="tx1"/>
                </a:solidFill>
              </a:rPr>
              <a:t>الحصيلة</a:t>
            </a:r>
            <a:endParaRPr lang="fr-FR" b="1" dirty="0">
              <a:solidFill>
                <a:schemeClr val="tx1"/>
              </a:solidFill>
            </a:endParaRPr>
          </a:p>
        </p:txBody>
      </p:sp>
      <p:graphicFrame>
        <p:nvGraphicFramePr>
          <p:cNvPr id="3" name="Tableau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3303131"/>
              </p:ext>
            </p:extLst>
          </p:nvPr>
        </p:nvGraphicFramePr>
        <p:xfrm>
          <a:off x="126125" y="662151"/>
          <a:ext cx="9648496" cy="6072405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1204690"/>
                <a:gridCol w="1527628"/>
                <a:gridCol w="6916178"/>
              </a:tblGrid>
              <a:tr h="709449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1800" dirty="0">
                          <a:effectLst/>
                        </a:rPr>
                        <a:t>خطوات المسعى العلمي</a:t>
                      </a:r>
                      <a:endParaRPr lang="fr-FR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6645" marR="56645" marT="0" marB="0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dirty="0">
                          <a:effectLst/>
                        </a:rPr>
                        <a:t>الكفاءات المنهجية المجندة</a:t>
                      </a:r>
                      <a:endParaRPr lang="fr-FR" sz="20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6645" marR="56645" marT="0" marB="0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400" dirty="0">
                          <a:effectLst/>
                        </a:rPr>
                        <a:t>التعليمة</a:t>
                      </a:r>
                      <a:endParaRPr lang="fr-FR" sz="24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6645" marR="56645" marT="0" marB="0" anchor="ctr"/>
                </a:tc>
              </a:tr>
              <a:tr h="3219616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DZ" sz="1800" b="1">
                          <a:effectLst/>
                          <a:latin typeface="Calibri"/>
                          <a:ea typeface="Calibri"/>
                          <a:cs typeface="Times New Roman"/>
                        </a:rPr>
                        <a:t>تقنيات البحث</a:t>
                      </a:r>
                      <a:endParaRPr lang="fr-FR" sz="1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800" b="1">
                          <a:effectLst/>
                          <a:latin typeface="Times New Roman"/>
                          <a:ea typeface="Calibri"/>
                          <a:cs typeface="Arial"/>
                        </a:rPr>
                        <a:t>E</a:t>
                      </a:r>
                      <a:endParaRPr lang="fr-FR" sz="1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1800" b="1">
                          <a:effectLst/>
                          <a:latin typeface="Calibri"/>
                          <a:ea typeface="Calibri"/>
                          <a:cs typeface="Arial"/>
                        </a:rPr>
                        <a:t>ينجز</a:t>
                      </a:r>
                      <a:endParaRPr lang="fr-FR" sz="1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1800" b="1">
                          <a:effectLst/>
                          <a:latin typeface="Calibri"/>
                          <a:ea typeface="Calibri"/>
                          <a:cs typeface="Arial"/>
                        </a:rPr>
                        <a:t>=</a:t>
                      </a:r>
                      <a:endParaRPr lang="fr-FR" sz="1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800" b="1">
                          <a:effectLst/>
                          <a:latin typeface="Calibri"/>
                          <a:ea typeface="Calibri"/>
                          <a:cs typeface="Arial"/>
                        </a:rPr>
                        <a:t>REALISER</a:t>
                      </a:r>
                      <a:endParaRPr lang="fr-FR" sz="1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800" b="1">
                          <a:effectLst/>
                          <a:latin typeface="Calibri"/>
                          <a:ea typeface="Calibri"/>
                          <a:cs typeface="Arial"/>
                        </a:rPr>
                        <a:t> </a:t>
                      </a:r>
                      <a:endParaRPr lang="fr-FR" sz="1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800" b="1">
                          <a:effectLst/>
                          <a:latin typeface="Calibri"/>
                          <a:ea typeface="Calibri"/>
                          <a:cs typeface="Arial"/>
                        </a:rPr>
                        <a:t>(REA)</a:t>
                      </a:r>
                      <a:r>
                        <a:rPr lang="fr-FR" sz="1800" b="1">
                          <a:effectLst/>
                          <a:latin typeface="Times New Roman"/>
                          <a:ea typeface="Calibri"/>
                          <a:cs typeface="Arial"/>
                        </a:rPr>
                        <a:t> </a:t>
                      </a:r>
                      <a:endParaRPr lang="fr-FR" sz="1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800" b="1">
                          <a:effectLst/>
                          <a:latin typeface="Calibri"/>
                          <a:ea typeface="Calibri"/>
                          <a:cs typeface="Arial"/>
                        </a:rPr>
                        <a:t> </a:t>
                      </a:r>
                      <a:endParaRPr lang="fr-FR" sz="1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ar-DZ" sz="1800" dirty="0">
                          <a:effectLst/>
                          <a:latin typeface="Calibri"/>
                          <a:ea typeface="Calibri"/>
                          <a:cs typeface="Arial"/>
                        </a:rPr>
                        <a:t>يختار طريقة الحل، يختار برتوكولا تجريبيا</a:t>
                      </a:r>
                      <a:endParaRPr lang="fr-FR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ar-DZ" sz="1800" dirty="0">
                          <a:effectLst/>
                          <a:latin typeface="Calibri"/>
                          <a:ea typeface="Calibri"/>
                          <a:cs typeface="Arial"/>
                        </a:rPr>
                        <a:t>ينفذ طريقة الحل، بروتوكولا تجريبيا، محاكاة، توثيق</a:t>
                      </a:r>
                      <a:endParaRPr lang="fr-FR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ar-DZ" sz="1800" dirty="0">
                          <a:effectLst/>
                          <a:latin typeface="Calibri"/>
                          <a:ea typeface="Calibri"/>
                          <a:cs typeface="Arial"/>
                        </a:rPr>
                        <a:t>ينجز رسما تخطيطيا يسمح بتنفيذ بروتوكول تجريبي</a:t>
                      </a:r>
                      <a:endParaRPr lang="fr-FR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ar-DZ" sz="1800" dirty="0">
                          <a:effectLst/>
                          <a:latin typeface="Calibri"/>
                          <a:ea typeface="Calibri"/>
                          <a:cs typeface="Arial"/>
                        </a:rPr>
                        <a:t>ينجز التركيب التجريبي الموافق للبروتوكول</a:t>
                      </a:r>
                      <a:endParaRPr lang="fr-FR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ar-DZ" sz="1800" dirty="0">
                          <a:effectLst/>
                          <a:latin typeface="Calibri"/>
                          <a:ea typeface="Calibri"/>
                          <a:cs typeface="Arial"/>
                        </a:rPr>
                        <a:t>يتابع، يحترم، ينجز متتالية من التعليمات</a:t>
                      </a:r>
                      <a:endParaRPr lang="fr-FR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ar-DZ" sz="1800" dirty="0">
                          <a:effectLst/>
                          <a:latin typeface="Calibri"/>
                          <a:ea typeface="Calibri"/>
                          <a:cs typeface="Arial"/>
                        </a:rPr>
                        <a:t>يحترم قواعد الأمن</a:t>
                      </a:r>
                      <a:endParaRPr lang="fr-FR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ar-DZ" sz="1800" dirty="0">
                          <a:effectLst/>
                          <a:latin typeface="Calibri"/>
                          <a:ea typeface="Calibri"/>
                          <a:cs typeface="Arial"/>
                        </a:rPr>
                        <a:t>يتحكم في التقنيات، يستعمل تقنيات الملاحظة</a:t>
                      </a:r>
                      <a:endParaRPr lang="fr-FR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ar-DZ" sz="1800" dirty="0">
                          <a:effectLst/>
                          <a:latin typeface="Calibri"/>
                          <a:ea typeface="Calibri"/>
                          <a:cs typeface="Arial"/>
                        </a:rPr>
                        <a:t>يستعمل الأدوات بطريقة صحيحة وعقلانية</a:t>
                      </a:r>
                      <a:endParaRPr lang="fr-FR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ar-DZ" sz="1800" dirty="0">
                          <a:effectLst/>
                          <a:latin typeface="Calibri"/>
                          <a:ea typeface="Calibri"/>
                          <a:cs typeface="Arial"/>
                        </a:rPr>
                        <a:t>يستعمل نموذجا نظريا</a:t>
                      </a:r>
                      <a:endParaRPr lang="fr-FR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ar-DZ" sz="1800" dirty="0">
                          <a:effectLst/>
                          <a:latin typeface="Calibri"/>
                          <a:ea typeface="Calibri"/>
                          <a:cs typeface="Arial"/>
                        </a:rPr>
                        <a:t>ينظم ويرتب مكان العمل</a:t>
                      </a:r>
                      <a:endParaRPr lang="fr-FR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ar-DZ" sz="1800" dirty="0">
                          <a:effectLst/>
                          <a:latin typeface="Calibri"/>
                          <a:ea typeface="Calibri"/>
                          <a:cs typeface="Arial"/>
                        </a:rPr>
                        <a:t>يلاحظ ويصف الظواهر</a:t>
                      </a:r>
                      <a:endParaRPr lang="fr-FR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ar-DZ" sz="1800" dirty="0">
                          <a:effectLst/>
                          <a:latin typeface="Calibri"/>
                          <a:ea typeface="Calibri"/>
                          <a:cs typeface="Arial"/>
                        </a:rPr>
                        <a:t>يقوم بقياسات دقيقة</a:t>
                      </a:r>
                      <a:endParaRPr lang="fr-FR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ar-DZ" sz="1800" dirty="0">
                          <a:effectLst/>
                          <a:latin typeface="Calibri"/>
                          <a:ea typeface="Calibri"/>
                          <a:cs typeface="Arial"/>
                        </a:rPr>
                        <a:t>يقوم بحسابات دقيقة</a:t>
                      </a:r>
                      <a:endParaRPr lang="fr-FR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ar-DZ" sz="1800" dirty="0">
                          <a:effectLst/>
                          <a:latin typeface="Calibri"/>
                          <a:ea typeface="Calibri"/>
                          <a:cs typeface="Arial"/>
                        </a:rPr>
                        <a:t>يوظف </a:t>
                      </a:r>
                      <a:r>
                        <a:rPr lang="fr-FR" sz="1800" dirty="0">
                          <a:effectLst/>
                          <a:latin typeface="Calibri"/>
                          <a:ea typeface="Calibri"/>
                          <a:cs typeface="Arial"/>
                        </a:rPr>
                        <a:t>TIC</a:t>
                      </a: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ar-DZ" sz="1800" dirty="0">
                          <a:effectLst/>
                          <a:latin typeface="Calibri"/>
                          <a:ea typeface="Calibri"/>
                          <a:cs typeface="Arial"/>
                        </a:rPr>
                        <a:t>يوظف موارد من مواد أخرى (كيمياء، رياضيات...)</a:t>
                      </a:r>
                      <a:endParaRPr lang="fr-FR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ar-DZ" sz="1800" dirty="0">
                          <a:effectLst/>
                          <a:latin typeface="Calibri"/>
                          <a:ea typeface="Calibri"/>
                          <a:cs typeface="Arial"/>
                        </a:rPr>
                        <a:t>يجمع النتائج </a:t>
                      </a:r>
                      <a:endParaRPr lang="fr-FR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ar-DZ" sz="1800" dirty="0">
                          <a:effectLst/>
                          <a:latin typeface="Calibri"/>
                          <a:ea typeface="Calibri"/>
                          <a:cs typeface="Arial"/>
                        </a:rPr>
                        <a:t>يبني منحنى، يبني جدولا.</a:t>
                      </a:r>
                      <a:endParaRPr lang="fr-FR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65731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idx="4294967295"/>
          </p:nvPr>
        </p:nvSpPr>
        <p:spPr>
          <a:xfrm>
            <a:off x="772511" y="0"/>
            <a:ext cx="7118350" cy="706438"/>
          </a:xfrm>
        </p:spPr>
        <p:txBody>
          <a:bodyPr/>
          <a:lstStyle/>
          <a:p>
            <a:pPr algn="ctr"/>
            <a:r>
              <a:rPr lang="ar-DZ" b="1" dirty="0" smtClean="0">
                <a:solidFill>
                  <a:schemeClr val="tx1"/>
                </a:solidFill>
              </a:rPr>
              <a:t>الحصيلة</a:t>
            </a:r>
            <a:endParaRPr lang="fr-FR" b="1" dirty="0">
              <a:solidFill>
                <a:schemeClr val="tx1"/>
              </a:solidFill>
            </a:endParaRPr>
          </a:p>
        </p:txBody>
      </p:sp>
      <p:graphicFrame>
        <p:nvGraphicFramePr>
          <p:cNvPr id="3" name="Tableau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6838016"/>
              </p:ext>
            </p:extLst>
          </p:nvPr>
        </p:nvGraphicFramePr>
        <p:xfrm>
          <a:off x="126125" y="662151"/>
          <a:ext cx="9648496" cy="5967249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1204690"/>
                <a:gridCol w="1527628"/>
                <a:gridCol w="6916178"/>
              </a:tblGrid>
              <a:tr h="709449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1800" dirty="0">
                          <a:effectLst/>
                        </a:rPr>
                        <a:t>خطوات المسعى العلمي</a:t>
                      </a:r>
                      <a:endParaRPr lang="fr-FR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6645" marR="56645" marT="0" marB="0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dirty="0">
                          <a:effectLst/>
                        </a:rPr>
                        <a:t>الكفاءات المنهجية المجندة</a:t>
                      </a:r>
                      <a:endParaRPr lang="fr-FR" sz="20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6645" marR="56645" marT="0" marB="0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400" dirty="0">
                          <a:effectLst/>
                        </a:rPr>
                        <a:t>التعليمة</a:t>
                      </a:r>
                      <a:endParaRPr lang="fr-FR" sz="24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6645" marR="56645" marT="0" marB="0" anchor="ctr"/>
                </a:tc>
              </a:tr>
              <a:tr h="3219616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2000" b="1">
                          <a:effectLst/>
                          <a:latin typeface="Times New Roman"/>
                          <a:ea typeface="Calibri"/>
                          <a:cs typeface="Arial"/>
                        </a:rPr>
                        <a:t> </a:t>
                      </a:r>
                      <a:endParaRPr lang="fr-FR" sz="20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DZ" sz="2000" b="1">
                          <a:effectLst/>
                          <a:latin typeface="Calibri"/>
                          <a:ea typeface="Calibri"/>
                          <a:cs typeface="Times New Roman"/>
                        </a:rPr>
                        <a:t>معالجة النتائج</a:t>
                      </a:r>
                      <a:endParaRPr lang="fr-FR" sz="20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2000" b="1">
                          <a:effectLst/>
                          <a:latin typeface="Times New Roman"/>
                          <a:ea typeface="Calibri"/>
                          <a:cs typeface="Arial"/>
                        </a:rPr>
                        <a:t>R I</a:t>
                      </a:r>
                      <a:endParaRPr lang="fr-FR" sz="20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>
                          <a:effectLst/>
                          <a:latin typeface="Calibri"/>
                          <a:ea typeface="Calibri"/>
                          <a:cs typeface="Arial"/>
                        </a:rPr>
                        <a:t>يصادق </a:t>
                      </a:r>
                      <a:endParaRPr lang="fr-FR" sz="20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>
                          <a:effectLst/>
                          <a:latin typeface="Calibri"/>
                          <a:ea typeface="Calibri"/>
                          <a:cs typeface="Arial"/>
                        </a:rPr>
                        <a:t>=</a:t>
                      </a:r>
                      <a:endParaRPr lang="fr-FR" sz="20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>
                          <a:effectLst/>
                          <a:latin typeface="Calibri"/>
                          <a:ea typeface="Calibri"/>
                          <a:cs typeface="Arial"/>
                        </a:rPr>
                        <a:t> </a:t>
                      </a:r>
                      <a:r>
                        <a:rPr lang="fr-FR" sz="2000" b="1">
                          <a:effectLst/>
                          <a:latin typeface="Calibri"/>
                          <a:ea typeface="Calibri"/>
                          <a:cs typeface="Arial"/>
                        </a:rPr>
                        <a:t>VALIDER</a:t>
                      </a:r>
                      <a:endParaRPr lang="fr-FR" sz="20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>
                          <a:effectLst/>
                          <a:latin typeface="Calibri"/>
                          <a:ea typeface="Calibri"/>
                          <a:cs typeface="Arial"/>
                        </a:rPr>
                        <a:t> </a:t>
                      </a:r>
                      <a:endParaRPr lang="fr-FR" sz="20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>
                          <a:effectLst/>
                          <a:latin typeface="Calibri"/>
                          <a:ea typeface="Calibri"/>
                          <a:cs typeface="Arial"/>
                        </a:rPr>
                        <a:t> </a:t>
                      </a:r>
                      <a:endParaRPr lang="fr-FR" sz="20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>
                          <a:effectLst/>
                          <a:latin typeface="Calibri"/>
                          <a:ea typeface="Calibri"/>
                          <a:cs typeface="Arial"/>
                        </a:rPr>
                        <a:t>(VAL)</a:t>
                      </a:r>
                      <a:endParaRPr lang="fr-FR" sz="20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ar-DZ" sz="2000" dirty="0">
                          <a:effectLst/>
                          <a:latin typeface="Calibri"/>
                          <a:ea typeface="Calibri"/>
                          <a:cs typeface="Arial"/>
                        </a:rPr>
                        <a:t>يناقش النتائج</a:t>
                      </a:r>
                      <a:endParaRPr lang="fr-FR" sz="20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fr-FR" sz="2000" dirty="0">
                          <a:effectLst/>
                          <a:latin typeface="Arial"/>
                          <a:ea typeface="Calibri"/>
                          <a:cs typeface="Arial"/>
                        </a:rPr>
                        <a:t> </a:t>
                      </a:r>
                      <a:r>
                        <a:rPr lang="ar-DZ" sz="2000" dirty="0">
                          <a:effectLst/>
                          <a:latin typeface="Arial"/>
                          <a:ea typeface="Calibri"/>
                          <a:cs typeface="Arial"/>
                        </a:rPr>
                        <a:t>يراقب مدى صحة: فرضية، نتيجة، معلومة، خاصية، نموذج...</a:t>
                      </a:r>
                      <a:endParaRPr lang="fr-FR" sz="20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fr-FR" sz="2000" dirty="0">
                          <a:effectLst/>
                          <a:latin typeface="Arial"/>
                          <a:ea typeface="Calibri"/>
                          <a:cs typeface="Arial"/>
                        </a:rPr>
                        <a:t> </a:t>
                      </a:r>
                      <a:r>
                        <a:rPr lang="ar-DZ" sz="2000" dirty="0">
                          <a:effectLst/>
                          <a:latin typeface="Arial"/>
                          <a:ea typeface="Calibri"/>
                          <a:cs typeface="Arial"/>
                        </a:rPr>
                        <a:t>يستخرج النتائج من معطيات التجريب، من الملاحظات، ويستغلها في الإثبات</a:t>
                      </a:r>
                      <a:endParaRPr lang="fr-FR" sz="20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fr-FR" sz="2000" dirty="0">
                          <a:effectLst/>
                          <a:latin typeface="Arial"/>
                          <a:ea typeface="Calibri"/>
                          <a:cs typeface="Arial"/>
                        </a:rPr>
                        <a:t> </a:t>
                      </a:r>
                      <a:r>
                        <a:rPr lang="ar-DZ" sz="2000" dirty="0">
                          <a:effectLst/>
                          <a:latin typeface="Arial"/>
                          <a:ea typeface="Calibri"/>
                          <a:cs typeface="Arial"/>
                        </a:rPr>
                        <a:t>يثبت أو يرفض الفرضية المقترحة</a:t>
                      </a:r>
                      <a:endParaRPr lang="fr-FR" sz="20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fr-FR" sz="2000" dirty="0">
                          <a:effectLst/>
                          <a:latin typeface="Arial"/>
                          <a:ea typeface="Calibri"/>
                          <a:cs typeface="Arial"/>
                        </a:rPr>
                        <a:t> </a:t>
                      </a:r>
                      <a:r>
                        <a:rPr lang="ar-DZ" sz="2000" dirty="0">
                          <a:effectLst/>
                          <a:latin typeface="Arial"/>
                          <a:ea typeface="Calibri"/>
                          <a:cs typeface="Arial"/>
                        </a:rPr>
                        <a:t>يفسر النتائج، يبحث عن مصادر الخطأ</a:t>
                      </a:r>
                      <a:endParaRPr lang="fr-FR" sz="20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fr-FR" sz="2000" dirty="0">
                          <a:effectLst/>
                          <a:latin typeface="Arial"/>
                          <a:ea typeface="Calibri"/>
                          <a:cs typeface="Arial"/>
                        </a:rPr>
                        <a:t> </a:t>
                      </a:r>
                      <a:r>
                        <a:rPr lang="ar-DZ" sz="2000" dirty="0">
                          <a:effectLst/>
                          <a:latin typeface="Arial"/>
                          <a:ea typeface="Calibri"/>
                          <a:cs typeface="Arial"/>
                        </a:rPr>
                        <a:t>ينقد النتائج، ينقد طريقة الاستدلال، يستدل</a:t>
                      </a:r>
                      <a:endParaRPr lang="fr-FR" sz="20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fr-FR" sz="2000" dirty="0">
                          <a:effectLst/>
                          <a:latin typeface="Arial"/>
                          <a:ea typeface="Calibri"/>
                          <a:cs typeface="Arial"/>
                        </a:rPr>
                        <a:t> </a:t>
                      </a:r>
                      <a:r>
                        <a:rPr lang="ar-DZ" sz="2000" dirty="0">
                          <a:effectLst/>
                          <a:latin typeface="Arial"/>
                          <a:ea typeface="Calibri"/>
                          <a:cs typeface="Arial"/>
                        </a:rPr>
                        <a:t>يقدر دقة القياس أو الارتياب في القياس</a:t>
                      </a:r>
                      <a:endParaRPr lang="fr-FR" sz="20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fr-FR" sz="2000" dirty="0">
                          <a:effectLst/>
                          <a:latin typeface="Arial"/>
                          <a:ea typeface="Calibri"/>
                          <a:cs typeface="Arial"/>
                        </a:rPr>
                        <a:t> </a:t>
                      </a:r>
                      <a:r>
                        <a:rPr lang="ar-DZ" sz="2000" dirty="0">
                          <a:effectLst/>
                          <a:latin typeface="Arial"/>
                          <a:ea typeface="Calibri"/>
                          <a:cs typeface="Arial"/>
                        </a:rPr>
                        <a:t>يقوم بمعالجة إحصائية لمجموعة قياسات </a:t>
                      </a:r>
                      <a:endParaRPr lang="fr-FR" sz="20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fr-FR" sz="2000" dirty="0">
                          <a:effectLst/>
                          <a:latin typeface="Arial"/>
                          <a:ea typeface="Calibri"/>
                          <a:cs typeface="Arial"/>
                        </a:rPr>
                        <a:t> </a:t>
                      </a:r>
                      <a:r>
                        <a:rPr lang="ar-DZ" sz="2000" dirty="0">
                          <a:effectLst/>
                          <a:latin typeface="Arial"/>
                          <a:ea typeface="Calibri"/>
                          <a:cs typeface="Arial"/>
                        </a:rPr>
                        <a:t>يتأكد من أنه أجاب على التعليمة </a:t>
                      </a:r>
                      <a:endParaRPr lang="fr-FR" sz="20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ar-DZ" sz="2000" dirty="0">
                          <a:effectLst/>
                          <a:latin typeface="Calibri"/>
                          <a:ea typeface="Calibri"/>
                          <a:cs typeface="Arial"/>
                        </a:rPr>
                        <a:t>يستغل المعلومات للبرهنة على صحة فرضية </a:t>
                      </a:r>
                      <a:endParaRPr lang="fr-FR" sz="20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fr-FR" sz="2000" dirty="0">
                          <a:effectLst/>
                          <a:latin typeface="Arial"/>
                          <a:ea typeface="Calibri"/>
                          <a:cs typeface="Arial"/>
                        </a:rPr>
                        <a:t> </a:t>
                      </a:r>
                      <a:r>
                        <a:rPr lang="ar-DZ" sz="2000" dirty="0">
                          <a:effectLst/>
                          <a:latin typeface="Arial"/>
                          <a:ea typeface="Calibri"/>
                          <a:cs typeface="Arial"/>
                        </a:rPr>
                        <a:t>يواجه نموذجا بالنتائج التجريبية: يتحقق من انسجام النتائج المتحصل عليها مع تلك المتوقعة</a:t>
                      </a:r>
                      <a:endParaRPr lang="fr-FR" sz="20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fr-FR" sz="2000" dirty="0">
                          <a:effectLst/>
                          <a:latin typeface="Arial"/>
                          <a:ea typeface="Calibri"/>
                          <a:cs typeface="Arial"/>
                        </a:rPr>
                        <a:t> </a:t>
                      </a:r>
                      <a:r>
                        <a:rPr lang="ar-DZ" sz="2000" dirty="0">
                          <a:effectLst/>
                          <a:latin typeface="Arial"/>
                          <a:ea typeface="Calibri"/>
                          <a:cs typeface="Arial"/>
                        </a:rPr>
                        <a:t>يجد النتائج التي تتعلق بفرضية والتي يمكن التحقق منها</a:t>
                      </a:r>
                      <a:endParaRPr lang="fr-FR" sz="20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fr-FR" sz="2000" dirty="0">
                          <a:effectLst/>
                          <a:latin typeface="Arial"/>
                          <a:ea typeface="Calibri"/>
                          <a:cs typeface="Arial"/>
                        </a:rPr>
                        <a:t> </a:t>
                      </a:r>
                      <a:r>
                        <a:rPr lang="ar-DZ" sz="2000" dirty="0">
                          <a:effectLst/>
                          <a:latin typeface="Arial"/>
                          <a:ea typeface="Calibri"/>
                          <a:cs typeface="Arial"/>
                        </a:rPr>
                        <a:t>يحلل مجمل النتائج بطريقة نقدية ويقدم اقتراحات لتحسين المسعى أو النموذج</a:t>
                      </a:r>
                      <a:endParaRPr lang="fr-FR" sz="20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fr-FR" sz="2000" dirty="0">
                          <a:effectLst/>
                          <a:latin typeface="Arial"/>
                          <a:ea typeface="Calibri"/>
                          <a:cs typeface="Arial"/>
                        </a:rPr>
                        <a:t> </a:t>
                      </a:r>
                      <a:r>
                        <a:rPr lang="ar-DZ" sz="2000" dirty="0">
                          <a:effectLst/>
                          <a:latin typeface="Arial"/>
                          <a:ea typeface="Calibri"/>
                          <a:cs typeface="Arial"/>
                        </a:rPr>
                        <a:t>يبرز الفرق بين الظاهرة في الواقع وفي المحاكاة</a:t>
                      </a:r>
                      <a:endParaRPr lang="fr-FR" sz="20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4330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idx="4294967295"/>
          </p:nvPr>
        </p:nvSpPr>
        <p:spPr>
          <a:xfrm>
            <a:off x="772511" y="0"/>
            <a:ext cx="7118350" cy="706438"/>
          </a:xfrm>
        </p:spPr>
        <p:txBody>
          <a:bodyPr/>
          <a:lstStyle/>
          <a:p>
            <a:pPr algn="ctr"/>
            <a:r>
              <a:rPr lang="ar-DZ" b="1" dirty="0" smtClean="0">
                <a:solidFill>
                  <a:schemeClr val="tx1"/>
                </a:solidFill>
              </a:rPr>
              <a:t>الحصيلة</a:t>
            </a:r>
            <a:endParaRPr lang="fr-FR" b="1" dirty="0">
              <a:solidFill>
                <a:schemeClr val="tx1"/>
              </a:solidFill>
            </a:endParaRPr>
          </a:p>
        </p:txBody>
      </p:sp>
      <p:graphicFrame>
        <p:nvGraphicFramePr>
          <p:cNvPr id="3" name="Tableau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3601143"/>
              </p:ext>
            </p:extLst>
          </p:nvPr>
        </p:nvGraphicFramePr>
        <p:xfrm>
          <a:off x="126125" y="662151"/>
          <a:ext cx="9648496" cy="5967249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1204690"/>
                <a:gridCol w="1527628"/>
                <a:gridCol w="6916178"/>
              </a:tblGrid>
              <a:tr h="709449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1800" dirty="0">
                          <a:effectLst/>
                        </a:rPr>
                        <a:t>خطوات المسعى العلمي</a:t>
                      </a:r>
                      <a:endParaRPr lang="fr-FR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6645" marR="56645" marT="0" marB="0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dirty="0">
                          <a:effectLst/>
                        </a:rPr>
                        <a:t>الكفاءات المنهجية المجندة</a:t>
                      </a:r>
                      <a:endParaRPr lang="fr-FR" sz="20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6645" marR="56645" marT="0" marB="0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400" dirty="0">
                          <a:effectLst/>
                        </a:rPr>
                        <a:t>التعليمة</a:t>
                      </a:r>
                      <a:endParaRPr lang="fr-FR" sz="24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6645" marR="56645" marT="0" marB="0" anchor="ctr"/>
                </a:tc>
              </a:tr>
              <a:tr h="3219616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DZ" sz="2000" b="1">
                          <a:effectLst/>
                          <a:latin typeface="Calibri"/>
                          <a:ea typeface="Calibri"/>
                          <a:cs typeface="Times New Roman"/>
                        </a:rPr>
                        <a:t>التعبير عن النتائج</a:t>
                      </a:r>
                      <a:endParaRPr lang="fr-FR" sz="20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2000" b="1">
                          <a:effectLst/>
                          <a:latin typeface="Times New Roman"/>
                          <a:ea typeface="Calibri"/>
                          <a:cs typeface="Arial"/>
                        </a:rPr>
                        <a:t>C</a:t>
                      </a:r>
                      <a:endParaRPr lang="fr-FR" sz="20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>
                          <a:effectLst/>
                          <a:latin typeface="Calibri"/>
                          <a:ea typeface="Calibri"/>
                          <a:cs typeface="Arial"/>
                        </a:rPr>
                        <a:t>يبلغ</a:t>
                      </a:r>
                      <a:endParaRPr lang="fr-FR" sz="20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>
                          <a:effectLst/>
                          <a:latin typeface="Calibri"/>
                          <a:ea typeface="Calibri"/>
                          <a:cs typeface="Arial"/>
                        </a:rPr>
                        <a:t>=</a:t>
                      </a:r>
                      <a:r>
                        <a:rPr lang="fr-FR" sz="2000" b="1">
                          <a:effectLst/>
                          <a:latin typeface="Calibri"/>
                          <a:ea typeface="Calibri"/>
                          <a:cs typeface="Arial"/>
                        </a:rPr>
                        <a:t> COMMUNIQUER</a:t>
                      </a:r>
                      <a:endParaRPr lang="fr-FR" sz="20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>
                          <a:effectLst/>
                          <a:latin typeface="Calibri"/>
                          <a:ea typeface="Calibri"/>
                          <a:cs typeface="Arial"/>
                        </a:rPr>
                        <a:t> </a:t>
                      </a:r>
                      <a:endParaRPr lang="fr-FR" sz="20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>
                          <a:effectLst/>
                          <a:latin typeface="Calibri"/>
                          <a:ea typeface="Calibri"/>
                          <a:cs typeface="Arial"/>
                        </a:rPr>
                        <a:t>(COM)</a:t>
                      </a:r>
                      <a:endParaRPr lang="fr-FR" sz="20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ar-DZ" sz="2000" dirty="0">
                          <a:effectLst/>
                          <a:latin typeface="Calibri"/>
                          <a:ea typeface="Calibri"/>
                          <a:cs typeface="Arial"/>
                        </a:rPr>
                        <a:t>يقدم النتائج، الإجابة بطريقة مكيفة بتعبير علمي ولغوي دقيق</a:t>
                      </a:r>
                      <a:endParaRPr lang="fr-FR" sz="20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fr-FR" sz="2000" dirty="0">
                          <a:effectLst/>
                          <a:latin typeface="Arial"/>
                          <a:ea typeface="Calibri"/>
                          <a:cs typeface="Arial"/>
                        </a:rPr>
                        <a:t> </a:t>
                      </a:r>
                      <a:r>
                        <a:rPr lang="ar-DZ" sz="2000" dirty="0">
                          <a:effectLst/>
                          <a:latin typeface="Arial"/>
                          <a:ea typeface="Calibri"/>
                          <a:cs typeface="Arial"/>
                        </a:rPr>
                        <a:t>يقدم تقريرا عن المسعى بالشفهي والكتابي</a:t>
                      </a:r>
                      <a:endParaRPr lang="fr-FR" sz="20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fr-FR" sz="2000" dirty="0">
                          <a:effectLst/>
                          <a:latin typeface="Arial"/>
                          <a:ea typeface="Calibri"/>
                          <a:cs typeface="Arial"/>
                        </a:rPr>
                        <a:t> </a:t>
                      </a:r>
                      <a:r>
                        <a:rPr lang="ar-DZ" sz="2000" dirty="0">
                          <a:effectLst/>
                          <a:latin typeface="Arial"/>
                          <a:ea typeface="Calibri"/>
                          <a:cs typeface="Arial"/>
                        </a:rPr>
                        <a:t>يستعمل المفاهيم والمفردات العلمية المناسبة</a:t>
                      </a:r>
                      <a:endParaRPr lang="fr-FR" sz="20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fr-FR" sz="2000" dirty="0">
                          <a:effectLst/>
                          <a:latin typeface="Arial"/>
                          <a:ea typeface="Calibri"/>
                          <a:cs typeface="Arial"/>
                        </a:rPr>
                        <a:t> </a:t>
                      </a:r>
                      <a:r>
                        <a:rPr lang="ar-DZ" sz="2000" dirty="0">
                          <a:effectLst/>
                          <a:latin typeface="Arial"/>
                          <a:ea typeface="Calibri"/>
                          <a:cs typeface="Arial"/>
                        </a:rPr>
                        <a:t>يترجم فكرة ، ملاحظة ، رسم ، جدول … إلى نص .</a:t>
                      </a:r>
                      <a:endParaRPr lang="fr-FR" sz="20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fr-FR" sz="2000" dirty="0">
                          <a:effectLst/>
                          <a:latin typeface="Arial"/>
                          <a:ea typeface="Calibri"/>
                          <a:cs typeface="Arial"/>
                        </a:rPr>
                        <a:t> </a:t>
                      </a:r>
                      <a:r>
                        <a:rPr lang="ar-DZ" sz="2000" dirty="0">
                          <a:effectLst/>
                          <a:latin typeface="Arial"/>
                          <a:ea typeface="Calibri"/>
                          <a:cs typeface="Arial"/>
                        </a:rPr>
                        <a:t>يترجم شفويا فكرة ، ملاحظة ، رسم ، جدول …</a:t>
                      </a:r>
                      <a:endParaRPr lang="fr-FR" sz="20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fr-FR" sz="2000" dirty="0">
                          <a:effectLst/>
                          <a:latin typeface="Arial"/>
                          <a:ea typeface="Calibri"/>
                          <a:cs typeface="Arial"/>
                        </a:rPr>
                        <a:t> </a:t>
                      </a:r>
                      <a:r>
                        <a:rPr lang="ar-DZ" sz="2000" dirty="0">
                          <a:effectLst/>
                          <a:latin typeface="Arial"/>
                          <a:ea typeface="Calibri"/>
                          <a:cs typeface="Arial"/>
                        </a:rPr>
                        <a:t>يمثل المعطيات برسوم بيانية ، رموز…</a:t>
                      </a:r>
                      <a:endParaRPr lang="fr-FR" sz="20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fr-FR" sz="2000" dirty="0">
                          <a:effectLst/>
                          <a:latin typeface="Arial"/>
                          <a:ea typeface="Calibri"/>
                          <a:cs typeface="Arial"/>
                        </a:rPr>
                        <a:t> </a:t>
                      </a:r>
                      <a:r>
                        <a:rPr lang="ar-DZ" sz="2000" dirty="0">
                          <a:effectLst/>
                          <a:latin typeface="Arial"/>
                          <a:ea typeface="Calibri"/>
                          <a:cs typeface="Arial"/>
                        </a:rPr>
                        <a:t>يمثل الملاحظات برسم تخطيطي.</a:t>
                      </a:r>
                      <a:endParaRPr lang="fr-FR" sz="20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fr-FR" sz="2000" dirty="0">
                          <a:effectLst/>
                          <a:latin typeface="Arial"/>
                          <a:ea typeface="Calibri"/>
                          <a:cs typeface="Arial"/>
                        </a:rPr>
                        <a:t> </a:t>
                      </a:r>
                      <a:r>
                        <a:rPr lang="ar-DZ" sz="2000" dirty="0">
                          <a:effectLst/>
                          <a:latin typeface="Arial"/>
                          <a:ea typeface="Calibri"/>
                          <a:cs typeface="Arial"/>
                        </a:rPr>
                        <a:t>يتحكم في تكنولوجيا الإعلام الآلي. </a:t>
                      </a:r>
                      <a:endParaRPr lang="fr-FR" sz="20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fr-FR" sz="2000" dirty="0">
                          <a:effectLst/>
                          <a:latin typeface="Arial"/>
                          <a:ea typeface="Calibri"/>
                          <a:cs typeface="Arial"/>
                        </a:rPr>
                        <a:t> </a:t>
                      </a:r>
                      <a:r>
                        <a:rPr lang="ar-DZ" sz="2000" dirty="0">
                          <a:effectLst/>
                          <a:latin typeface="Arial"/>
                          <a:ea typeface="Calibri"/>
                          <a:cs typeface="Arial"/>
                        </a:rPr>
                        <a:t>يمثل التنظيمات الوظيفية بالرسم التخطيطي .</a:t>
                      </a:r>
                      <a:endParaRPr lang="fr-FR" sz="20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fr-FR" sz="2000" dirty="0">
                          <a:effectLst/>
                          <a:latin typeface="Arial"/>
                          <a:ea typeface="Calibri"/>
                          <a:cs typeface="Arial"/>
                        </a:rPr>
                        <a:t> </a:t>
                      </a:r>
                      <a:r>
                        <a:rPr lang="ar-DZ" sz="2000" dirty="0">
                          <a:effectLst/>
                          <a:latin typeface="Arial"/>
                          <a:ea typeface="Calibri"/>
                          <a:cs typeface="Arial"/>
                        </a:rPr>
                        <a:t>يقدم المعلومات بطريقة مختصرة </a:t>
                      </a:r>
                      <a:r>
                        <a:rPr lang="ar-DZ" sz="2000" dirty="0" err="1">
                          <a:effectLst/>
                          <a:latin typeface="Arial"/>
                          <a:ea typeface="Calibri"/>
                          <a:cs typeface="Arial"/>
                        </a:rPr>
                        <a:t>ومهيكلة</a:t>
                      </a:r>
                      <a:r>
                        <a:rPr lang="ar-DZ" sz="2000" dirty="0">
                          <a:effectLst/>
                          <a:latin typeface="Arial"/>
                          <a:ea typeface="Calibri"/>
                          <a:cs typeface="Arial"/>
                        </a:rPr>
                        <a:t>.</a:t>
                      </a:r>
                      <a:endParaRPr lang="fr-FR" sz="20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fr-FR" sz="2000" dirty="0">
                          <a:effectLst/>
                          <a:latin typeface="Arial"/>
                          <a:ea typeface="Calibri"/>
                          <a:cs typeface="Arial"/>
                        </a:rPr>
                        <a:t> </a:t>
                      </a:r>
                      <a:r>
                        <a:rPr lang="ar-DZ" sz="2000" dirty="0">
                          <a:effectLst/>
                          <a:latin typeface="Arial"/>
                          <a:ea typeface="Calibri"/>
                          <a:cs typeface="Arial"/>
                        </a:rPr>
                        <a:t>يقدم اقتراحا أو استدلالا أو خلاصة بطريقة منسجمة وبسيطة.</a:t>
                      </a:r>
                      <a:endParaRPr lang="fr-FR" sz="20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ar-DZ" sz="2000" dirty="0">
                          <a:effectLst/>
                          <a:latin typeface="Calibri"/>
                          <a:ea typeface="Calibri"/>
                          <a:cs typeface="Arial"/>
                        </a:rPr>
                        <a:t>يلخص في شكل نص، رسم تخطيطي، خريطة ذهنية.</a:t>
                      </a:r>
                      <a:endParaRPr lang="fr-FR" sz="20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fr-FR" sz="2000" dirty="0">
                          <a:effectLst/>
                          <a:latin typeface="Arial"/>
                          <a:ea typeface="Calibri"/>
                          <a:cs typeface="Arial"/>
                        </a:rPr>
                        <a:t> </a:t>
                      </a:r>
                      <a:r>
                        <a:rPr lang="ar-DZ" sz="2000" dirty="0">
                          <a:effectLst/>
                          <a:latin typeface="Arial"/>
                          <a:ea typeface="Calibri"/>
                          <a:cs typeface="Arial"/>
                        </a:rPr>
                        <a:t>يترجم المعلومات في وثائق بعمل متقن.</a:t>
                      </a:r>
                      <a:endParaRPr lang="fr-FR" sz="20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ar-DZ" sz="2000" dirty="0">
                          <a:effectLst/>
                          <a:latin typeface="Calibri"/>
                          <a:ea typeface="Calibri"/>
                          <a:cs typeface="Arial"/>
                        </a:rPr>
                        <a:t>يقدم عرضا للنتائج المتحصل عليها (بمختلف أشكال العرض).</a:t>
                      </a:r>
                      <a:endParaRPr lang="fr-FR" sz="20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fr-FR" sz="2000" dirty="0">
                          <a:effectLst/>
                          <a:latin typeface="Arial"/>
                          <a:ea typeface="Calibri"/>
                          <a:cs typeface="Arial"/>
                        </a:rPr>
                        <a:t> </a:t>
                      </a:r>
                      <a:r>
                        <a:rPr lang="ar-DZ" sz="2000" dirty="0">
                          <a:effectLst/>
                          <a:latin typeface="Arial"/>
                          <a:ea typeface="Calibri"/>
                          <a:cs typeface="Arial"/>
                        </a:rPr>
                        <a:t>يقدم الأعمال ( تقارير ، بحوث ، عروض… ) بدقة وعناية ونظام .</a:t>
                      </a:r>
                      <a:endParaRPr lang="fr-FR" sz="20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6766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1019908" y="134938"/>
            <a:ext cx="6570785" cy="708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4400" b="1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MS Mincho"/>
                <a:cs typeface="Simplified Arabic"/>
              </a:rPr>
              <a:t>طبيعة المهمات</a:t>
            </a:r>
            <a:endParaRPr kumimoji="0" lang="fr-FR" sz="4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sp>
        <p:nvSpPr>
          <p:cNvPr id="3" name="Espace réservé du contenu 2"/>
          <p:cNvSpPr txBox="1">
            <a:spLocks/>
          </p:cNvSpPr>
          <p:nvPr/>
        </p:nvSpPr>
        <p:spPr>
          <a:xfrm>
            <a:off x="580292" y="1322768"/>
            <a:ext cx="5594723" cy="17065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ar-DZ" sz="20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هي مهمات  مألوفة لدى المترشح:</a:t>
            </a: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ar-DZ" sz="20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استرجاع المعرفة ( تعريف مفهوم، كتابة بيانات، رسم تخطيطي..)</a:t>
            </a: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ar-DZ" sz="20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الاستخراج البسيط للمعلومات ؛</a:t>
            </a: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ar-DZ" sz="20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الاستغلال البسيط للمعلومات (دون البحت عن العلاقات).</a:t>
            </a:r>
            <a:endParaRPr kumimoji="0" lang="ar-DZ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38663" y="1808542"/>
            <a:ext cx="191110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DZ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مهمات بسيطة </a:t>
            </a:r>
            <a:endParaRPr kumimoji="0" lang="fr-FR" sz="18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590693" y="3845304"/>
            <a:ext cx="16738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DZ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مهم</a:t>
            </a:r>
            <a:r>
              <a:rPr lang="ar-DZ" sz="2800" b="1" kern="0" dirty="0" smtClean="0">
                <a:solidFill>
                  <a:srgbClr val="FF0000"/>
                </a:solidFill>
              </a:rPr>
              <a:t>ة </a:t>
            </a:r>
            <a:r>
              <a:rPr kumimoji="0" lang="ar-DZ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مركبة</a:t>
            </a:r>
            <a:r>
              <a:rPr kumimoji="0" lang="ar-DZ" sz="2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</a:rPr>
              <a:t> </a:t>
            </a:r>
            <a:endParaRPr kumimoji="0" lang="fr-FR" sz="18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385107" y="3866848"/>
            <a:ext cx="6181870" cy="13649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1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F81BD"/>
              </a:buClr>
              <a:buSzPct val="80000"/>
              <a:buFont typeface="Wingdings 3" charset="2"/>
              <a:buNone/>
              <a:tabLst/>
              <a:defRPr/>
            </a:pPr>
            <a:r>
              <a:rPr kumimoji="0" lang="ar-DZ" sz="20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تتطلب تجنيد الموارد :</a:t>
            </a:r>
          </a:p>
          <a:p>
            <a:pPr marL="342900" marR="0" lvl="0" indent="-342900" algn="r" defTabSz="457200" rtl="1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F81BD"/>
              </a:buClr>
              <a:buSzPct val="80000"/>
              <a:buFont typeface="Wingdings 3" charset="2"/>
              <a:buChar char=""/>
              <a:tabLst/>
              <a:defRPr/>
            </a:pPr>
            <a:r>
              <a:rPr kumimoji="0" lang="ar-DZ" sz="20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الداخلية (الثقافة، المهارات ، القدرات ، المعارف ...)</a:t>
            </a:r>
          </a:p>
          <a:p>
            <a:pPr marL="342900" marR="0" lvl="0" indent="-342900" algn="r" defTabSz="457200" rtl="1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F81BD"/>
              </a:buClr>
              <a:buSzPct val="80000"/>
              <a:buFont typeface="Wingdings 3" charset="2"/>
              <a:buChar char=""/>
              <a:tabLst/>
              <a:defRPr/>
            </a:pPr>
            <a:r>
              <a:rPr kumimoji="0" lang="ar-DZ" sz="20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 والخارجية (دليل منهجي، بروتوكولات، بطاقات تقنية ووثائقية ...)</a:t>
            </a:r>
          </a:p>
          <a:p>
            <a:pPr marL="0" marR="0" lvl="0" indent="0" algn="r" defTabSz="457200" rtl="1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F81BD"/>
              </a:buClr>
              <a:buSzPct val="80000"/>
              <a:buFont typeface="Wingdings 3" charset="2"/>
              <a:buNone/>
              <a:tabLst/>
              <a:defRPr/>
            </a:pP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Espace réservé du contenu 2"/>
          <p:cNvSpPr txBox="1">
            <a:spLocks/>
          </p:cNvSpPr>
          <p:nvPr/>
        </p:nvSpPr>
        <p:spPr>
          <a:xfrm>
            <a:off x="281353" y="3002618"/>
            <a:ext cx="8634045" cy="914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F81BD"/>
              </a:buClr>
              <a:buSzPct val="80000"/>
              <a:buFont typeface="Wingdings 3" charset="2"/>
              <a:buChar char=""/>
              <a:tabLst/>
              <a:defRPr/>
            </a:pPr>
            <a:r>
              <a:rPr kumimoji="0" lang="fr-FR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Une tache simple </a:t>
            </a:r>
            <a:r>
              <a:rPr kumimoji="0" lang="fr-FR" sz="20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nécessite un raisonnement avec une seule étape.</a:t>
            </a:r>
          </a:p>
          <a:p>
            <a:pPr marL="342900" marR="0" lvl="0" indent="-342900" algn="just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F81BD"/>
              </a:buClr>
              <a:buSzPct val="80000"/>
              <a:buFont typeface="Wingdings 3" charset="2"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Ex: Application directe d’une formule.</a:t>
            </a:r>
          </a:p>
        </p:txBody>
      </p:sp>
      <p:sp>
        <p:nvSpPr>
          <p:cNvPr id="8" name="Espace réservé du contenu 2"/>
          <p:cNvSpPr txBox="1">
            <a:spLocks/>
          </p:cNvSpPr>
          <p:nvPr/>
        </p:nvSpPr>
        <p:spPr>
          <a:xfrm>
            <a:off x="281354" y="5364818"/>
            <a:ext cx="8634045" cy="134713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F81BD"/>
              </a:buClr>
              <a:buSzPct val="80000"/>
              <a:buFont typeface="Wingdings 3" charset="2"/>
              <a:buChar char=""/>
              <a:tabLst/>
              <a:defRPr/>
            </a:pPr>
            <a:r>
              <a:rPr kumimoji="0" lang="fr-FR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Une tache complexe </a:t>
            </a:r>
            <a:r>
              <a:rPr kumimoji="0" lang="fr-FR" sz="20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(pas forcement compliquée) nécessite un raisonnement avec plusieurs étapes.</a:t>
            </a:r>
            <a:endParaRPr kumimoji="0" lang="ar-DZ" sz="20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lvl="0" algn="just">
              <a:buClr>
                <a:srgbClr val="4F81BD"/>
              </a:buClr>
            </a:pPr>
            <a:r>
              <a:rPr lang="fr-FR" sz="2000" dirty="0">
                <a:solidFill>
                  <a:sysClr val="windowText" lastClr="000000"/>
                </a:solidFill>
                <a:latin typeface="Calibri"/>
              </a:rPr>
              <a:t> N’est pas une somme de tâches simples effectuées les unes après les autres sans lien apparent</a:t>
            </a:r>
            <a:r>
              <a:rPr lang="fr-FR" sz="2000" dirty="0" smtClean="0">
                <a:solidFill>
                  <a:sysClr val="windowText" lastClr="000000"/>
                </a:solidFill>
                <a:latin typeface="Calibri"/>
              </a:rPr>
              <a:t>.</a:t>
            </a:r>
            <a:endParaRPr kumimoji="0" lang="ar-DZ" sz="20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just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F81BD"/>
              </a:buClr>
              <a:buSzPct val="80000"/>
              <a:buFont typeface="Wingdings 3" charset="2"/>
              <a:buChar char=""/>
              <a:tabLst/>
              <a:defRPr/>
            </a:pPr>
            <a:endParaRPr kumimoji="0" lang="fr-FR" sz="20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F81BD"/>
              </a:buClr>
              <a:buSzPct val="80000"/>
              <a:buFont typeface="Wingdings 3" charset="2"/>
              <a:buChar char=""/>
              <a:tabLst/>
              <a:defRPr/>
            </a:pPr>
            <a:endParaRPr kumimoji="0" lang="fr-FR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itre 1"/>
          <p:cNvSpPr txBox="1">
            <a:spLocks/>
          </p:cNvSpPr>
          <p:nvPr/>
        </p:nvSpPr>
        <p:spPr>
          <a:xfrm>
            <a:off x="822254" y="727077"/>
            <a:ext cx="6571060" cy="493182"/>
          </a:xfrm>
          <a:prstGeom prst="rect">
            <a:avLst/>
          </a:prstGeom>
        </p:spPr>
        <p:txBody>
          <a:bodyPr>
            <a:normAutofit fontScale="7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Les taches simples et les taches complexes</a:t>
            </a:r>
            <a:endParaRPr kumimoji="0" lang="fr-FR" sz="3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sp>
        <p:nvSpPr>
          <p:cNvPr id="10" name="Accolade fermante 9"/>
          <p:cNvSpPr/>
          <p:nvPr/>
        </p:nvSpPr>
        <p:spPr>
          <a:xfrm>
            <a:off x="6295292" y="1220260"/>
            <a:ext cx="543370" cy="1782359"/>
          </a:xfrm>
          <a:prstGeom prst="rightBrace">
            <a:avLst>
              <a:gd name="adj1" fmla="val 34223"/>
              <a:gd name="adj2" fmla="val 50000"/>
            </a:avLst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Accolade fermante 10"/>
          <p:cNvSpPr/>
          <p:nvPr/>
        </p:nvSpPr>
        <p:spPr>
          <a:xfrm>
            <a:off x="6838375" y="3626341"/>
            <a:ext cx="543370" cy="1554818"/>
          </a:xfrm>
          <a:prstGeom prst="rightBrace">
            <a:avLst>
              <a:gd name="adj1" fmla="val 47168"/>
              <a:gd name="adj2" fmla="val 25496"/>
            </a:avLst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Différent de 12"/>
          <p:cNvSpPr/>
          <p:nvPr/>
        </p:nvSpPr>
        <p:spPr>
          <a:xfrm>
            <a:off x="8339457" y="4440238"/>
            <a:ext cx="410307" cy="325903"/>
          </a:xfrm>
          <a:prstGeom prst="mathNot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209178" y="4766141"/>
            <a:ext cx="24368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DZ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مجموعة من مهمات بسيطة</a:t>
            </a:r>
          </a:p>
        </p:txBody>
      </p:sp>
    </p:spTree>
    <p:extLst>
      <p:ext uri="{BB962C8B-B14F-4D97-AF65-F5344CB8AC3E}">
        <p14:creationId xmlns:p14="http://schemas.microsoft.com/office/powerpoint/2010/main" val="337409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 build="p"/>
      <p:bldP spid="7" grpId="0"/>
      <p:bldP spid="8" grpId="0"/>
      <p:bldP spid="10" grpId="0" animBg="1"/>
      <p:bldP spid="11" grpId="0" animBg="1"/>
      <p:bldP spid="13" grpId="0" animBg="1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689" y="104775"/>
            <a:ext cx="7620000" cy="664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46929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/>
          <p:nvPr/>
        </p:nvSpPr>
        <p:spPr>
          <a:xfrm>
            <a:off x="362607" y="1862158"/>
            <a:ext cx="8812923" cy="3813427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1"/>
          <a:lstStyle/>
          <a:p>
            <a:pPr marL="264960" marR="0" lvl="0" indent="-264960" algn="just" rtl="1" hangingPunct="1">
              <a:lnSpc>
                <a:spcPct val="100000"/>
              </a:lnSpc>
              <a:spcBef>
                <a:spcPts val="249"/>
              </a:spcBef>
              <a:spcAft>
                <a:spcPts val="0"/>
              </a:spcAft>
              <a:buNone/>
              <a:tabLst>
                <a:tab pos="264960" algn="l"/>
                <a:tab pos="1179360" algn="l"/>
                <a:tab pos="2093760" algn="l"/>
                <a:tab pos="3008159" algn="l"/>
                <a:tab pos="3922560" algn="l"/>
                <a:tab pos="4836960" algn="l"/>
                <a:tab pos="5751359" algn="l"/>
                <a:tab pos="6665759" algn="l"/>
                <a:tab pos="7580160" algn="l"/>
                <a:tab pos="8494560" algn="l"/>
                <a:tab pos="9408960" algn="l"/>
                <a:tab pos="10323360" algn="l"/>
              </a:tabLst>
            </a:pPr>
            <a:r>
              <a:rPr lang="fr-FR" sz="3200" b="0" i="0" u="none" strike="noStrike" baseline="0" dirty="0">
                <a:ln>
                  <a:noFill/>
                </a:ln>
                <a:solidFill>
                  <a:srgbClr val="543466"/>
                </a:solidFill>
                <a:latin typeface="Verdana" pitchFamily="34"/>
                <a:ea typeface="Arial" pitchFamily="2"/>
                <a:cs typeface="Arial" pitchFamily="2"/>
              </a:rPr>
              <a:t> </a:t>
            </a:r>
            <a:r>
              <a:rPr lang="ar-DZ" sz="3200" b="0" i="0" u="none" strike="noStrike" baseline="0" dirty="0" smtClean="0">
                <a:ln>
                  <a:noFill/>
                </a:ln>
                <a:solidFill>
                  <a:srgbClr val="543466"/>
                </a:solidFill>
                <a:latin typeface="Verdana" pitchFamily="34"/>
                <a:ea typeface="Arial" pitchFamily="2"/>
                <a:cs typeface="Arial" pitchFamily="2"/>
              </a:rPr>
              <a:t>في الحياة</a:t>
            </a:r>
            <a:r>
              <a:rPr lang="ar-DZ" sz="3200" b="0" i="0" u="none" strike="noStrike" dirty="0" smtClean="0">
                <a:ln>
                  <a:noFill/>
                </a:ln>
                <a:solidFill>
                  <a:srgbClr val="543466"/>
                </a:solidFill>
                <a:latin typeface="Verdana" pitchFamily="34"/>
                <a:ea typeface="Arial" pitchFamily="2"/>
                <a:cs typeface="Arial" pitchFamily="2"/>
              </a:rPr>
              <a:t> اليومية ، الوضعيات مركبة وفي بعض الحالات معقدة ،</a:t>
            </a:r>
          </a:p>
          <a:p>
            <a:pPr marL="264960" lvl="0" indent="-264960" algn="just" rtl="1">
              <a:spcBef>
                <a:spcPts val="249"/>
              </a:spcBef>
              <a:tabLst>
                <a:tab pos="264960" algn="l"/>
                <a:tab pos="1179360" algn="l"/>
                <a:tab pos="2093760" algn="l"/>
                <a:tab pos="3008159" algn="l"/>
                <a:tab pos="3922560" algn="l"/>
                <a:tab pos="4836960" algn="l"/>
                <a:tab pos="5751359" algn="l"/>
                <a:tab pos="6665759" algn="l"/>
                <a:tab pos="7580160" algn="l"/>
                <a:tab pos="8494560" algn="l"/>
                <a:tab pos="9408960" algn="l"/>
                <a:tab pos="10323360" algn="l"/>
              </a:tabLst>
            </a:pPr>
            <a:r>
              <a:rPr lang="ar-DZ" sz="3200" b="0" i="0" u="none" strike="noStrike" dirty="0" smtClean="0">
                <a:ln>
                  <a:noFill/>
                </a:ln>
                <a:solidFill>
                  <a:srgbClr val="543466"/>
                </a:solidFill>
                <a:latin typeface="Verdana" pitchFamily="34"/>
                <a:ea typeface="Arial" pitchFamily="2"/>
                <a:cs typeface="Arial" pitchFamily="2"/>
              </a:rPr>
              <a:t>لا يكفي انجاز مجموعة من مهام بسيطة ل</a:t>
            </a:r>
            <a:r>
              <a:rPr lang="ar-DZ" sz="3200" dirty="0" smtClean="0">
                <a:solidFill>
                  <a:srgbClr val="543466"/>
                </a:solidFill>
                <a:latin typeface="Verdana" pitchFamily="34"/>
                <a:ea typeface="Arial" pitchFamily="2"/>
                <a:cs typeface="Arial" pitchFamily="2"/>
              </a:rPr>
              <a:t>حلها.</a:t>
            </a:r>
            <a:endParaRPr lang="ar-DZ" sz="3200" b="0" i="0" u="none" strike="noStrike" baseline="0" dirty="0" smtClean="0">
              <a:ln>
                <a:noFill/>
              </a:ln>
              <a:solidFill>
                <a:srgbClr val="543466"/>
              </a:solidFill>
              <a:latin typeface="Verdana" pitchFamily="34"/>
              <a:ea typeface="Arial" pitchFamily="2"/>
              <a:cs typeface="Arial" pitchFamily="2"/>
            </a:endParaRPr>
          </a:p>
          <a:p>
            <a:pPr marL="264960" marR="0" lvl="0" indent="-264960" algn="just" rtl="1" hangingPunct="1">
              <a:lnSpc>
                <a:spcPct val="100000"/>
              </a:lnSpc>
              <a:spcBef>
                <a:spcPts val="249"/>
              </a:spcBef>
              <a:spcAft>
                <a:spcPts val="0"/>
              </a:spcAft>
              <a:buNone/>
              <a:tabLst>
                <a:tab pos="264960" algn="l"/>
                <a:tab pos="1179360" algn="l"/>
                <a:tab pos="2093760" algn="l"/>
                <a:tab pos="3008159" algn="l"/>
                <a:tab pos="3922560" algn="l"/>
                <a:tab pos="4836960" algn="l"/>
                <a:tab pos="5751359" algn="l"/>
                <a:tab pos="6665759" algn="l"/>
                <a:tab pos="7580160" algn="l"/>
                <a:tab pos="8494560" algn="l"/>
                <a:tab pos="9408960" algn="l"/>
                <a:tab pos="10323360" algn="l"/>
              </a:tabLst>
            </a:pPr>
            <a:endParaRPr lang="ar-DZ" sz="2000" dirty="0">
              <a:solidFill>
                <a:srgbClr val="543466"/>
              </a:solidFill>
              <a:latin typeface="Verdana" pitchFamily="34"/>
              <a:ea typeface="Arial" pitchFamily="2"/>
              <a:cs typeface="Arial" pitchFamily="2"/>
            </a:endParaRPr>
          </a:p>
          <a:p>
            <a:pPr marL="264960" marR="0" lvl="0" indent="-264960" algn="just" rtl="0" hangingPunct="1">
              <a:lnSpc>
                <a:spcPct val="100000"/>
              </a:lnSpc>
              <a:spcBef>
                <a:spcPts val="249"/>
              </a:spcBef>
              <a:spcAft>
                <a:spcPts val="0"/>
              </a:spcAft>
              <a:buNone/>
              <a:tabLst>
                <a:tab pos="264960" algn="l"/>
                <a:tab pos="1179360" algn="l"/>
                <a:tab pos="2093760" algn="l"/>
                <a:tab pos="3008159" algn="l"/>
                <a:tab pos="3922560" algn="l"/>
                <a:tab pos="4836960" algn="l"/>
                <a:tab pos="5751359" algn="l"/>
                <a:tab pos="6665759" algn="l"/>
                <a:tab pos="7580160" algn="l"/>
                <a:tab pos="8494560" algn="l"/>
                <a:tab pos="9408960" algn="l"/>
                <a:tab pos="10323360" algn="l"/>
              </a:tabLst>
            </a:pPr>
            <a:endParaRPr lang="ar-DZ" sz="1800" b="0" i="0" u="none" strike="noStrike" baseline="0" dirty="0" smtClean="0">
              <a:ln>
                <a:noFill/>
              </a:ln>
              <a:solidFill>
                <a:srgbClr val="543466"/>
              </a:solidFill>
              <a:latin typeface="Verdana" pitchFamily="34"/>
              <a:ea typeface="Arial" pitchFamily="2"/>
              <a:cs typeface="Arial" pitchFamily="2"/>
            </a:endParaRPr>
          </a:p>
          <a:p>
            <a:pPr marL="264960" marR="0" lvl="0" indent="-264960" algn="just" rtl="0" hangingPunct="1">
              <a:lnSpc>
                <a:spcPct val="100000"/>
              </a:lnSpc>
              <a:spcBef>
                <a:spcPts val="249"/>
              </a:spcBef>
              <a:spcAft>
                <a:spcPts val="0"/>
              </a:spcAft>
              <a:buNone/>
              <a:tabLst>
                <a:tab pos="264960" algn="l"/>
                <a:tab pos="1179360" algn="l"/>
                <a:tab pos="2093760" algn="l"/>
                <a:tab pos="3008159" algn="l"/>
                <a:tab pos="3922560" algn="l"/>
                <a:tab pos="4836960" algn="l"/>
                <a:tab pos="5751359" algn="l"/>
                <a:tab pos="6665759" algn="l"/>
                <a:tab pos="7580160" algn="l"/>
                <a:tab pos="8494560" algn="l"/>
                <a:tab pos="9408960" algn="l"/>
                <a:tab pos="10323360" algn="l"/>
              </a:tabLst>
            </a:pPr>
            <a:r>
              <a:rPr lang="fr-FR" sz="1800" b="0" i="0" u="none" strike="noStrike" baseline="0" dirty="0" smtClean="0">
                <a:ln>
                  <a:noFill/>
                </a:ln>
                <a:solidFill>
                  <a:srgbClr val="543466"/>
                </a:solidFill>
                <a:latin typeface="Verdana" pitchFamily="34"/>
                <a:ea typeface="Arial" pitchFamily="2"/>
                <a:cs typeface="Arial" pitchFamily="2"/>
              </a:rPr>
              <a:t> </a:t>
            </a:r>
            <a:r>
              <a:rPr lang="fr-FR" sz="1800" b="0" i="0" u="none" strike="noStrike" baseline="0" dirty="0">
                <a:ln>
                  <a:noFill/>
                </a:ln>
                <a:solidFill>
                  <a:srgbClr val="543466"/>
                </a:solidFill>
                <a:latin typeface="Verdana" pitchFamily="34"/>
                <a:ea typeface="Arial" pitchFamily="2"/>
                <a:cs typeface="Arial" pitchFamily="2"/>
              </a:rPr>
              <a:t>« </a:t>
            </a:r>
            <a:r>
              <a:rPr lang="fr-FR" sz="1800" b="0" i="0" u="none" strike="noStrike" baseline="0" dirty="0">
                <a:ln>
                  <a:noFill/>
                </a:ln>
                <a:solidFill>
                  <a:srgbClr val="543466"/>
                </a:solidFill>
                <a:effectLst>
                  <a:outerShdw dist="17961" dir="2700000">
                    <a:scrgbClr r="0" g="0" b="0"/>
                  </a:outerShdw>
                </a:effectLst>
                <a:latin typeface="Verdana" pitchFamily="34"/>
                <a:ea typeface="Arial" pitchFamily="2"/>
                <a:cs typeface="Arial" pitchFamily="2"/>
              </a:rPr>
              <a:t>Dans </a:t>
            </a:r>
            <a:r>
              <a:rPr lang="fr-FR" sz="1800" b="0" i="0" u="sng" strike="noStrike" baseline="0" dirty="0">
                <a:ln>
                  <a:noFill/>
                </a:ln>
                <a:solidFill>
                  <a:srgbClr val="543466"/>
                </a:solidFill>
                <a:effectLst>
                  <a:outerShdw dist="17961" dir="2700000">
                    <a:scrgbClr r="0" g="0" b="0"/>
                  </a:outerShdw>
                </a:effectLst>
                <a:uFillTx/>
                <a:latin typeface="Verdana" pitchFamily="34"/>
                <a:ea typeface="Arial" pitchFamily="2"/>
                <a:cs typeface="Arial" pitchFamily="2"/>
              </a:rPr>
              <a:t>la vie courante, les situations sont toujours complexes</a:t>
            </a:r>
            <a:r>
              <a:rPr lang="fr-FR" sz="1800" b="0" i="0" u="none" strike="noStrike" baseline="0" dirty="0">
                <a:ln>
                  <a:noFill/>
                </a:ln>
                <a:solidFill>
                  <a:srgbClr val="543466"/>
                </a:solidFill>
                <a:latin typeface="Verdana" pitchFamily="34"/>
                <a:ea typeface="Arial" pitchFamily="2"/>
                <a:cs typeface="Arial" pitchFamily="2"/>
              </a:rPr>
              <a:t>, à un degré plus ou moins important. Les résoudre ne se réduit pas à les découper en une somme de tâches simples effectuées les unes après les autres sans lien apparent</a:t>
            </a:r>
            <a:r>
              <a:rPr lang="fr-FR" sz="1800" b="0" i="0" u="none" strike="noStrike" baseline="0" dirty="0" smtClean="0">
                <a:ln>
                  <a:noFill/>
                </a:ln>
                <a:solidFill>
                  <a:srgbClr val="543466"/>
                </a:solidFill>
                <a:latin typeface="Verdana" pitchFamily="34"/>
                <a:ea typeface="Arial" pitchFamily="2"/>
                <a:cs typeface="Arial" pitchFamily="2"/>
              </a:rPr>
              <a:t>..»</a:t>
            </a:r>
            <a:endParaRPr lang="fr-FR" sz="1400" b="0" i="1" u="none" strike="noStrike" baseline="0" dirty="0">
              <a:ln>
                <a:noFill/>
              </a:ln>
              <a:solidFill>
                <a:srgbClr val="000000"/>
              </a:solidFill>
              <a:latin typeface="Verdana" pitchFamily="34"/>
              <a:ea typeface="Arial" pitchFamily="2"/>
              <a:cs typeface="Arial" pitchFamily="2"/>
            </a:endParaRPr>
          </a:p>
        </p:txBody>
      </p:sp>
      <p:sp>
        <p:nvSpPr>
          <p:cNvPr id="3" name="Rectangle 4"/>
          <p:cNvSpPr/>
          <p:nvPr/>
        </p:nvSpPr>
        <p:spPr>
          <a:xfrm>
            <a:off x="571680" y="428581"/>
            <a:ext cx="7929360" cy="1140954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1">
            <a:sp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ar-DZ" sz="3400" b="1" i="0" u="none" strike="noStrike" baseline="0" dirty="0" smtClean="0">
                <a:ln>
                  <a:noFill/>
                </a:ln>
                <a:solidFill>
                  <a:srgbClr val="543466"/>
                </a:solidFill>
                <a:effectLst>
                  <a:outerShdw dist="17961" dir="2700000">
                    <a:scrgbClr r="0" g="0" b="0"/>
                  </a:outerShdw>
                </a:effectLst>
                <a:latin typeface="Arial" pitchFamily="18"/>
                <a:ea typeface="Arial" pitchFamily="2"/>
                <a:cs typeface="Arial" pitchFamily="2"/>
              </a:rPr>
              <a:t>مهمة مركبة:</a:t>
            </a:r>
            <a:r>
              <a:rPr lang="ar-DZ" sz="3400" b="1" i="0" u="none" strike="noStrike" dirty="0" smtClean="0">
                <a:ln>
                  <a:noFill/>
                </a:ln>
                <a:solidFill>
                  <a:srgbClr val="543466"/>
                </a:solidFill>
                <a:effectLst>
                  <a:outerShdw dist="17961" dir="2700000">
                    <a:scrgbClr r="0" g="0" b="0"/>
                  </a:outerShdw>
                </a:effectLst>
                <a:latin typeface="Arial" pitchFamily="18"/>
                <a:ea typeface="Arial" pitchFamily="2"/>
                <a:cs typeface="Arial" pitchFamily="2"/>
              </a:rPr>
              <a:t> </a:t>
            </a:r>
            <a:r>
              <a:rPr lang="ar-DZ" sz="3400" b="1" i="0" u="none" strike="noStrike" dirty="0" smtClean="0">
                <a:ln>
                  <a:noFill/>
                </a:ln>
                <a:solidFill>
                  <a:srgbClr val="FF0000"/>
                </a:solidFill>
                <a:effectLst>
                  <a:outerShdw dist="17961" dir="2700000">
                    <a:scrgbClr r="0" g="0" b="0"/>
                  </a:outerShdw>
                </a:effectLst>
                <a:latin typeface="Arial" pitchFamily="18"/>
                <a:ea typeface="Arial" pitchFamily="2"/>
                <a:cs typeface="Arial" pitchFamily="2"/>
              </a:rPr>
              <a:t>لماذا؟</a:t>
            </a:r>
            <a:endParaRPr lang="ar-DZ" sz="3400" b="1" i="0" u="none" strike="noStrike" baseline="0" dirty="0" smtClean="0">
              <a:ln>
                <a:noFill/>
              </a:ln>
              <a:solidFill>
                <a:srgbClr val="FF0000"/>
              </a:solidFill>
              <a:effectLst>
                <a:outerShdw dist="17961" dir="2700000">
                  <a:scrgbClr r="0" g="0" b="0"/>
                </a:outerShdw>
              </a:effectLst>
              <a:latin typeface="Arial" pitchFamily="18"/>
              <a:ea typeface="Arial" pitchFamily="2"/>
              <a:cs typeface="Arial" pitchFamily="2"/>
            </a:endParaRPr>
          </a:p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FR" sz="3400" b="1" i="0" u="none" strike="noStrike" baseline="0" dirty="0" smtClean="0">
                <a:ln>
                  <a:noFill/>
                </a:ln>
                <a:solidFill>
                  <a:srgbClr val="543466"/>
                </a:solidFill>
                <a:effectLst>
                  <a:outerShdw dist="17961" dir="2700000">
                    <a:scrgbClr r="0" g="0" b="0"/>
                  </a:outerShdw>
                </a:effectLst>
                <a:latin typeface="Arial" pitchFamily="18"/>
                <a:ea typeface="Arial" pitchFamily="2"/>
                <a:cs typeface="Arial" pitchFamily="2"/>
              </a:rPr>
              <a:t>LA </a:t>
            </a:r>
            <a:r>
              <a:rPr lang="fr-FR" sz="3400" b="1" i="0" u="none" strike="noStrike" baseline="0" dirty="0">
                <a:ln>
                  <a:noFill/>
                </a:ln>
                <a:solidFill>
                  <a:srgbClr val="543466"/>
                </a:solidFill>
                <a:effectLst>
                  <a:outerShdw dist="17961" dir="2700000">
                    <a:scrgbClr r="0" g="0" b="0"/>
                  </a:outerShdw>
                </a:effectLst>
                <a:latin typeface="Arial" pitchFamily="18"/>
                <a:ea typeface="Arial" pitchFamily="2"/>
                <a:cs typeface="Arial" pitchFamily="2"/>
              </a:rPr>
              <a:t>TÂCHE COMPLEXE: </a:t>
            </a:r>
            <a:r>
              <a:rPr lang="fr-FR" sz="3400" b="1" i="1" u="none" strike="noStrike" baseline="0" dirty="0">
                <a:ln>
                  <a:noFill/>
                </a:ln>
                <a:solidFill>
                  <a:srgbClr val="FF0000"/>
                </a:solidFill>
                <a:effectLst>
                  <a:outerShdw dist="17961" dir="2700000">
                    <a:scrgbClr r="0" g="0" b="0"/>
                  </a:outerShdw>
                </a:effectLst>
                <a:latin typeface="Arial" pitchFamily="18"/>
                <a:ea typeface="Arial" pitchFamily="2"/>
                <a:cs typeface="Arial" pitchFamily="2"/>
              </a:rPr>
              <a:t>Pourquoi </a:t>
            </a:r>
            <a:r>
              <a:rPr lang="fr-FR" sz="3400" b="1" i="1" u="none" strike="noStrike" baseline="0" dirty="0" smtClean="0">
                <a:ln>
                  <a:noFill/>
                </a:ln>
                <a:solidFill>
                  <a:srgbClr val="FF0000"/>
                </a:solidFill>
                <a:effectLst>
                  <a:outerShdw dist="17961" dir="2700000">
                    <a:scrgbClr r="0" g="0" b="0"/>
                  </a:outerShdw>
                </a:effectLst>
                <a:latin typeface="Arial" pitchFamily="18"/>
                <a:ea typeface="Arial" pitchFamily="2"/>
                <a:cs typeface="Arial" pitchFamily="2"/>
              </a:rPr>
              <a:t>?</a:t>
            </a:r>
            <a:endParaRPr lang="fr-FR" sz="3400" b="1" i="1" u="none" strike="noStrike" baseline="0" dirty="0">
              <a:ln>
                <a:noFill/>
              </a:ln>
              <a:solidFill>
                <a:srgbClr val="FF0000"/>
              </a:solidFill>
              <a:effectLst>
                <a:outerShdw dist="17961" dir="2700000">
                  <a:scrgbClr r="0" g="0" b="0"/>
                </a:outerShdw>
              </a:effectLst>
              <a:latin typeface="Arial" pitchFamily="18"/>
              <a:ea typeface="Arial" pitchFamily="2"/>
              <a:cs typeface="Arial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038823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/>
          <p:nvPr/>
        </p:nvSpPr>
        <p:spPr>
          <a:xfrm>
            <a:off x="428760" y="1775514"/>
            <a:ext cx="8143920" cy="1017844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1">
            <a:spAutoFit/>
          </a:bodyPr>
          <a:lstStyle/>
          <a:p>
            <a:pPr marL="0" marR="0" lvl="0" indent="0" algn="r" rtl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ar-DZ" sz="2000" b="1" i="0" u="none" strike="noStrike" baseline="0" dirty="0" smtClean="0">
                <a:ln>
                  <a:noFill/>
                </a:ln>
                <a:solidFill>
                  <a:srgbClr val="543466"/>
                </a:solidFill>
                <a:effectLst>
                  <a:outerShdw dist="17961" dir="2700000">
                    <a:scrgbClr r="0" g="0" b="0"/>
                  </a:outerShdw>
                </a:effectLst>
                <a:latin typeface="Arial" pitchFamily="18"/>
                <a:ea typeface="Arial" pitchFamily="2"/>
                <a:cs typeface="Arial" pitchFamily="2"/>
              </a:rPr>
              <a:t>وضع المتعلم في وضعيات مشكلة حقيقية و جديدة عليه</a:t>
            </a:r>
          </a:p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FR" sz="2000" b="1" i="0" u="none" strike="noStrike" baseline="0" dirty="0" smtClean="0">
                <a:ln>
                  <a:noFill/>
                </a:ln>
                <a:solidFill>
                  <a:srgbClr val="543466"/>
                </a:solidFill>
                <a:effectLst>
                  <a:outerShdw dist="17961" dir="2700000">
                    <a:scrgbClr r="0" g="0" b="0"/>
                  </a:outerShdw>
                </a:effectLst>
                <a:latin typeface="Arial" pitchFamily="18"/>
                <a:ea typeface="Arial" pitchFamily="2"/>
                <a:cs typeface="Arial" pitchFamily="2"/>
              </a:rPr>
              <a:t>Confronter </a:t>
            </a:r>
            <a:r>
              <a:rPr lang="fr-FR" sz="2000" b="1" i="0" u="none" strike="noStrike" baseline="0" dirty="0">
                <a:ln>
                  <a:noFill/>
                </a:ln>
                <a:solidFill>
                  <a:srgbClr val="543466"/>
                </a:solidFill>
                <a:effectLst>
                  <a:outerShdw dist="17961" dir="2700000">
                    <a:scrgbClr r="0" g="0" b="0"/>
                  </a:outerShdw>
                </a:effectLst>
                <a:latin typeface="Arial" pitchFamily="18"/>
                <a:ea typeface="Arial" pitchFamily="2"/>
                <a:cs typeface="Arial" pitchFamily="2"/>
              </a:rPr>
              <a:t>les élèves à des tâches complexes c’est leur proposer dans le cadre d’une situation concrète et nouvelle…</a:t>
            </a:r>
          </a:p>
        </p:txBody>
      </p:sp>
      <p:sp>
        <p:nvSpPr>
          <p:cNvPr id="5" name="Rectangle 2"/>
          <p:cNvSpPr/>
          <p:nvPr/>
        </p:nvSpPr>
        <p:spPr>
          <a:xfrm>
            <a:off x="428760" y="3114810"/>
            <a:ext cx="9153390" cy="3664722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1">
            <a:spAutoFit/>
          </a:bodyPr>
          <a:lstStyle/>
          <a:p>
            <a:pPr marL="285750" marR="0" lvl="0" indent="-285750" algn="r" rtl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ar-DZ" sz="3200" dirty="0" smtClean="0">
                <a:solidFill>
                  <a:srgbClr val="543466"/>
                </a:solidFill>
                <a:latin typeface="Arial" pitchFamily="18"/>
                <a:ea typeface="Arial" pitchFamily="2"/>
                <a:cs typeface="Arial" pitchFamily="2"/>
              </a:rPr>
              <a:t>تعليمة عامة ودقيقة : حول ما يجب فعله دون تحديد الكيفية</a:t>
            </a:r>
            <a:endParaRPr lang="ar-DZ" sz="3200" dirty="0">
              <a:solidFill>
                <a:srgbClr val="543466"/>
              </a:solidFill>
              <a:latin typeface="Arial" pitchFamily="18"/>
              <a:ea typeface="Arial" pitchFamily="2"/>
              <a:cs typeface="Arial" pitchFamily="2"/>
            </a:endParaRPr>
          </a:p>
          <a:p>
            <a:pPr marL="285750" marR="0" lvl="0" indent="-285750" algn="r" rtl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ar-DZ" sz="3200" dirty="0" smtClean="0">
                <a:solidFill>
                  <a:srgbClr val="543466"/>
                </a:solidFill>
                <a:latin typeface="Arial" pitchFamily="18"/>
                <a:ea typeface="Arial" pitchFamily="2"/>
                <a:cs typeface="Arial" pitchFamily="2"/>
              </a:rPr>
              <a:t>موارد خارجية ( توثيق، ملاحظات مجهرية، محاكاة...)</a:t>
            </a:r>
          </a:p>
          <a:p>
            <a:pPr marL="285750" marR="0" lvl="0" indent="-285750" algn="r" rtl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ar-DZ" sz="2400" b="0" i="0" u="none" strike="noStrike" baseline="0" dirty="0" smtClean="0">
              <a:ln>
                <a:noFill/>
              </a:ln>
              <a:solidFill>
                <a:srgbClr val="543466"/>
              </a:solidFill>
              <a:latin typeface="Arial" pitchFamily="18"/>
              <a:ea typeface="Arial" pitchFamily="2"/>
              <a:cs typeface="Arial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FR" sz="2400" b="0" i="0" u="none" strike="noStrike" baseline="0" dirty="0" smtClean="0">
                <a:ln>
                  <a:noFill/>
                </a:ln>
                <a:solidFill>
                  <a:srgbClr val="543466"/>
                </a:solidFill>
                <a:latin typeface="Wingdings" pitchFamily="18"/>
                <a:ea typeface="Arial" pitchFamily="2"/>
                <a:cs typeface="Arial" pitchFamily="2"/>
              </a:rPr>
              <a:t></a:t>
            </a:r>
            <a:r>
              <a:rPr lang="fr-FR" sz="2400" b="0" i="0" u="none" strike="noStrike" baseline="0" dirty="0" smtClean="0">
                <a:ln>
                  <a:noFill/>
                </a:ln>
                <a:solidFill>
                  <a:srgbClr val="543466"/>
                </a:solidFill>
                <a:latin typeface="Arial" pitchFamily="18"/>
                <a:ea typeface="Arial" pitchFamily="2"/>
                <a:cs typeface="Arial" pitchFamily="2"/>
              </a:rPr>
              <a:t> </a:t>
            </a:r>
            <a:r>
              <a:rPr lang="fr-FR" sz="2400" b="0" i="0" u="none" strike="noStrike" baseline="0" dirty="0">
                <a:ln>
                  <a:noFill/>
                </a:ln>
                <a:solidFill>
                  <a:srgbClr val="543466"/>
                </a:solidFill>
                <a:latin typeface="Arial" pitchFamily="18"/>
                <a:ea typeface="Arial" pitchFamily="2"/>
                <a:cs typeface="Arial" pitchFamily="2"/>
              </a:rPr>
              <a:t>…une </a:t>
            </a:r>
            <a:r>
              <a:rPr lang="fr-FR" sz="2400" b="1" i="0" u="none" strike="noStrike" baseline="0" dirty="0">
                <a:ln>
                  <a:noFill/>
                </a:ln>
                <a:solidFill>
                  <a:srgbClr val="543466"/>
                </a:solidFill>
                <a:latin typeface="Arial" pitchFamily="18"/>
                <a:ea typeface="Arial" pitchFamily="2"/>
                <a:cs typeface="Arial" pitchFamily="2"/>
              </a:rPr>
              <a:t>consigne globale</a:t>
            </a:r>
            <a:r>
              <a:rPr lang="fr-FR" sz="2400" b="0" i="0" u="none" strike="noStrike" baseline="0" dirty="0">
                <a:ln>
                  <a:noFill/>
                </a:ln>
                <a:solidFill>
                  <a:srgbClr val="543466"/>
                </a:solidFill>
                <a:latin typeface="Arial" pitchFamily="18"/>
                <a:ea typeface="Arial" pitchFamily="2"/>
                <a:cs typeface="Arial" pitchFamily="2"/>
              </a:rPr>
              <a:t> et </a:t>
            </a:r>
            <a:r>
              <a:rPr lang="fr-FR" sz="2400" b="1" i="0" u="none" strike="noStrike" baseline="0" dirty="0">
                <a:ln>
                  <a:noFill/>
                </a:ln>
                <a:solidFill>
                  <a:srgbClr val="543466"/>
                </a:solidFill>
                <a:latin typeface="Arial" pitchFamily="18"/>
                <a:ea typeface="Arial" pitchFamily="2"/>
                <a:cs typeface="Arial" pitchFamily="2"/>
              </a:rPr>
              <a:t>précise:</a:t>
            </a:r>
            <a:r>
              <a:rPr lang="fr-FR" sz="2400" b="0" i="0" u="none" strike="noStrike" baseline="0" dirty="0">
                <a:ln>
                  <a:noFill/>
                </a:ln>
                <a:solidFill>
                  <a:srgbClr val="543466"/>
                </a:solidFill>
                <a:latin typeface="Arial" pitchFamily="18"/>
                <a:ea typeface="Arial" pitchFamily="2"/>
                <a:cs typeface="Arial" pitchFamily="2"/>
              </a:rPr>
              <a:t> ce qu’ils doivent faire et ce </a:t>
            </a:r>
            <a:r>
              <a:rPr lang="fr-FR" sz="2400" b="0" i="0" u="none" strike="noStrike" baseline="0" dirty="0" smtClean="0">
                <a:ln>
                  <a:noFill/>
                </a:ln>
                <a:solidFill>
                  <a:srgbClr val="543466"/>
                </a:solidFill>
                <a:latin typeface="Arial" pitchFamily="18"/>
                <a:ea typeface="Arial" pitchFamily="2"/>
                <a:cs typeface="Arial" pitchFamily="2"/>
              </a:rPr>
              <a:t>qu’ils  </a:t>
            </a:r>
            <a:r>
              <a:rPr lang="fr-FR" sz="2400" b="0" i="0" u="none" strike="noStrike" baseline="0" dirty="0">
                <a:ln>
                  <a:noFill/>
                </a:ln>
                <a:solidFill>
                  <a:srgbClr val="543466"/>
                </a:solidFill>
                <a:latin typeface="Arial" pitchFamily="18"/>
                <a:ea typeface="Arial" pitchFamily="2"/>
                <a:cs typeface="Arial" pitchFamily="2"/>
              </a:rPr>
              <a:t>doivent produire sans indiquer comment s’y prendre.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fr-FR" sz="2400" b="0" i="0" u="none" strike="noStrike" baseline="0" dirty="0">
              <a:ln>
                <a:noFill/>
              </a:ln>
              <a:solidFill>
                <a:srgbClr val="543466"/>
              </a:solidFill>
              <a:latin typeface="Arial" pitchFamily="18"/>
              <a:ea typeface="Arial" pitchFamily="2"/>
              <a:cs typeface="Arial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466"/>
              </a:buClr>
              <a:buSzPct val="100000"/>
              <a:buFont typeface="Wingdings" pitchFamily="2"/>
              <a:buChar char="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FR" sz="2400" b="0" i="0" u="none" strike="noStrike" baseline="0" dirty="0">
                <a:ln>
                  <a:noFill/>
                </a:ln>
                <a:solidFill>
                  <a:srgbClr val="543466"/>
                </a:solidFill>
                <a:latin typeface="Arial" pitchFamily="18"/>
                <a:ea typeface="Arial" pitchFamily="2"/>
                <a:cs typeface="Arial" pitchFamily="2"/>
              </a:rPr>
              <a:t>… des </a:t>
            </a:r>
            <a:r>
              <a:rPr lang="fr-FR" sz="2400" b="1" i="0" u="none" strike="noStrike" baseline="0" dirty="0">
                <a:ln>
                  <a:noFill/>
                </a:ln>
                <a:solidFill>
                  <a:srgbClr val="543466"/>
                </a:solidFill>
                <a:latin typeface="Arial" pitchFamily="18"/>
                <a:ea typeface="Arial" pitchFamily="2"/>
                <a:cs typeface="Arial" pitchFamily="2"/>
              </a:rPr>
              <a:t>ressources  externes </a:t>
            </a:r>
            <a:r>
              <a:rPr lang="fr-FR" sz="2400" b="0" i="0" u="none" strike="noStrike" baseline="0" dirty="0">
                <a:ln>
                  <a:noFill/>
                </a:ln>
                <a:solidFill>
                  <a:srgbClr val="543466"/>
                </a:solidFill>
                <a:latin typeface="Arial" pitchFamily="18"/>
                <a:ea typeface="Arial" pitchFamily="2"/>
                <a:cs typeface="Arial" pitchFamily="2"/>
              </a:rPr>
              <a:t>(internet, documents « papier », </a:t>
            </a:r>
            <a:r>
              <a:rPr lang="fr-FR" sz="2400" b="0" i="0" u="none" strike="noStrike" baseline="0" dirty="0" smtClean="0">
                <a:ln>
                  <a:noFill/>
                </a:ln>
                <a:solidFill>
                  <a:srgbClr val="543466"/>
                </a:solidFill>
                <a:latin typeface="Arial" pitchFamily="18"/>
                <a:ea typeface="Arial" pitchFamily="2"/>
                <a:cs typeface="Arial" pitchFamily="2"/>
              </a:rPr>
              <a:t>observations </a:t>
            </a:r>
            <a:r>
              <a:rPr lang="fr-FR" sz="2400" b="0" i="0" u="none" strike="noStrike" baseline="0" dirty="0">
                <a:ln>
                  <a:noFill/>
                </a:ln>
                <a:solidFill>
                  <a:srgbClr val="543466"/>
                </a:solidFill>
                <a:latin typeface="Arial" pitchFamily="18"/>
                <a:ea typeface="Arial" pitchFamily="2"/>
                <a:cs typeface="Arial" pitchFamily="2"/>
              </a:rPr>
              <a:t>microscopiques , </a:t>
            </a:r>
            <a:r>
              <a:rPr lang="fr-FR" sz="2400" b="0" i="0" u="none" strike="noStrike" baseline="0" dirty="0" smtClean="0">
                <a:ln>
                  <a:noFill/>
                </a:ln>
                <a:solidFill>
                  <a:srgbClr val="543466"/>
                </a:solidFill>
                <a:latin typeface="Arial" pitchFamily="18"/>
                <a:ea typeface="Arial" pitchFamily="2"/>
                <a:cs typeface="Arial" pitchFamily="2"/>
              </a:rPr>
              <a:t>…)</a:t>
            </a:r>
            <a:endParaRPr lang="fr-FR" sz="2400" b="0" i="0" u="none" strike="noStrike" baseline="0" dirty="0">
              <a:ln>
                <a:noFill/>
              </a:ln>
              <a:solidFill>
                <a:srgbClr val="543466"/>
              </a:solidFill>
              <a:latin typeface="Arial" pitchFamily="18"/>
              <a:ea typeface="Arial" pitchFamily="2"/>
              <a:cs typeface="Arial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FR" sz="2400" b="0" i="0" u="none" strike="noStrike" baseline="0" dirty="0">
                <a:ln>
                  <a:noFill/>
                </a:ln>
                <a:solidFill>
                  <a:srgbClr val="543466"/>
                </a:solidFill>
                <a:latin typeface="Arial" pitchFamily="18"/>
                <a:ea typeface="Arial" pitchFamily="2"/>
                <a:cs typeface="Arial" pitchFamily="2"/>
              </a:rPr>
              <a:t>					</a:t>
            </a:r>
          </a:p>
        </p:txBody>
      </p:sp>
      <p:sp>
        <p:nvSpPr>
          <p:cNvPr id="6" name="Rectangle 3"/>
          <p:cNvSpPr/>
          <p:nvPr/>
        </p:nvSpPr>
        <p:spPr>
          <a:xfrm>
            <a:off x="571680" y="500040"/>
            <a:ext cx="7358040" cy="1571842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1">
            <a:sp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ar-DZ" sz="3200" b="1" dirty="0" smtClean="0">
                <a:solidFill>
                  <a:srgbClr val="543466"/>
                </a:solidFill>
                <a:effectLst>
                  <a:outerShdw dist="17961" dir="2700000">
                    <a:scrgbClr r="0" g="0" b="0"/>
                  </a:outerShdw>
                </a:effectLst>
                <a:latin typeface="Arial" pitchFamily="18"/>
                <a:ea typeface="Arial" pitchFamily="2"/>
                <a:cs typeface="Arial" pitchFamily="2"/>
              </a:rPr>
              <a:t>مهمة مركبة: </a:t>
            </a:r>
            <a:r>
              <a:rPr lang="ar-DZ" sz="3200" b="1" dirty="0" smtClean="0">
                <a:solidFill>
                  <a:srgbClr val="FF0000"/>
                </a:solidFill>
                <a:effectLst>
                  <a:outerShdw dist="17961" dir="2700000">
                    <a:scrgbClr r="0" g="0" b="0"/>
                  </a:outerShdw>
                </a:effectLst>
                <a:latin typeface="Arial" pitchFamily="18"/>
                <a:ea typeface="Arial" pitchFamily="2"/>
                <a:cs typeface="Arial" pitchFamily="2"/>
              </a:rPr>
              <a:t>كيف؟</a:t>
            </a:r>
            <a:endParaRPr lang="ar-DZ" sz="3200" b="1" i="0" u="none" strike="noStrike" baseline="0" dirty="0" smtClean="0">
              <a:ln>
                <a:noFill/>
              </a:ln>
              <a:solidFill>
                <a:srgbClr val="FF0000"/>
              </a:solidFill>
              <a:effectLst>
                <a:outerShdw dist="17961" dir="2700000">
                  <a:scrgbClr r="0" g="0" b="0"/>
                </a:outerShdw>
              </a:effectLst>
              <a:latin typeface="Arial" pitchFamily="18"/>
              <a:ea typeface="Arial" pitchFamily="2"/>
              <a:cs typeface="Arial" pitchFamily="2"/>
            </a:endParaRPr>
          </a:p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FR" sz="3200" b="1" i="0" u="none" strike="noStrike" baseline="0" dirty="0" smtClean="0">
                <a:ln>
                  <a:noFill/>
                </a:ln>
                <a:solidFill>
                  <a:srgbClr val="543466"/>
                </a:solidFill>
                <a:effectLst>
                  <a:outerShdw dist="17961" dir="2700000">
                    <a:scrgbClr r="0" g="0" b="0"/>
                  </a:outerShdw>
                </a:effectLst>
                <a:latin typeface="Arial" pitchFamily="18"/>
                <a:ea typeface="Arial" pitchFamily="2"/>
                <a:cs typeface="Arial" pitchFamily="2"/>
              </a:rPr>
              <a:t>LA </a:t>
            </a:r>
            <a:r>
              <a:rPr lang="fr-FR" sz="3200" b="1" i="0" u="none" strike="noStrike" baseline="0" dirty="0">
                <a:ln>
                  <a:noFill/>
                </a:ln>
                <a:solidFill>
                  <a:srgbClr val="543466"/>
                </a:solidFill>
                <a:effectLst>
                  <a:outerShdw dist="17961" dir="2700000">
                    <a:scrgbClr r="0" g="0" b="0"/>
                  </a:outerShdw>
                </a:effectLst>
                <a:latin typeface="Arial" pitchFamily="18"/>
                <a:ea typeface="Arial" pitchFamily="2"/>
                <a:cs typeface="Arial" pitchFamily="2"/>
              </a:rPr>
              <a:t>TÂCHE COMPLEXE: </a:t>
            </a:r>
            <a:r>
              <a:rPr lang="fr-FR" sz="3200" b="1" i="1" u="none" strike="noStrike" baseline="0" dirty="0">
                <a:ln>
                  <a:noFill/>
                </a:ln>
                <a:solidFill>
                  <a:srgbClr val="FF0000"/>
                </a:solidFill>
                <a:effectLst>
                  <a:outerShdw dist="17961" dir="2700000">
                    <a:scrgbClr r="0" g="0" b="0"/>
                  </a:outerShdw>
                </a:effectLst>
                <a:latin typeface="Arial" pitchFamily="18"/>
                <a:ea typeface="Arial" pitchFamily="2"/>
                <a:cs typeface="Arial" pitchFamily="2"/>
              </a:rPr>
              <a:t>Comment ?</a:t>
            </a:r>
          </a:p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fr-FR" sz="3200" b="1" i="1" u="none" strike="noStrike" baseline="0" dirty="0">
              <a:ln>
                <a:noFill/>
              </a:ln>
              <a:solidFill>
                <a:srgbClr val="FF0000"/>
              </a:solidFill>
              <a:effectLst>
                <a:outerShdw dist="17961" dir="2700000">
                  <a:scrgbClr r="0" g="0" b="0"/>
                </a:outerShdw>
              </a:effectLst>
              <a:latin typeface="Arial" pitchFamily="18"/>
              <a:ea typeface="Arial" pitchFamily="2"/>
              <a:cs typeface="Arial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495307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allAtOnce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38401" y="626826"/>
            <a:ext cx="7118648" cy="1138911"/>
          </a:xfrm>
        </p:spPr>
        <p:txBody>
          <a:bodyPr/>
          <a:lstStyle/>
          <a:p>
            <a:pPr algn="ctr" rtl="1"/>
            <a:r>
              <a:rPr lang="ar-DZ" sz="4400" dirty="0" smtClean="0"/>
              <a:t>تقويم</a:t>
            </a:r>
            <a:br>
              <a:rPr lang="ar-DZ" sz="4400" dirty="0" smtClean="0"/>
            </a:br>
            <a:r>
              <a:rPr lang="ar-DZ" sz="4400" dirty="0" smtClean="0"/>
              <a:t>ابراز المسعى العلمي في بناء التدرجات</a:t>
            </a:r>
            <a:endParaRPr lang="fr-FR" sz="4000" dirty="0"/>
          </a:p>
        </p:txBody>
      </p:sp>
      <p:sp>
        <p:nvSpPr>
          <p:cNvPr id="4" name="Rectangle 3"/>
          <p:cNvSpPr/>
          <p:nvPr/>
        </p:nvSpPr>
        <p:spPr>
          <a:xfrm>
            <a:off x="646386" y="2649278"/>
            <a:ext cx="8875986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DZ" sz="2800" b="1" dirty="0" smtClean="0"/>
              <a:t>التعليمة: </a:t>
            </a:r>
          </a:p>
          <a:p>
            <a:pPr algn="r" rtl="1"/>
            <a:r>
              <a:rPr lang="ar-DZ" sz="2800" b="1" dirty="0" smtClean="0"/>
              <a:t>- استخدم </a:t>
            </a:r>
            <a:r>
              <a:rPr lang="ar-DZ" sz="2800" b="1" dirty="0"/>
              <a:t>الوثائق التالية [</a:t>
            </a:r>
            <a:r>
              <a:rPr lang="ar-DZ" sz="2800" b="1" dirty="0" smtClean="0"/>
              <a:t>تدرج السنة أولى ثانوي ( آليات النمو الانقسام الخيطي)] لبناء وضعية انطلاقية  واقتراح  مهمات و تعليمات مناسبة، للتوصل إلى بناء الموارد المعرفية </a:t>
            </a:r>
            <a:r>
              <a:rPr lang="ar-DZ" sz="2800" b="1" dirty="0"/>
              <a:t>المشار إليها </a:t>
            </a:r>
            <a:r>
              <a:rPr lang="ar-DZ" sz="2800" b="1" dirty="0" smtClean="0"/>
              <a:t>في التدرج مع  توظيف الكفاءات  المنهجية  الخمسة المجندة في ممارسة المسعى العلمي.</a:t>
            </a:r>
            <a:r>
              <a:rPr lang="ar-DZ" sz="2800" b="1" dirty="0"/>
              <a:t/>
            </a:r>
            <a:br>
              <a:rPr lang="ar-DZ" sz="2800" b="1" dirty="0"/>
            </a:br>
            <a:r>
              <a:rPr lang="ar-DZ" sz="2800" b="1" dirty="0" smtClean="0"/>
              <a:t>- حدد الكفاءات  المعرفية و المنهجية التي </a:t>
            </a:r>
            <a:r>
              <a:rPr lang="ar-DZ" sz="2800" b="1" dirty="0"/>
              <a:t>يمكن </a:t>
            </a:r>
            <a:r>
              <a:rPr lang="ar-DZ" sz="2800" b="1" dirty="0" smtClean="0"/>
              <a:t> اقتراحها  في التقييم مرحلي للكفاءة.</a:t>
            </a:r>
            <a:endParaRPr lang="fr-FR" sz="2800" b="1" dirty="0"/>
          </a:p>
        </p:txBody>
      </p:sp>
    </p:spTree>
    <p:extLst>
      <p:ext uri="{BB962C8B-B14F-4D97-AF65-F5344CB8AC3E}">
        <p14:creationId xmlns:p14="http://schemas.microsoft.com/office/powerpoint/2010/main" val="1575962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32994" y="453406"/>
            <a:ext cx="7118648" cy="706964"/>
          </a:xfrm>
        </p:spPr>
        <p:txBody>
          <a:bodyPr/>
          <a:lstStyle/>
          <a:p>
            <a:pPr algn="ctr" rtl="1"/>
            <a:r>
              <a:rPr lang="ar-DZ" dirty="0" smtClean="0"/>
              <a:t>السند</a:t>
            </a:r>
            <a:endParaRPr lang="fr-FR" dirty="0"/>
          </a:p>
        </p:txBody>
      </p:sp>
      <p:graphicFrame>
        <p:nvGraphicFramePr>
          <p:cNvPr id="3" name="Tableau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8471443"/>
              </p:ext>
            </p:extLst>
          </p:nvPr>
        </p:nvGraphicFramePr>
        <p:xfrm>
          <a:off x="204951" y="1166649"/>
          <a:ext cx="9380483" cy="5744256"/>
        </p:xfrm>
        <a:graphic>
          <a:graphicData uri="http://schemas.openxmlformats.org/drawingml/2006/table">
            <a:tbl>
              <a:tblPr rtl="1" firstRow="1" firstCol="1" bandRow="1">
                <a:tableStyleId>{E8B1032C-EA38-4F05-BA0D-38AFFFC7BED3}</a:tableStyleId>
              </a:tblPr>
              <a:tblGrid>
                <a:gridCol w="772510"/>
                <a:gridCol w="5076496"/>
                <a:gridCol w="2194788"/>
                <a:gridCol w="1336689"/>
              </a:tblGrid>
              <a:tr h="648136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DZ" sz="2000" dirty="0" smtClean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Arial"/>
                        </a:rPr>
                        <a:t>الوحدة التعلمية</a:t>
                      </a:r>
                      <a:endParaRPr lang="fr-FR" sz="20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7899" marR="47899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dirty="0" smtClean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Arial"/>
                        </a:rPr>
                        <a:t>الموارد المستهدفة</a:t>
                      </a:r>
                      <a:endParaRPr lang="fr-FR" sz="20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7899" marR="47899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dirty="0" smtClean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Arial"/>
                        </a:rPr>
                        <a:t>السير المنهجي</a:t>
                      </a:r>
                      <a:endParaRPr lang="fr-FR" sz="20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7899" marR="47899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dirty="0" smtClean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Arial"/>
                        </a:rPr>
                        <a:t>الأسناد</a:t>
                      </a:r>
                      <a:r>
                        <a:rPr lang="ar-DZ" sz="2000" baseline="0" dirty="0" smtClean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Arial"/>
                        </a:rPr>
                        <a:t> المستعملة</a:t>
                      </a:r>
                      <a:endParaRPr lang="fr-FR" sz="20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7899" marR="47899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5043216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dirty="0">
                          <a:effectLst/>
                        </a:rPr>
                        <a:t> </a:t>
                      </a:r>
                      <a:endParaRPr lang="fr-FR" sz="2000" dirty="0">
                        <a:effectLst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dirty="0">
                          <a:effectLst/>
                        </a:rPr>
                        <a:t> </a:t>
                      </a:r>
                      <a:endParaRPr lang="fr-FR" sz="2000" dirty="0">
                        <a:effectLst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dirty="0">
                          <a:effectLst/>
                        </a:rPr>
                        <a:t> </a:t>
                      </a:r>
                      <a:endParaRPr lang="fr-FR" sz="2000" dirty="0">
                        <a:effectLst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dirty="0">
                          <a:effectLst/>
                        </a:rPr>
                        <a:t>* آليات النمو</a:t>
                      </a:r>
                      <a:endParaRPr lang="fr-FR" sz="2000" dirty="0">
                        <a:effectLst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DZ" sz="2000" dirty="0">
                          <a:effectLst/>
                        </a:rPr>
                        <a:t>الانقسام الخيطي</a:t>
                      </a:r>
                      <a:endParaRPr lang="fr-FR" sz="20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7899" marR="47899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dirty="0">
                          <a:effectLst/>
                        </a:rPr>
                        <a:t>الخلية الإنشائية هي خلية ثنائية الصيغة الصبغية(2ن) تتضاعف بالانقسام الخيطي المتساوي.</a:t>
                      </a:r>
                      <a:endParaRPr lang="fr-FR" sz="2000" dirty="0">
                        <a:effectLst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dirty="0">
                          <a:effectLst/>
                        </a:rPr>
                        <a:t>- الانقسام الخيطي ظاهرة مستمرة يمكن تقسيمها إلى 4 مراحل حسب مظهر الصبغيات.</a:t>
                      </a:r>
                      <a:br>
                        <a:rPr lang="ar-DZ" sz="2000" dirty="0">
                          <a:effectLst/>
                        </a:rPr>
                      </a:br>
                      <a:r>
                        <a:rPr lang="ar-DZ" sz="2000" dirty="0">
                          <a:effectLst/>
                        </a:rPr>
                        <a:t>المرحلة التمهيدية : الصبغيات مضاعفة ، كل صبغي مكون من كروماتيدين.</a:t>
                      </a:r>
                      <a:br>
                        <a:rPr lang="ar-DZ" sz="2000" dirty="0">
                          <a:effectLst/>
                        </a:rPr>
                      </a:br>
                      <a:r>
                        <a:rPr lang="ar-DZ" sz="2000" dirty="0">
                          <a:effectLst/>
                        </a:rPr>
                        <a:t>المرحلة الاستوائية : تنتظم الصبغيات المثبتة على خيوط المغزل </a:t>
                      </a:r>
                      <a:r>
                        <a:rPr lang="ar-DZ" sz="2000" dirty="0" err="1">
                          <a:effectLst/>
                        </a:rPr>
                        <a:t>اللالوني</a:t>
                      </a:r>
                      <a:r>
                        <a:rPr lang="ar-DZ" sz="2000" dirty="0">
                          <a:effectLst/>
                        </a:rPr>
                        <a:t> في المستوى الاستوائي للخلية .</a:t>
                      </a:r>
                      <a:br>
                        <a:rPr lang="ar-DZ" sz="2000" dirty="0">
                          <a:effectLst/>
                        </a:rPr>
                      </a:br>
                      <a:r>
                        <a:rPr lang="ar-DZ" sz="2000" dirty="0">
                          <a:effectLst/>
                        </a:rPr>
                        <a:t>المرحلة الانفصالية: تنفصل </a:t>
                      </a:r>
                      <a:r>
                        <a:rPr lang="ar-DZ" sz="2000" dirty="0" err="1">
                          <a:effectLst/>
                        </a:rPr>
                        <a:t>كروماتيدتا</a:t>
                      </a:r>
                      <a:r>
                        <a:rPr lang="ar-DZ" sz="2000" dirty="0">
                          <a:effectLst/>
                        </a:rPr>
                        <a:t> كل صبغي و تهاجر كل منهما إلى أحد قطبي الخلية.</a:t>
                      </a:r>
                      <a:br>
                        <a:rPr lang="ar-DZ" sz="2000" dirty="0">
                          <a:effectLst/>
                        </a:rPr>
                      </a:br>
                      <a:r>
                        <a:rPr lang="ar-DZ" sz="2000" dirty="0">
                          <a:effectLst/>
                        </a:rPr>
                        <a:t>المرحلة النهائية : تنفصل الخليتان البنتان و بكل ّمنها نفس عدد  صبغيات الخلية الأم.</a:t>
                      </a:r>
                      <a:br>
                        <a:rPr lang="ar-DZ" sz="2000" dirty="0">
                          <a:effectLst/>
                        </a:rPr>
                      </a:br>
                      <a:r>
                        <a:rPr lang="ar-DZ" sz="2000" dirty="0">
                          <a:effectLst/>
                        </a:rPr>
                        <a:t>تنمو الخليتين البنتين ، فتحتفظ احداهما بخاصيتها </a:t>
                      </a:r>
                      <a:r>
                        <a:rPr lang="ar-DZ" sz="2000" dirty="0" err="1">
                          <a:effectLst/>
                        </a:rPr>
                        <a:t>الميرستيمية</a:t>
                      </a:r>
                      <a:r>
                        <a:rPr lang="ar-DZ" sz="2000" dirty="0">
                          <a:effectLst/>
                        </a:rPr>
                        <a:t>  و تدخل  في انقسام جديد بينما  الخلية الثانية تستطيل ثم تتمايز</a:t>
                      </a:r>
                      <a:r>
                        <a:rPr lang="ar-DZ" sz="2000" dirty="0" smtClean="0">
                          <a:effectLst/>
                        </a:rPr>
                        <a:t>.</a:t>
                      </a:r>
                      <a:endParaRPr lang="fr-FR" sz="2000" dirty="0">
                        <a:effectLst/>
                      </a:endParaRPr>
                    </a:p>
                  </a:txBody>
                  <a:tcPr marL="47899" marR="47899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>
                          <a:effectLst/>
                        </a:rPr>
                        <a:t>عملي : - ينجز محضرات مجهرية لمقاطع طولية في جذر بصلة  نبات البصل ويترجم ملاحظاته إلى رسومات تخطيطية .</a:t>
                      </a:r>
                      <a:br>
                        <a:rPr lang="ar-DZ" sz="2000">
                          <a:effectLst/>
                        </a:rPr>
                      </a:br>
                      <a:r>
                        <a:rPr lang="ar-DZ" sz="2000">
                          <a:effectLst/>
                        </a:rPr>
                        <a:t>* يصف المراحل الأساسية للانقسام الخيطي(يكون التركيز على الظواهر التي تمس الصبغيات) .</a:t>
                      </a:r>
                      <a:endParaRPr lang="fr-FR" sz="200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7899" marR="47899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dirty="0">
                          <a:effectLst/>
                        </a:rPr>
                        <a:t> </a:t>
                      </a: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dirty="0">
                          <a:effectLst/>
                        </a:rPr>
                        <a:t>محضرات مجهرية و الوثيقة 2ص 22</a:t>
                      </a:r>
                      <a:endParaRPr lang="fr-FR" sz="2000" dirty="0">
                        <a:effectLst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dirty="0">
                          <a:effectLst/>
                        </a:rPr>
                        <a:t>و الوثيقة 4 ص 23</a:t>
                      </a:r>
                      <a:endParaRPr lang="fr-FR" sz="2000" dirty="0">
                        <a:effectLst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dirty="0">
                          <a:effectLst/>
                        </a:rPr>
                        <a:t> </a:t>
                      </a:r>
                      <a:endParaRPr lang="fr-FR" sz="2000" dirty="0">
                        <a:effectLst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dirty="0">
                          <a:effectLst/>
                        </a:rPr>
                        <a:t> </a:t>
                      </a:r>
                      <a:endParaRPr lang="fr-FR" sz="20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7899" marR="47899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9217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10685" y="2152650"/>
            <a:ext cx="8284640" cy="447675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/>
            </a:prstTxWarp>
            <a:spAutoFit/>
          </a:bodyPr>
          <a:lstStyle/>
          <a:p>
            <a:pPr algn="ctr"/>
            <a:r>
              <a:rPr lang="ar-DZ" sz="9600" b="1" cap="none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شكرا على المشاركة</a:t>
            </a:r>
            <a:endParaRPr lang="fr-FR" sz="9600" b="1" cap="none" spc="50" dirty="0">
              <a:ln w="12700" cmpd="sng">
                <a:solidFill>
                  <a:schemeClr val="accent6">
                    <a:satMod val="120000"/>
                    <a:shade val="80000"/>
                  </a:schemeClr>
                </a:solidFill>
                <a:prstDash val="solid"/>
              </a:ln>
              <a:solidFill>
                <a:schemeClr val="accent6">
                  <a:tint val="1000"/>
                </a:schemeClr>
              </a:solidFill>
              <a:effectLst>
                <a:glow rad="53100">
                  <a:schemeClr val="accent6">
                    <a:satMod val="180000"/>
                    <a:alpha val="3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74697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2b4a9e9d833821e6d5d61d86df51fcaf4fd55baf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irection Ion">
  <a:themeElements>
    <a:clrScheme name="Direction 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Direction 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irection 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4868</TotalTime>
  <Words>1830</Words>
  <Application>Microsoft Office PowerPoint</Application>
  <PresentationFormat>Format A4 (210 x 297 mm)</PresentationFormat>
  <Paragraphs>620</Paragraphs>
  <Slides>20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1" baseType="lpstr">
      <vt:lpstr>Direction Ion</vt:lpstr>
      <vt:lpstr>Présentation PowerPoint</vt:lpstr>
      <vt:lpstr>النشاط (2): تصنيف المهمات حسب الكفاءة المجندة في ممارسة المسعى العلمي مع  تحديد طبيعتها</vt:lpstr>
      <vt:lpstr>النشاط (2): تصنيف المهمات حسب الكفاءة المجندة في ممارسة المسعى العلمي مع  تحديد طبيعتها</vt:lpstr>
      <vt:lpstr>النشاط (2): تصنيف المهمات حسب الكفاءة المجندة في ممارسة المسعى العلمي مع  تحديد طبيعتها</vt:lpstr>
      <vt:lpstr>النشاط (2): تصنيف المهمات حسب الكفاءة المجندة في ممارسة المسعى العلمي مع  تحديد طبيعتها</vt:lpstr>
      <vt:lpstr>النشاط (2): تصنيف المهمات حسب الكفاءة المجندة في ممارسة المسعى العلمي مع  تحديد طبيعتها</vt:lpstr>
      <vt:lpstr>النشاط (2): تصنيف المهمات حسب الكفاءة المجندة في ممارسة المسعى العلمي مع  تحديد طبيعتها</vt:lpstr>
      <vt:lpstr>النشاط (2): تصنيف المهمات حسب الكفاءة المجندة في ممارسة المسعى العلمي مع  تحديد طبيعتها</vt:lpstr>
      <vt:lpstr>الحصيلة</vt:lpstr>
      <vt:lpstr>الحصيلة</vt:lpstr>
      <vt:lpstr>الحصيلة</vt:lpstr>
      <vt:lpstr>الحصيلة</vt:lpstr>
      <vt:lpstr>الحصيلة</vt:lpstr>
      <vt:lpstr>Présentation PowerPoint</vt:lpstr>
      <vt:lpstr>Présentation PowerPoint</vt:lpstr>
      <vt:lpstr>Présentation PowerPoint</vt:lpstr>
      <vt:lpstr>Présentation PowerPoint</vt:lpstr>
      <vt:lpstr>تقويم ابراز المسعى العلمي في بناء التدرجات</vt:lpstr>
      <vt:lpstr>السند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dj amri</dc:creator>
  <cp:lastModifiedBy>هني محمد بن عبد الرحمن</cp:lastModifiedBy>
  <cp:revision>531</cp:revision>
  <dcterms:created xsi:type="dcterms:W3CDTF">2015-06-05T11:18:18Z</dcterms:created>
  <dcterms:modified xsi:type="dcterms:W3CDTF">2019-11-12T08:34:32Z</dcterms:modified>
</cp:coreProperties>
</file>