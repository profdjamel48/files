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305" r:id="rId2"/>
    <p:sldId id="306" r:id="rId3"/>
    <p:sldId id="308" r:id="rId4"/>
    <p:sldId id="309" r:id="rId5"/>
    <p:sldId id="310" r:id="rId6"/>
    <p:sldId id="311" r:id="rId7"/>
    <p:sldId id="312" r:id="rId8"/>
    <p:sldId id="313" r:id="rId9"/>
    <p:sldId id="320" r:id="rId10"/>
    <p:sldId id="325" r:id="rId11"/>
    <p:sldId id="314" r:id="rId12"/>
    <p:sldId id="315" r:id="rId13"/>
    <p:sldId id="319" r:id="rId14"/>
    <p:sldId id="316" r:id="rId15"/>
    <p:sldId id="317" r:id="rId16"/>
    <p:sldId id="318" r:id="rId17"/>
  </p:sldIdLst>
  <p:sldSz cx="9906000" cy="6858000" type="A4"/>
  <p:notesSz cx="6858000" cy="9144000"/>
  <p:custDataLst>
    <p:tags r:id="rId19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49" autoAdjust="0"/>
    <p:restoredTop sz="96456" autoAdjust="0"/>
  </p:normalViewPr>
  <p:slideViewPr>
    <p:cSldViewPr snapToGrid="0">
      <p:cViewPr>
        <p:scale>
          <a:sx n="50" d="100"/>
          <a:sy n="50" d="100"/>
        </p:scale>
        <p:origin x="-1542" y="-54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05068-90CF-49F6-9C41-3D5A4B6156A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2B94A-E94D-4B34-95ED-EB1A9576B1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917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8401" y="2099733"/>
            <a:ext cx="7170847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38401" y="4777380"/>
            <a:ext cx="7170847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8161306" y="1820800"/>
            <a:ext cx="990599" cy="24764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911625" y="3256408"/>
            <a:ext cx="3859795" cy="24765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11439" y="295730"/>
            <a:ext cx="681037" cy="767687"/>
          </a:xfrm>
        </p:spPr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1634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401" y="2603500"/>
            <a:ext cx="7170848" cy="34163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148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0" y="2677645"/>
            <a:ext cx="3535208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2642" y="2677644"/>
            <a:ext cx="305300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50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8400" y="2603501"/>
            <a:ext cx="3920441" cy="3416301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4579" y="2603500"/>
            <a:ext cx="3920442" cy="341630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777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2603500"/>
            <a:ext cx="39204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8400" y="3179763"/>
            <a:ext cx="3920441" cy="2840039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44579" y="2603500"/>
            <a:ext cx="392044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44579" y="3179763"/>
            <a:ext cx="3920442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9523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938401" y="973668"/>
            <a:ext cx="7118648" cy="706964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85706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7706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1" y="1295400"/>
            <a:ext cx="2269441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7181" y="1447800"/>
            <a:ext cx="4216929" cy="4572000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938400" y="3129281"/>
            <a:ext cx="2269441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5042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1" y="1693334"/>
            <a:ext cx="3140421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20145" y="1143000"/>
            <a:ext cx="2622094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938400" y="3657600"/>
            <a:ext cx="3135610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22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1" y="4969927"/>
            <a:ext cx="717084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8401" y="685800"/>
            <a:ext cx="717084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8400" y="5536665"/>
            <a:ext cx="7170847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530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98" y="1063417"/>
            <a:ext cx="7175851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938401" y="3543300"/>
            <a:ext cx="7170848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893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716272" y="607336"/>
            <a:ext cx="6515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8031123" y="2613787"/>
            <a:ext cx="5303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76" y="982134"/>
            <a:ext cx="6868799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581081" y="3678766"/>
            <a:ext cx="6281615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938400" y="5029200"/>
            <a:ext cx="7511479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7713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0" y="2370667"/>
            <a:ext cx="7170849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5024967"/>
            <a:ext cx="717084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3189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1" y="973668"/>
            <a:ext cx="7170848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0" y="2603502"/>
            <a:ext cx="255277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38400" y="3179765"/>
            <a:ext cx="2552777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66586" y="2603500"/>
            <a:ext cx="255694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666586" y="3179764"/>
            <a:ext cx="2556945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409110" y="2603501"/>
            <a:ext cx="255590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6409267" y="3179763"/>
            <a:ext cx="2555748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8226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315076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690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1" y="973668"/>
            <a:ext cx="7170848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0" y="4532844"/>
            <a:ext cx="247848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84324" y="2603500"/>
            <a:ext cx="2186634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38400" y="5109106"/>
            <a:ext cx="2478481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12203" y="4532845"/>
            <a:ext cx="2478481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58126" y="2603500"/>
            <a:ext cx="2186635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713265" y="5109105"/>
            <a:ext cx="2478481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486005" y="4532845"/>
            <a:ext cx="247901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632463" y="2603500"/>
            <a:ext cx="2186634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6486004" y="5109104"/>
            <a:ext cx="247901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579738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335714" y="2569634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5903" y="6391839"/>
            <a:ext cx="2960979" cy="304801"/>
          </a:xfr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8533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01" y="973668"/>
            <a:ext cx="7170848" cy="70696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8401" y="2603500"/>
            <a:ext cx="7170848" cy="3416300"/>
          </a:xfrm>
        </p:spPr>
        <p:txBody>
          <a:bodyPr vert="eaVert" anchor="t" anchorCtr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90044" y="6391839"/>
            <a:ext cx="804862" cy="304799"/>
          </a:xfrm>
        </p:spPr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008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5504" y="1278467"/>
            <a:ext cx="1145597" cy="4748590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8401" y="1278467"/>
            <a:ext cx="5083020" cy="474859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55647" y="6391839"/>
            <a:ext cx="806110" cy="304799"/>
          </a:xfrm>
        </p:spPr>
        <p:txBody>
          <a:bodyPr/>
          <a:lstStyle/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53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906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38401" y="973668"/>
            <a:ext cx="7118648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2603500"/>
            <a:ext cx="7118648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55647" y="6391839"/>
            <a:ext cx="804862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712B7EF-F719-4EC2-9E00-118CD5224898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903" y="6391839"/>
            <a:ext cx="3136083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8480722" y="0"/>
            <a:ext cx="55721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8411439" y="295730"/>
            <a:ext cx="681037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BDEBB03-A4F5-4CD7-A39F-B03D750AB1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665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646415" y="526359"/>
            <a:ext cx="86678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3200" b="1" dirty="0" smtClean="0">
                <a:solidFill>
                  <a:schemeClr val="bg1"/>
                </a:solidFill>
              </a:rPr>
              <a:t>الجمهورية الجزائرية الديمقراطية الشعبية</a:t>
            </a:r>
          </a:p>
          <a:p>
            <a:pPr algn="ctr" rtl="1"/>
            <a:r>
              <a:rPr lang="ar-DZ" sz="3200" b="1" dirty="0" smtClean="0">
                <a:solidFill>
                  <a:schemeClr val="bg1"/>
                </a:solidFill>
              </a:rPr>
              <a:t>وزارة التربية الوطنية</a:t>
            </a:r>
            <a:endParaRPr lang="fr-FR" sz="3200" b="1" dirty="0" smtClean="0">
              <a:solidFill>
                <a:schemeClr val="bg1"/>
              </a:solidFill>
            </a:endParaRPr>
          </a:p>
          <a:p>
            <a:pPr algn="ctr" rtl="1"/>
            <a:r>
              <a:rPr lang="ar-DZ" sz="3200" b="1" dirty="0" smtClean="0">
                <a:solidFill>
                  <a:schemeClr val="bg1"/>
                </a:solidFill>
              </a:rPr>
              <a:t>المفتشية العامة للبيداغوجيا</a:t>
            </a:r>
          </a:p>
        </p:txBody>
      </p:sp>
      <p:sp>
        <p:nvSpPr>
          <p:cNvPr id="6" name="Organigramme : Multidocument 5"/>
          <p:cNvSpPr/>
          <p:nvPr/>
        </p:nvSpPr>
        <p:spPr>
          <a:xfrm>
            <a:off x="415160" y="495300"/>
            <a:ext cx="1238259" cy="2000264"/>
          </a:xfrm>
          <a:prstGeom prst="flowChartMultidocument">
            <a:avLst/>
          </a:prstGeom>
          <a:solidFill>
            <a:schemeClr val="accent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b="1" dirty="0" smtClean="0">
                <a:solidFill>
                  <a:prstClr val="white"/>
                </a:solidFill>
              </a:rPr>
              <a:t>علوم الطبيعة والحياة</a:t>
            </a:r>
            <a:endParaRPr lang="ar-SA" b="1" dirty="0">
              <a:solidFill>
                <a:prstClr val="white"/>
              </a:solidFill>
            </a:endParaRPr>
          </a:p>
        </p:txBody>
      </p:sp>
      <p:pic>
        <p:nvPicPr>
          <p:cNvPr id="7" name="Picture 2" descr="G:\IMAGES ET GIFS\758705algerie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57134" y="573861"/>
            <a:ext cx="1160868" cy="1071570"/>
          </a:xfrm>
          <a:prstGeom prst="rect">
            <a:avLst/>
          </a:prstGeom>
          <a:noFill/>
        </p:spPr>
      </p:pic>
      <p:sp>
        <p:nvSpPr>
          <p:cNvPr id="8" name="Rectangle à coins arrondis 7"/>
          <p:cNvSpPr/>
          <p:nvPr/>
        </p:nvSpPr>
        <p:spPr>
          <a:xfrm>
            <a:off x="2542532" y="2576504"/>
            <a:ext cx="4878304" cy="135732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2400" b="1" dirty="0">
                <a:solidFill>
                  <a:schemeClr val="tx1"/>
                </a:solidFill>
              </a:rPr>
              <a:t>يوم تكويني لأساتذة مادة علوم الطبيعة والحياة</a:t>
            </a:r>
          </a:p>
          <a:p>
            <a:pPr algn="ctr" rtl="1"/>
            <a:r>
              <a:rPr lang="ar-DZ" sz="2400" b="1" dirty="0">
                <a:solidFill>
                  <a:schemeClr val="tx1"/>
                </a:solidFill>
              </a:rPr>
              <a:t>ثانوية</a:t>
            </a:r>
            <a:r>
              <a:rPr lang="fr-FR" sz="2400" b="1" dirty="0">
                <a:solidFill>
                  <a:schemeClr val="tx1"/>
                </a:solidFill>
              </a:rPr>
              <a:t> </a:t>
            </a:r>
            <a:r>
              <a:rPr lang="ar-DZ" sz="2400" b="1" dirty="0">
                <a:solidFill>
                  <a:schemeClr val="tx1"/>
                </a:solidFill>
              </a:rPr>
              <a:t> شارع الشهداء/ واد رهيو</a:t>
            </a:r>
          </a:p>
          <a:p>
            <a:pPr algn="ctr" rtl="1"/>
            <a:r>
              <a:rPr lang="ar-DZ" sz="2400" b="1" dirty="0">
                <a:solidFill>
                  <a:schemeClr val="tx1"/>
                </a:solidFill>
              </a:rPr>
              <a:t>04 فيفري 2026</a:t>
            </a:r>
            <a:endParaRPr lang="fr-FR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95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/>
          <p:cNvSpPr/>
          <p:nvPr/>
        </p:nvSpPr>
        <p:spPr>
          <a:xfrm>
            <a:off x="3845557" y="379400"/>
            <a:ext cx="2324100" cy="122088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4400" b="1" dirty="0" smtClean="0"/>
              <a:t>التعليمة</a:t>
            </a:r>
            <a:endParaRPr lang="fr-FR" sz="4400" b="1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347662" y="2445543"/>
            <a:ext cx="4057650" cy="1638300"/>
          </a:xfrm>
          <a:prstGeom prst="roundRect">
            <a:avLst>
              <a:gd name="adj" fmla="val 3759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chemeClr val="tx1"/>
                </a:solidFill>
              </a:rPr>
              <a:t>معطى يدل على المهمة</a:t>
            </a:r>
            <a:r>
              <a:rPr lang="fr-FR" sz="2400" b="1" dirty="0" smtClean="0">
                <a:solidFill>
                  <a:schemeClr val="tx1"/>
                </a:solidFill>
              </a:rPr>
              <a:t> </a:t>
            </a:r>
          </a:p>
          <a:p>
            <a:pPr algn="ctr" rtl="1"/>
            <a:r>
              <a:rPr lang="ar-DZ" sz="2400" b="1" dirty="0" smtClean="0">
                <a:solidFill>
                  <a:schemeClr val="tx1"/>
                </a:solidFill>
              </a:rPr>
              <a:t>(</a:t>
            </a:r>
            <a:r>
              <a:rPr lang="fr-FR" sz="2400" b="1" dirty="0" smtClean="0">
                <a:solidFill>
                  <a:schemeClr val="tx1"/>
                </a:solidFill>
              </a:rPr>
              <a:t> </a:t>
            </a:r>
            <a:r>
              <a:rPr lang="ar-DZ" sz="2400" b="1" dirty="0" smtClean="0">
                <a:solidFill>
                  <a:schemeClr val="tx1"/>
                </a:solidFill>
              </a:rPr>
              <a:t>الموضوع الذي يقع عليه الفعل</a:t>
            </a:r>
            <a:r>
              <a:rPr lang="fr-FR" sz="2400" b="1" dirty="0">
                <a:solidFill>
                  <a:schemeClr val="tx1"/>
                </a:solidFill>
              </a:rPr>
              <a:t>(</a:t>
            </a:r>
            <a:endParaRPr lang="ar-DZ" sz="2400" b="1" dirty="0" smtClean="0">
              <a:solidFill>
                <a:schemeClr val="tx1"/>
              </a:solidFill>
            </a:endParaRPr>
          </a:p>
          <a:p>
            <a:pPr algn="ctr" rtl="1"/>
            <a:r>
              <a:rPr lang="fr-FR" sz="2400" b="1" dirty="0" smtClean="0">
                <a:solidFill>
                  <a:schemeClr val="tx1"/>
                </a:solidFill>
              </a:rPr>
              <a:t>Enoncé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5734050" y="2445543"/>
            <a:ext cx="4057650" cy="1638300"/>
          </a:xfrm>
          <a:prstGeom prst="roundRect">
            <a:avLst>
              <a:gd name="adj" fmla="val 3759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2400" b="1" dirty="0" smtClean="0">
                <a:solidFill>
                  <a:schemeClr val="tx1"/>
                </a:solidFill>
              </a:rPr>
              <a:t>فعل أمر</a:t>
            </a:r>
          </a:p>
          <a:p>
            <a:pPr algn="ctr" rtl="1"/>
            <a:r>
              <a:rPr lang="fr-FR" sz="2400" b="1" dirty="0" smtClean="0">
                <a:solidFill>
                  <a:schemeClr val="tx1"/>
                </a:solidFill>
              </a:rPr>
              <a:t>Ordre donné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4" name="Plus 3"/>
          <p:cNvSpPr/>
          <p:nvPr/>
        </p:nvSpPr>
        <p:spPr>
          <a:xfrm>
            <a:off x="4636132" y="2936080"/>
            <a:ext cx="742950" cy="657225"/>
          </a:xfrm>
          <a:prstGeom prst="mathPlus">
            <a:avLst>
              <a:gd name="adj1" fmla="val 57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avec flèche 6"/>
          <p:cNvCxnSpPr>
            <a:stCxn id="2" idx="3"/>
            <a:endCxn id="3" idx="0"/>
          </p:cNvCxnSpPr>
          <p:nvPr/>
        </p:nvCxnSpPr>
        <p:spPr>
          <a:xfrm flipH="1">
            <a:off x="2376487" y="1421486"/>
            <a:ext cx="1809427" cy="102405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>
            <a:stCxn id="2" idx="5"/>
            <a:endCxn id="5" idx="0"/>
          </p:cNvCxnSpPr>
          <p:nvPr/>
        </p:nvCxnSpPr>
        <p:spPr>
          <a:xfrm>
            <a:off x="5829300" y="1421486"/>
            <a:ext cx="1933575" cy="102405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à coins arrondis 17"/>
          <p:cNvSpPr/>
          <p:nvPr/>
        </p:nvSpPr>
        <p:spPr>
          <a:xfrm>
            <a:off x="2828924" y="4998243"/>
            <a:ext cx="4057650" cy="1638300"/>
          </a:xfrm>
          <a:prstGeom prst="roundRect">
            <a:avLst>
              <a:gd name="adj" fmla="val 3759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2400" b="1" dirty="0">
                <a:solidFill>
                  <a:schemeClr val="tx1"/>
                </a:solidFill>
              </a:rPr>
              <a:t>ينقل رسالة تحتاج لفك </a:t>
            </a:r>
            <a:r>
              <a:rPr lang="ar-DZ" sz="2400" b="1" dirty="0" smtClean="0">
                <a:solidFill>
                  <a:schemeClr val="tx1"/>
                </a:solidFill>
              </a:rPr>
              <a:t>تشفيرها</a:t>
            </a:r>
          </a:p>
          <a:p>
            <a:pPr algn="ctr" rtl="1"/>
            <a:r>
              <a:rPr lang="fr-FR" sz="2400" b="1" dirty="0" smtClean="0">
                <a:solidFill>
                  <a:schemeClr val="tx1"/>
                </a:solidFill>
              </a:rPr>
              <a:t>véhicule </a:t>
            </a:r>
            <a:r>
              <a:rPr lang="fr-FR" sz="2400" b="1" dirty="0">
                <a:solidFill>
                  <a:schemeClr val="tx1"/>
                </a:solidFill>
              </a:rPr>
              <a:t>un message qu’il s’agit de décoder</a:t>
            </a:r>
          </a:p>
        </p:txBody>
      </p:sp>
      <p:cxnSp>
        <p:nvCxnSpPr>
          <p:cNvPr id="29" name="Connecteur droit avec flèche 28"/>
          <p:cNvCxnSpPr>
            <a:stCxn id="5" idx="2"/>
          </p:cNvCxnSpPr>
          <p:nvPr/>
        </p:nvCxnSpPr>
        <p:spPr>
          <a:xfrm flipH="1">
            <a:off x="5007607" y="4083843"/>
            <a:ext cx="2755268" cy="914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>
            <a:stCxn id="3" idx="2"/>
            <a:endCxn id="18" idx="0"/>
          </p:cNvCxnSpPr>
          <p:nvPr/>
        </p:nvCxnSpPr>
        <p:spPr>
          <a:xfrm>
            <a:off x="2376487" y="4083843"/>
            <a:ext cx="2481262" cy="914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62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4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31424"/>
              </p:ext>
            </p:extLst>
          </p:nvPr>
        </p:nvGraphicFramePr>
        <p:xfrm>
          <a:off x="800100" y="117475"/>
          <a:ext cx="8443781" cy="6736028"/>
        </p:xfrm>
        <a:graphic>
          <a:graphicData uri="http://schemas.openxmlformats.org/drawingml/2006/table">
            <a:tbl>
              <a:tblPr/>
              <a:tblGrid>
                <a:gridCol w="2988602"/>
                <a:gridCol w="3549650"/>
                <a:gridCol w="1905529"/>
              </a:tblGrid>
              <a:tr h="518136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التصنيف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الفعل الأدائي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الرقم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يحلل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Analyser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يبرر/يعلل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Justifier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يثبت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Prouver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3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يصادق على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Valider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يحسب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Calculer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يصنف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Classifier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ينظم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Organiser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يرتب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Arranger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8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يختار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Choisir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9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يقارن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Comparer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10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يفرق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Différencier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11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ينتقي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Sélectionner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12</a:t>
                      </a:r>
                      <a:endParaRPr kumimoji="0" lang="fr-FR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ZoneTexte 6"/>
          <p:cNvSpPr txBox="1">
            <a:spLocks noChangeArrowheads="1"/>
          </p:cNvSpPr>
          <p:nvPr/>
        </p:nvSpPr>
        <p:spPr bwMode="auto">
          <a:xfrm>
            <a:off x="1246849" y="598489"/>
            <a:ext cx="93556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8" name="ZoneTexte 7"/>
          <p:cNvSpPr txBox="1">
            <a:spLocks noChangeArrowheads="1"/>
          </p:cNvSpPr>
          <p:nvPr/>
        </p:nvSpPr>
        <p:spPr bwMode="auto">
          <a:xfrm>
            <a:off x="2691474" y="57467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9" name="ZoneTexte 8"/>
          <p:cNvSpPr txBox="1">
            <a:spLocks noChangeArrowheads="1"/>
          </p:cNvSpPr>
          <p:nvPr/>
        </p:nvSpPr>
        <p:spPr bwMode="auto">
          <a:xfrm>
            <a:off x="1246849" y="115887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10" name="ZoneTexte 9"/>
          <p:cNvSpPr txBox="1">
            <a:spLocks noChangeArrowheads="1"/>
          </p:cNvSpPr>
          <p:nvPr/>
        </p:nvSpPr>
        <p:spPr bwMode="auto">
          <a:xfrm>
            <a:off x="2691474" y="113347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1" name="ZoneTexte 10"/>
          <p:cNvSpPr txBox="1">
            <a:spLocks noChangeArrowheads="1"/>
          </p:cNvSpPr>
          <p:nvPr/>
        </p:nvSpPr>
        <p:spPr bwMode="auto">
          <a:xfrm>
            <a:off x="1246849" y="1717675"/>
            <a:ext cx="93556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12" name="ZoneTexte 11"/>
          <p:cNvSpPr txBox="1">
            <a:spLocks noChangeArrowheads="1"/>
          </p:cNvSpPr>
          <p:nvPr/>
        </p:nvSpPr>
        <p:spPr bwMode="auto">
          <a:xfrm>
            <a:off x="2691474" y="1693863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3" name="ZoneTexte 12"/>
          <p:cNvSpPr txBox="1">
            <a:spLocks noChangeArrowheads="1"/>
          </p:cNvSpPr>
          <p:nvPr/>
        </p:nvSpPr>
        <p:spPr bwMode="auto">
          <a:xfrm>
            <a:off x="1246849" y="2195514"/>
            <a:ext cx="93556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14" name="ZoneTexte 13"/>
          <p:cNvSpPr txBox="1">
            <a:spLocks noChangeArrowheads="1"/>
          </p:cNvSpPr>
          <p:nvPr/>
        </p:nvSpPr>
        <p:spPr bwMode="auto">
          <a:xfrm>
            <a:off x="2691474" y="2171700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5" name="ZoneTexte 14"/>
          <p:cNvSpPr txBox="1">
            <a:spLocks noChangeArrowheads="1"/>
          </p:cNvSpPr>
          <p:nvPr/>
        </p:nvSpPr>
        <p:spPr bwMode="auto">
          <a:xfrm>
            <a:off x="2691474" y="2636838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16" name="ZoneTexte 15"/>
          <p:cNvSpPr txBox="1">
            <a:spLocks noChangeArrowheads="1"/>
          </p:cNvSpPr>
          <p:nvPr/>
        </p:nvSpPr>
        <p:spPr bwMode="auto">
          <a:xfrm>
            <a:off x="1246849" y="2636838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7" name="ZoneTexte 16"/>
          <p:cNvSpPr txBox="1">
            <a:spLocks noChangeArrowheads="1"/>
          </p:cNvSpPr>
          <p:nvPr/>
        </p:nvSpPr>
        <p:spPr bwMode="auto">
          <a:xfrm>
            <a:off x="2691474" y="3221039"/>
            <a:ext cx="93556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 dirty="0">
                <a:latin typeface="Calibri" pitchFamily="34" charset="0"/>
                <a:cs typeface="Calibri" pitchFamily="34" charset="0"/>
              </a:rPr>
              <a:t>①</a:t>
            </a:r>
            <a:endParaRPr lang="fr-FR" sz="3200" dirty="0"/>
          </a:p>
        </p:txBody>
      </p:sp>
      <p:sp>
        <p:nvSpPr>
          <p:cNvPr id="18" name="ZoneTexte 17"/>
          <p:cNvSpPr txBox="1">
            <a:spLocks noChangeArrowheads="1"/>
          </p:cNvSpPr>
          <p:nvPr/>
        </p:nvSpPr>
        <p:spPr bwMode="auto">
          <a:xfrm>
            <a:off x="947606" y="3673477"/>
            <a:ext cx="93556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 dirty="0">
                <a:latin typeface="Calibri" pitchFamily="34" charset="0"/>
                <a:cs typeface="Calibri" pitchFamily="34" charset="0"/>
              </a:rPr>
              <a:t>②</a:t>
            </a:r>
            <a:endParaRPr lang="fr-FR" sz="3200" dirty="0"/>
          </a:p>
        </p:txBody>
      </p:sp>
      <p:sp>
        <p:nvSpPr>
          <p:cNvPr id="19" name="ZoneTexte 18"/>
          <p:cNvSpPr txBox="1">
            <a:spLocks noChangeArrowheads="1"/>
          </p:cNvSpPr>
          <p:nvPr/>
        </p:nvSpPr>
        <p:spPr bwMode="auto">
          <a:xfrm>
            <a:off x="2691474" y="4259264"/>
            <a:ext cx="93556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20" name="ZoneTexte 19"/>
          <p:cNvSpPr txBox="1">
            <a:spLocks noChangeArrowheads="1"/>
          </p:cNvSpPr>
          <p:nvPr/>
        </p:nvSpPr>
        <p:spPr bwMode="auto">
          <a:xfrm>
            <a:off x="1883173" y="4772025"/>
            <a:ext cx="937286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23" name="ZoneTexte 22"/>
          <p:cNvSpPr txBox="1">
            <a:spLocks noChangeArrowheads="1"/>
          </p:cNvSpPr>
          <p:nvPr/>
        </p:nvSpPr>
        <p:spPr bwMode="auto">
          <a:xfrm>
            <a:off x="2691474" y="477202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24" name="ZoneTexte 23"/>
          <p:cNvSpPr txBox="1">
            <a:spLocks noChangeArrowheads="1"/>
          </p:cNvSpPr>
          <p:nvPr/>
        </p:nvSpPr>
        <p:spPr bwMode="auto">
          <a:xfrm>
            <a:off x="1927887" y="526732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25" name="ZoneTexte 24"/>
          <p:cNvSpPr txBox="1">
            <a:spLocks noChangeArrowheads="1"/>
          </p:cNvSpPr>
          <p:nvPr/>
        </p:nvSpPr>
        <p:spPr bwMode="auto">
          <a:xfrm>
            <a:off x="1246849" y="529272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26" name="ZoneTexte 25"/>
          <p:cNvSpPr txBox="1">
            <a:spLocks noChangeArrowheads="1"/>
          </p:cNvSpPr>
          <p:nvPr/>
        </p:nvSpPr>
        <p:spPr bwMode="auto">
          <a:xfrm>
            <a:off x="2691474" y="526732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27" name="ZoneTexte 26"/>
          <p:cNvSpPr txBox="1">
            <a:spLocks noChangeArrowheads="1"/>
          </p:cNvSpPr>
          <p:nvPr/>
        </p:nvSpPr>
        <p:spPr bwMode="auto">
          <a:xfrm>
            <a:off x="2691474" y="585152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28" name="ZoneTexte 27"/>
          <p:cNvSpPr txBox="1">
            <a:spLocks noChangeArrowheads="1"/>
          </p:cNvSpPr>
          <p:nvPr/>
        </p:nvSpPr>
        <p:spPr bwMode="auto">
          <a:xfrm>
            <a:off x="1246849" y="585152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29" name="ZoneTexte 28"/>
          <p:cNvSpPr txBox="1">
            <a:spLocks noChangeArrowheads="1"/>
          </p:cNvSpPr>
          <p:nvPr/>
        </p:nvSpPr>
        <p:spPr bwMode="auto">
          <a:xfrm>
            <a:off x="2691474" y="6273800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30" name="ZoneTexte 29"/>
          <p:cNvSpPr txBox="1">
            <a:spLocks noChangeArrowheads="1"/>
          </p:cNvSpPr>
          <p:nvPr/>
        </p:nvSpPr>
        <p:spPr bwMode="auto">
          <a:xfrm>
            <a:off x="2395670" y="3666332"/>
            <a:ext cx="93556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 dirty="0">
                <a:latin typeface="Calibri" pitchFamily="34" charset="0"/>
                <a:cs typeface="Calibri" pitchFamily="34" charset="0"/>
              </a:rPr>
              <a:t>①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01061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171271"/>
              </p:ext>
            </p:extLst>
          </p:nvPr>
        </p:nvGraphicFramePr>
        <p:xfrm>
          <a:off x="271728" y="141288"/>
          <a:ext cx="9049544" cy="6736028"/>
        </p:xfrm>
        <a:graphic>
          <a:graphicData uri="http://schemas.openxmlformats.org/drawingml/2006/table">
            <a:tbl>
              <a:tblPr/>
              <a:tblGrid>
                <a:gridCol w="2808420"/>
                <a:gridCol w="3931444"/>
                <a:gridCol w="2309680"/>
              </a:tblGrid>
              <a:tr h="518136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التصنيف</a:t>
                      </a:r>
                      <a:endParaRPr kumimoji="0" lang="fr-FR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الفعل الأدائي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الرقم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ينقد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Critiquer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</a:t>
                      </a:r>
                      <a:endParaRPr kumimoji="0" lang="fr-FR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يناقش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Discuter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14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يستنتج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Déduire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15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يعرف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Définir 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16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يصوغ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Formuler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17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يفسر          </a:t>
                      </a:r>
                      <a:r>
                        <a:rPr kumimoji="0" lang="fr-FR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Expliquer</a:t>
                      </a:r>
                      <a:endParaRPr kumimoji="0" lang="fr-FR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18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يعلق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Commenter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19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يشرح            </a:t>
                      </a:r>
                      <a:r>
                        <a:rPr kumimoji="0" lang="fr-FR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Expliciter  </a:t>
                      </a:r>
                      <a:endParaRPr kumimoji="0" lang="fr-FR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20</a:t>
                      </a:r>
                      <a:endParaRPr kumimoji="0" lang="fr-FR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يسمي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Nommer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21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يشير إلى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Indiquer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22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يتعرف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Reconnaitre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23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يعيد / يكرر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Répéter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24</a:t>
                      </a:r>
                      <a:endParaRPr kumimoji="0" lang="fr-FR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ZoneTexte 5"/>
          <p:cNvSpPr txBox="1">
            <a:spLocks noChangeArrowheads="1"/>
          </p:cNvSpPr>
          <p:nvPr/>
        </p:nvSpPr>
        <p:spPr bwMode="auto">
          <a:xfrm>
            <a:off x="345679" y="598489"/>
            <a:ext cx="93556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>
            <a:off x="2221971" y="598489"/>
            <a:ext cx="9372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8" name="ZoneTexte 7"/>
          <p:cNvSpPr txBox="1">
            <a:spLocks noChangeArrowheads="1"/>
          </p:cNvSpPr>
          <p:nvPr/>
        </p:nvSpPr>
        <p:spPr bwMode="auto">
          <a:xfrm>
            <a:off x="2221971" y="1158875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9" name="ZoneTexte 8"/>
          <p:cNvSpPr txBox="1">
            <a:spLocks noChangeArrowheads="1"/>
          </p:cNvSpPr>
          <p:nvPr/>
        </p:nvSpPr>
        <p:spPr bwMode="auto">
          <a:xfrm>
            <a:off x="345679" y="1731963"/>
            <a:ext cx="93556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10" name="ZoneTexte 9"/>
          <p:cNvSpPr txBox="1">
            <a:spLocks noChangeArrowheads="1"/>
          </p:cNvSpPr>
          <p:nvPr/>
        </p:nvSpPr>
        <p:spPr bwMode="auto">
          <a:xfrm>
            <a:off x="2221971" y="1731963"/>
            <a:ext cx="9372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1" name="ZoneTexte 10"/>
          <p:cNvSpPr txBox="1">
            <a:spLocks noChangeArrowheads="1"/>
          </p:cNvSpPr>
          <p:nvPr/>
        </p:nvSpPr>
        <p:spPr bwMode="auto">
          <a:xfrm>
            <a:off x="2221971" y="2205038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12" name="ZoneTexte 11"/>
          <p:cNvSpPr txBox="1">
            <a:spLocks noChangeArrowheads="1"/>
          </p:cNvSpPr>
          <p:nvPr/>
        </p:nvSpPr>
        <p:spPr bwMode="auto">
          <a:xfrm>
            <a:off x="345679" y="2205038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3" name="ZoneTexte 12"/>
          <p:cNvSpPr txBox="1">
            <a:spLocks noChangeArrowheads="1"/>
          </p:cNvSpPr>
          <p:nvPr/>
        </p:nvSpPr>
        <p:spPr bwMode="auto">
          <a:xfrm>
            <a:off x="345679" y="2700338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14" name="ZoneTexte 13"/>
          <p:cNvSpPr txBox="1">
            <a:spLocks noChangeArrowheads="1"/>
          </p:cNvSpPr>
          <p:nvPr/>
        </p:nvSpPr>
        <p:spPr bwMode="auto">
          <a:xfrm>
            <a:off x="2221971" y="2700338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5" name="ZoneTexte 14"/>
          <p:cNvSpPr txBox="1">
            <a:spLocks noChangeArrowheads="1"/>
          </p:cNvSpPr>
          <p:nvPr/>
        </p:nvSpPr>
        <p:spPr bwMode="auto">
          <a:xfrm>
            <a:off x="2221971" y="3284538"/>
            <a:ext cx="9372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 dirty="0" smtClean="0">
                <a:latin typeface="Calibri"/>
                <a:cs typeface="Calibri"/>
              </a:rPr>
              <a:t>②</a:t>
            </a:r>
            <a:endParaRPr lang="fr-FR" sz="3200" dirty="0"/>
          </a:p>
        </p:txBody>
      </p:sp>
      <p:sp>
        <p:nvSpPr>
          <p:cNvPr id="16" name="ZoneTexte 15"/>
          <p:cNvSpPr txBox="1">
            <a:spLocks noChangeArrowheads="1"/>
          </p:cNvSpPr>
          <p:nvPr/>
        </p:nvSpPr>
        <p:spPr bwMode="auto">
          <a:xfrm>
            <a:off x="2221971" y="3779839"/>
            <a:ext cx="9372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 dirty="0">
                <a:latin typeface="Calibri" pitchFamily="34" charset="0"/>
                <a:cs typeface="Calibri" pitchFamily="34" charset="0"/>
              </a:rPr>
              <a:t>②</a:t>
            </a:r>
            <a:endParaRPr lang="fr-FR" sz="3200" dirty="0"/>
          </a:p>
        </p:txBody>
      </p:sp>
      <p:sp>
        <p:nvSpPr>
          <p:cNvPr id="17" name="ZoneTexte 16"/>
          <p:cNvSpPr txBox="1">
            <a:spLocks noChangeArrowheads="1"/>
          </p:cNvSpPr>
          <p:nvPr/>
        </p:nvSpPr>
        <p:spPr bwMode="auto">
          <a:xfrm>
            <a:off x="2221971" y="4292600"/>
            <a:ext cx="9372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8" name="ZoneTexte 17"/>
          <p:cNvSpPr txBox="1">
            <a:spLocks noChangeArrowheads="1"/>
          </p:cNvSpPr>
          <p:nvPr/>
        </p:nvSpPr>
        <p:spPr bwMode="auto">
          <a:xfrm>
            <a:off x="2221971" y="4787900"/>
            <a:ext cx="9372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19" name="ZoneTexte 18"/>
          <p:cNvSpPr txBox="1">
            <a:spLocks noChangeArrowheads="1"/>
          </p:cNvSpPr>
          <p:nvPr/>
        </p:nvSpPr>
        <p:spPr bwMode="auto">
          <a:xfrm>
            <a:off x="2221971" y="5300664"/>
            <a:ext cx="9372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20" name="ZoneTexte 19"/>
          <p:cNvSpPr txBox="1">
            <a:spLocks noChangeArrowheads="1"/>
          </p:cNvSpPr>
          <p:nvPr/>
        </p:nvSpPr>
        <p:spPr bwMode="auto">
          <a:xfrm>
            <a:off x="2221971" y="5805488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21" name="ZoneTexte 20"/>
          <p:cNvSpPr txBox="1">
            <a:spLocks noChangeArrowheads="1"/>
          </p:cNvSpPr>
          <p:nvPr/>
        </p:nvSpPr>
        <p:spPr bwMode="auto">
          <a:xfrm>
            <a:off x="2221971" y="6300788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</p:spTree>
    <p:extLst>
      <p:ext uri="{BB962C8B-B14F-4D97-AF65-F5344CB8AC3E}">
        <p14:creationId xmlns:p14="http://schemas.microsoft.com/office/powerpoint/2010/main" val="164403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271727" y="0"/>
          <a:ext cx="9362546" cy="6736028"/>
        </p:xfrm>
        <a:graphic>
          <a:graphicData uri="http://schemas.openxmlformats.org/drawingml/2006/table">
            <a:tbl>
              <a:tblPr/>
              <a:tblGrid>
                <a:gridCol w="2340637"/>
                <a:gridCol w="5071665"/>
                <a:gridCol w="1950244"/>
              </a:tblGrid>
              <a:tr h="518136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التصنيف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الفعل الأدائي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الرقم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يعين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Désigner        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25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يوضح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   </a:t>
                      </a: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 Clarifier /Illustrer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26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يحدد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Identifier       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27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يفصل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Détailler       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28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يكمل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Compléter     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29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يقدر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Estimer/Considérer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30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يتنبأ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</a:t>
                      </a: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/ يتوقع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Prédire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31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يقترح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Proposer      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32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ينجز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Réaliser         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33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يبني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Construire     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34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يبحث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Rechercher  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35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يستخرج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Relever     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36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ZoneTexte 3"/>
          <p:cNvSpPr txBox="1">
            <a:spLocks noChangeArrowheads="1"/>
          </p:cNvSpPr>
          <p:nvPr/>
        </p:nvSpPr>
        <p:spPr bwMode="auto">
          <a:xfrm>
            <a:off x="1754188" y="549275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5" name="ZoneTexte 4"/>
          <p:cNvSpPr txBox="1">
            <a:spLocks noChangeArrowheads="1"/>
          </p:cNvSpPr>
          <p:nvPr/>
        </p:nvSpPr>
        <p:spPr bwMode="auto">
          <a:xfrm>
            <a:off x="1754188" y="1484314"/>
            <a:ext cx="9372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6" name="ZoneTexte 5"/>
          <p:cNvSpPr txBox="1">
            <a:spLocks noChangeArrowheads="1"/>
          </p:cNvSpPr>
          <p:nvPr/>
        </p:nvSpPr>
        <p:spPr bwMode="auto">
          <a:xfrm>
            <a:off x="1754188" y="1044575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>
            <a:off x="1754188" y="2070100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8" name="ZoneTexte 7"/>
          <p:cNvSpPr txBox="1">
            <a:spLocks noChangeArrowheads="1"/>
          </p:cNvSpPr>
          <p:nvPr/>
        </p:nvSpPr>
        <p:spPr bwMode="auto">
          <a:xfrm>
            <a:off x="194337" y="2555875"/>
            <a:ext cx="93556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9" name="ZoneTexte 8"/>
          <p:cNvSpPr txBox="1">
            <a:spLocks noChangeArrowheads="1"/>
          </p:cNvSpPr>
          <p:nvPr/>
        </p:nvSpPr>
        <p:spPr bwMode="auto">
          <a:xfrm>
            <a:off x="1754188" y="2555875"/>
            <a:ext cx="9372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10" name="ZoneTexte 9"/>
          <p:cNvSpPr txBox="1">
            <a:spLocks noChangeArrowheads="1"/>
          </p:cNvSpPr>
          <p:nvPr/>
        </p:nvSpPr>
        <p:spPr bwMode="auto">
          <a:xfrm>
            <a:off x="1754188" y="3141663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1" name="ZoneTexte 10"/>
          <p:cNvSpPr txBox="1">
            <a:spLocks noChangeArrowheads="1"/>
          </p:cNvSpPr>
          <p:nvPr/>
        </p:nvSpPr>
        <p:spPr bwMode="auto">
          <a:xfrm>
            <a:off x="1754188" y="3644900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2" name="ZoneTexte 11"/>
          <p:cNvSpPr txBox="1">
            <a:spLocks noChangeArrowheads="1"/>
          </p:cNvSpPr>
          <p:nvPr/>
        </p:nvSpPr>
        <p:spPr bwMode="auto">
          <a:xfrm>
            <a:off x="194337" y="414972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13" name="ZoneTexte 12"/>
          <p:cNvSpPr txBox="1">
            <a:spLocks noChangeArrowheads="1"/>
          </p:cNvSpPr>
          <p:nvPr/>
        </p:nvSpPr>
        <p:spPr bwMode="auto">
          <a:xfrm>
            <a:off x="1754188" y="4149725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4" name="ZoneTexte 13"/>
          <p:cNvSpPr txBox="1">
            <a:spLocks noChangeArrowheads="1"/>
          </p:cNvSpPr>
          <p:nvPr/>
        </p:nvSpPr>
        <p:spPr bwMode="auto">
          <a:xfrm>
            <a:off x="194337" y="4652963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15" name="ZoneTexte 14"/>
          <p:cNvSpPr txBox="1">
            <a:spLocks noChangeArrowheads="1"/>
          </p:cNvSpPr>
          <p:nvPr/>
        </p:nvSpPr>
        <p:spPr bwMode="auto">
          <a:xfrm>
            <a:off x="1754188" y="4652963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6" name="ZoneTexte 15"/>
          <p:cNvSpPr txBox="1">
            <a:spLocks noChangeArrowheads="1"/>
          </p:cNvSpPr>
          <p:nvPr/>
        </p:nvSpPr>
        <p:spPr bwMode="auto">
          <a:xfrm>
            <a:off x="1754188" y="5097464"/>
            <a:ext cx="9372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18" name="ZoneTexte 17"/>
          <p:cNvSpPr txBox="1">
            <a:spLocks noChangeArrowheads="1"/>
          </p:cNvSpPr>
          <p:nvPr/>
        </p:nvSpPr>
        <p:spPr bwMode="auto">
          <a:xfrm>
            <a:off x="194337" y="5683250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9" name="ZoneTexte 18"/>
          <p:cNvSpPr txBox="1">
            <a:spLocks noChangeArrowheads="1"/>
          </p:cNvSpPr>
          <p:nvPr/>
        </p:nvSpPr>
        <p:spPr bwMode="auto">
          <a:xfrm>
            <a:off x="1754188" y="5683250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20" name="ZoneTexte 19"/>
          <p:cNvSpPr txBox="1">
            <a:spLocks noChangeArrowheads="1"/>
          </p:cNvSpPr>
          <p:nvPr/>
        </p:nvSpPr>
        <p:spPr bwMode="auto">
          <a:xfrm>
            <a:off x="194337" y="6173789"/>
            <a:ext cx="93556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21" name="ZoneTexte 20"/>
          <p:cNvSpPr txBox="1">
            <a:spLocks noChangeArrowheads="1"/>
          </p:cNvSpPr>
          <p:nvPr/>
        </p:nvSpPr>
        <p:spPr bwMode="auto">
          <a:xfrm>
            <a:off x="975122" y="6156325"/>
            <a:ext cx="93556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22" name="ZoneTexte 21"/>
          <p:cNvSpPr txBox="1">
            <a:spLocks noChangeArrowheads="1"/>
          </p:cNvSpPr>
          <p:nvPr/>
        </p:nvSpPr>
        <p:spPr bwMode="auto">
          <a:xfrm>
            <a:off x="1754188" y="6127750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</p:spTree>
    <p:extLst>
      <p:ext uri="{BB962C8B-B14F-4D97-AF65-F5344CB8AC3E}">
        <p14:creationId xmlns:p14="http://schemas.microsoft.com/office/powerpoint/2010/main" val="245591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428229" y="19050"/>
          <a:ext cx="9206045" cy="6736028"/>
        </p:xfrm>
        <a:graphic>
          <a:graphicData uri="http://schemas.openxmlformats.org/drawingml/2006/table">
            <a:tbl>
              <a:tblPr/>
              <a:tblGrid>
                <a:gridCol w="2497138"/>
                <a:gridCol w="4609042"/>
                <a:gridCol w="2099865"/>
              </a:tblGrid>
              <a:tr h="518136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التصنيف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الفعل الأدائي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الرقم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ينقل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Recopier   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37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يؤشر                  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Cocher</a:t>
                      </a: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38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يسطر تحت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Souligner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39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يحرر/يكتب نصا،فقرة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Rédiger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40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يعيد صياغةٌ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Reformuler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41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ينجز رسما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</a:t>
                      </a: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Schématiser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42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يصف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Décrire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                 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43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يمثل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Représenter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44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يركب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Synthétiser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45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يلخص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Résumer       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46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يكتب بيانات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Légender         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47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يبين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Montrer             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48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ZoneTexte 3"/>
          <p:cNvSpPr txBox="1">
            <a:spLocks noChangeArrowheads="1"/>
          </p:cNvSpPr>
          <p:nvPr/>
        </p:nvSpPr>
        <p:spPr bwMode="auto">
          <a:xfrm>
            <a:off x="2221971" y="476250"/>
            <a:ext cx="9372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5" name="ZoneTexte 4"/>
          <p:cNvSpPr txBox="1">
            <a:spLocks noChangeArrowheads="1"/>
          </p:cNvSpPr>
          <p:nvPr/>
        </p:nvSpPr>
        <p:spPr bwMode="auto">
          <a:xfrm>
            <a:off x="2221971" y="1057275"/>
            <a:ext cx="9372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6" name="ZoneTexte 5"/>
          <p:cNvSpPr txBox="1">
            <a:spLocks noChangeArrowheads="1"/>
          </p:cNvSpPr>
          <p:nvPr/>
        </p:nvSpPr>
        <p:spPr bwMode="auto">
          <a:xfrm>
            <a:off x="2221971" y="1557338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>
            <a:off x="507339" y="2060575"/>
            <a:ext cx="93556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8" name="ZoneTexte 7"/>
          <p:cNvSpPr txBox="1">
            <a:spLocks noChangeArrowheads="1"/>
          </p:cNvSpPr>
          <p:nvPr/>
        </p:nvSpPr>
        <p:spPr bwMode="auto">
          <a:xfrm>
            <a:off x="2072350" y="2646363"/>
            <a:ext cx="937286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9" name="ZoneTexte 8"/>
          <p:cNvSpPr txBox="1">
            <a:spLocks noChangeArrowheads="1"/>
          </p:cNvSpPr>
          <p:nvPr/>
        </p:nvSpPr>
        <p:spPr bwMode="auto">
          <a:xfrm>
            <a:off x="2079229" y="3141663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0" name="ZoneTexte 9"/>
          <p:cNvSpPr txBox="1">
            <a:spLocks noChangeArrowheads="1"/>
          </p:cNvSpPr>
          <p:nvPr/>
        </p:nvSpPr>
        <p:spPr bwMode="auto">
          <a:xfrm>
            <a:off x="2144581" y="3636963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11" name="ZoneTexte 10"/>
          <p:cNvSpPr txBox="1">
            <a:spLocks noChangeArrowheads="1"/>
          </p:cNvSpPr>
          <p:nvPr/>
        </p:nvSpPr>
        <p:spPr bwMode="auto">
          <a:xfrm>
            <a:off x="1950244" y="2060575"/>
            <a:ext cx="93556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12" name="ZoneTexte 11"/>
          <p:cNvSpPr txBox="1">
            <a:spLocks noChangeArrowheads="1"/>
          </p:cNvSpPr>
          <p:nvPr/>
        </p:nvSpPr>
        <p:spPr bwMode="auto">
          <a:xfrm>
            <a:off x="2144581" y="414972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3" name="ZoneTexte 12"/>
          <p:cNvSpPr txBox="1">
            <a:spLocks noChangeArrowheads="1"/>
          </p:cNvSpPr>
          <p:nvPr/>
        </p:nvSpPr>
        <p:spPr bwMode="auto">
          <a:xfrm>
            <a:off x="2221971" y="4652963"/>
            <a:ext cx="937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14" name="ZoneTexte 13"/>
          <p:cNvSpPr txBox="1">
            <a:spLocks noChangeArrowheads="1"/>
          </p:cNvSpPr>
          <p:nvPr/>
        </p:nvSpPr>
        <p:spPr bwMode="auto">
          <a:xfrm>
            <a:off x="2144581" y="5213350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 dirty="0">
                <a:latin typeface="Calibri" pitchFamily="34" charset="0"/>
                <a:cs typeface="Calibri" pitchFamily="34" charset="0"/>
              </a:rPr>
              <a:t>①</a:t>
            </a:r>
            <a:endParaRPr lang="fr-FR" sz="3200" dirty="0"/>
          </a:p>
        </p:txBody>
      </p:sp>
      <p:sp>
        <p:nvSpPr>
          <p:cNvPr id="15" name="ZoneTexte 14"/>
          <p:cNvSpPr txBox="1">
            <a:spLocks noChangeArrowheads="1"/>
          </p:cNvSpPr>
          <p:nvPr/>
        </p:nvSpPr>
        <p:spPr bwMode="auto">
          <a:xfrm>
            <a:off x="2144581" y="572452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16" name="ZoneTexte 15"/>
          <p:cNvSpPr txBox="1">
            <a:spLocks noChangeArrowheads="1"/>
          </p:cNvSpPr>
          <p:nvPr/>
        </p:nvSpPr>
        <p:spPr bwMode="auto">
          <a:xfrm>
            <a:off x="2144581" y="6273800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</p:spTree>
    <p:extLst>
      <p:ext uri="{BB962C8B-B14F-4D97-AF65-F5344CB8AC3E}">
        <p14:creationId xmlns:p14="http://schemas.microsoft.com/office/powerpoint/2010/main" val="250240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350838" y="19050"/>
          <a:ext cx="8893042" cy="6736028"/>
        </p:xfrm>
        <a:graphic>
          <a:graphicData uri="http://schemas.openxmlformats.org/drawingml/2006/table">
            <a:tbl>
              <a:tblPr/>
              <a:tblGrid>
                <a:gridCol w="2184135"/>
                <a:gridCol w="4913445"/>
                <a:gridCol w="1795462"/>
              </a:tblGrid>
              <a:tr h="518136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التصنيف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الفعل الأدائي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الرقم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يبرهن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Démontrer        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49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يعاين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Examiner          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50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يؤول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 Interpréter         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51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يرقم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Enumérer            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52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يغير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Modifier              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53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يبرز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 Distinguer           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54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يوسع   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Développer    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55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يقدم حججا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  Argumenter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56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يحكم 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Juger                   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57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يذكر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Citer, Mentionner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58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يطبق</a:t>
                      </a:r>
                      <a:r>
                        <a:rPr kumimoji="0" lang="fr-FR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 Appliquer                 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59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>
                        <a:alpha val="20000"/>
                      </a:srgbClr>
                    </a:solidFill>
                  </a:tcPr>
                </a:tc>
              </a:tr>
              <a:tr h="5181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9060" marR="99060" marT="45718" marB="45718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يضع في علاقة</a:t>
                      </a:r>
                      <a:r>
                        <a:rPr kumimoji="0" lang="fr-FR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Calibri" pitchFamily="34" charset="0"/>
                        </a:rPr>
                        <a:t>Maitre en relation   </a:t>
                      </a: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DZ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60</a:t>
                      </a:r>
                      <a:endParaRPr kumimoji="0" lang="fr-FR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74295" marR="74295" marT="0" marB="0" horzOverflow="overflow">
                    <a:lnL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ZoneTexte 3"/>
          <p:cNvSpPr txBox="1">
            <a:spLocks noChangeArrowheads="1"/>
          </p:cNvSpPr>
          <p:nvPr/>
        </p:nvSpPr>
        <p:spPr bwMode="auto">
          <a:xfrm>
            <a:off x="1761067" y="479425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 dirty="0">
                <a:latin typeface="Calibri" pitchFamily="34" charset="0"/>
                <a:cs typeface="Calibri" pitchFamily="34" charset="0"/>
              </a:rPr>
              <a:t>①</a:t>
            </a:r>
            <a:endParaRPr lang="fr-FR" sz="3200" dirty="0"/>
          </a:p>
        </p:txBody>
      </p:sp>
      <p:sp>
        <p:nvSpPr>
          <p:cNvPr id="5" name="ZoneTexte 4"/>
          <p:cNvSpPr txBox="1">
            <a:spLocks noChangeArrowheads="1"/>
          </p:cNvSpPr>
          <p:nvPr/>
        </p:nvSpPr>
        <p:spPr bwMode="auto">
          <a:xfrm>
            <a:off x="1761067" y="1063625"/>
            <a:ext cx="93556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6" name="ZoneTexte 5"/>
          <p:cNvSpPr txBox="1">
            <a:spLocks noChangeArrowheads="1"/>
          </p:cNvSpPr>
          <p:nvPr/>
        </p:nvSpPr>
        <p:spPr bwMode="auto">
          <a:xfrm>
            <a:off x="1761067" y="1557338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>
            <a:off x="1761067" y="6269039"/>
            <a:ext cx="93556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8" name="ZoneTexte 7"/>
          <p:cNvSpPr txBox="1">
            <a:spLocks noChangeArrowheads="1"/>
          </p:cNvSpPr>
          <p:nvPr/>
        </p:nvSpPr>
        <p:spPr bwMode="auto">
          <a:xfrm>
            <a:off x="350837" y="6229350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9" name="ZoneTexte 8"/>
          <p:cNvSpPr txBox="1">
            <a:spLocks noChangeArrowheads="1"/>
          </p:cNvSpPr>
          <p:nvPr/>
        </p:nvSpPr>
        <p:spPr bwMode="auto">
          <a:xfrm>
            <a:off x="1761067" y="5684838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10" name="ZoneTexte 9"/>
          <p:cNvSpPr txBox="1">
            <a:spLocks noChangeArrowheads="1"/>
          </p:cNvSpPr>
          <p:nvPr/>
        </p:nvSpPr>
        <p:spPr bwMode="auto">
          <a:xfrm>
            <a:off x="1761067" y="2060575"/>
            <a:ext cx="93556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11" name="ZoneTexte 10"/>
          <p:cNvSpPr txBox="1">
            <a:spLocks noChangeArrowheads="1"/>
          </p:cNvSpPr>
          <p:nvPr/>
        </p:nvSpPr>
        <p:spPr bwMode="auto">
          <a:xfrm>
            <a:off x="1761067" y="2636838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  <p:sp>
        <p:nvSpPr>
          <p:cNvPr id="12" name="ZoneTexte 11"/>
          <p:cNvSpPr txBox="1">
            <a:spLocks noChangeArrowheads="1"/>
          </p:cNvSpPr>
          <p:nvPr/>
        </p:nvSpPr>
        <p:spPr bwMode="auto">
          <a:xfrm>
            <a:off x="1761067" y="3141663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 dirty="0">
                <a:latin typeface="Calibri" pitchFamily="34" charset="0"/>
                <a:cs typeface="Calibri" pitchFamily="34" charset="0"/>
              </a:rPr>
              <a:t>②</a:t>
            </a:r>
            <a:endParaRPr lang="fr-FR" sz="3200" dirty="0"/>
          </a:p>
        </p:txBody>
      </p:sp>
      <p:sp>
        <p:nvSpPr>
          <p:cNvPr id="13" name="ZoneTexte 12"/>
          <p:cNvSpPr txBox="1">
            <a:spLocks noChangeArrowheads="1"/>
          </p:cNvSpPr>
          <p:nvPr/>
        </p:nvSpPr>
        <p:spPr bwMode="auto">
          <a:xfrm>
            <a:off x="350837" y="1063625"/>
            <a:ext cx="93556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4" name="ZoneTexte 13"/>
          <p:cNvSpPr txBox="1">
            <a:spLocks noChangeArrowheads="1"/>
          </p:cNvSpPr>
          <p:nvPr/>
        </p:nvSpPr>
        <p:spPr bwMode="auto">
          <a:xfrm>
            <a:off x="1761067" y="3644900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③</a:t>
            </a:r>
            <a:endParaRPr lang="fr-FR" sz="3200"/>
          </a:p>
        </p:txBody>
      </p:sp>
      <p:sp>
        <p:nvSpPr>
          <p:cNvPr id="15" name="ZoneTexte 14"/>
          <p:cNvSpPr txBox="1">
            <a:spLocks noChangeArrowheads="1"/>
          </p:cNvSpPr>
          <p:nvPr/>
        </p:nvSpPr>
        <p:spPr bwMode="auto">
          <a:xfrm>
            <a:off x="350837" y="4140200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 dirty="0">
                <a:latin typeface="Calibri" pitchFamily="34" charset="0"/>
                <a:cs typeface="Calibri" pitchFamily="34" charset="0"/>
              </a:rPr>
              <a:t>③</a:t>
            </a:r>
            <a:endParaRPr lang="fr-FR" sz="3200" dirty="0"/>
          </a:p>
        </p:txBody>
      </p:sp>
      <p:sp>
        <p:nvSpPr>
          <p:cNvPr id="16" name="ZoneTexte 15"/>
          <p:cNvSpPr txBox="1">
            <a:spLocks noChangeArrowheads="1"/>
          </p:cNvSpPr>
          <p:nvPr/>
        </p:nvSpPr>
        <p:spPr bwMode="auto">
          <a:xfrm>
            <a:off x="1761067" y="4140200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8" name="ZoneTexte 17"/>
          <p:cNvSpPr txBox="1">
            <a:spLocks noChangeArrowheads="1"/>
          </p:cNvSpPr>
          <p:nvPr/>
        </p:nvSpPr>
        <p:spPr bwMode="auto">
          <a:xfrm>
            <a:off x="1761067" y="4652963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②</a:t>
            </a:r>
            <a:endParaRPr lang="fr-FR" sz="3200"/>
          </a:p>
        </p:txBody>
      </p:sp>
      <p:sp>
        <p:nvSpPr>
          <p:cNvPr id="19" name="ZoneTexte 18"/>
          <p:cNvSpPr txBox="1">
            <a:spLocks noChangeArrowheads="1"/>
          </p:cNvSpPr>
          <p:nvPr/>
        </p:nvSpPr>
        <p:spPr bwMode="auto">
          <a:xfrm>
            <a:off x="1761067" y="5157788"/>
            <a:ext cx="93556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200">
                <a:latin typeface="Calibri" pitchFamily="34" charset="0"/>
                <a:cs typeface="Calibri" pitchFamily="34" charset="0"/>
              </a:rPr>
              <a:t>①</a:t>
            </a:r>
            <a:endParaRPr lang="fr-FR" sz="3200"/>
          </a:p>
        </p:txBody>
      </p:sp>
    </p:spTree>
    <p:extLst>
      <p:ext uri="{BB962C8B-B14F-4D97-AF65-F5344CB8AC3E}">
        <p14:creationId xmlns:p14="http://schemas.microsoft.com/office/powerpoint/2010/main" val="152294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gner un rectangle avec un coin du même côté 2"/>
          <p:cNvSpPr/>
          <p:nvPr/>
        </p:nvSpPr>
        <p:spPr>
          <a:xfrm>
            <a:off x="705519" y="5085184"/>
            <a:ext cx="8658962" cy="1584176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FF9900"/>
          </a:solidFill>
          <a:ln>
            <a:solidFill>
              <a:srgbClr val="FF99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>
              <a:defRPr/>
            </a:pPr>
            <a:r>
              <a:rPr lang="ar-DZ" sz="2800" b="1" dirty="0" smtClean="0">
                <a:solidFill>
                  <a:schemeClr val="tx1"/>
                </a:solidFill>
              </a:rPr>
              <a:t>يطبق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يختار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يحسب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يرتب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يغير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ينقل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يتعرف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 يعاين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ينتقي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يصنف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يقارن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يصف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يفرق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يحدد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يشير </a:t>
            </a:r>
            <a:r>
              <a:rPr lang="ar-DZ" sz="2800" b="1" dirty="0">
                <a:solidFill>
                  <a:schemeClr val="tx1"/>
                </a:solidFill>
              </a:rPr>
              <a:t>ـ  </a:t>
            </a:r>
            <a:r>
              <a:rPr lang="ar-DZ" sz="2800" b="1" dirty="0" smtClean="0">
                <a:solidFill>
                  <a:schemeClr val="tx1"/>
                </a:solidFill>
              </a:rPr>
              <a:t>يسم </a:t>
            </a:r>
            <a:r>
              <a:rPr lang="ar-DZ" sz="2800" b="1" dirty="0">
                <a:solidFill>
                  <a:schemeClr val="tx1"/>
                </a:solidFill>
              </a:rPr>
              <a:t>ـ  </a:t>
            </a:r>
            <a:r>
              <a:rPr lang="ar-DZ" sz="2800" b="1" dirty="0" smtClean="0">
                <a:solidFill>
                  <a:schemeClr val="tx1"/>
                </a:solidFill>
              </a:rPr>
              <a:t>يذكر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يعين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يسطر </a:t>
            </a:r>
            <a:r>
              <a:rPr lang="ar-DZ" sz="2800" b="1" dirty="0">
                <a:solidFill>
                  <a:schemeClr val="tx1"/>
                </a:solidFill>
              </a:rPr>
              <a:t>ـ </a:t>
            </a:r>
            <a:r>
              <a:rPr lang="ar-DZ" sz="2800" b="1" dirty="0" smtClean="0">
                <a:solidFill>
                  <a:schemeClr val="tx1"/>
                </a:solidFill>
              </a:rPr>
              <a:t>يرقم ـ يعيد الصياغة.</a:t>
            </a:r>
            <a:endParaRPr lang="ar-DZ" sz="2800" b="1" dirty="0">
              <a:solidFill>
                <a:schemeClr val="tx1"/>
              </a:solidFill>
            </a:endParaRPr>
          </a:p>
        </p:txBody>
      </p:sp>
      <p:sp>
        <p:nvSpPr>
          <p:cNvPr id="4" name="Rogner un rectangle avec un coin du même côté 3"/>
          <p:cNvSpPr/>
          <p:nvPr/>
        </p:nvSpPr>
        <p:spPr>
          <a:xfrm>
            <a:off x="1850846" y="3310508"/>
            <a:ext cx="6456527" cy="1692188"/>
          </a:xfrm>
          <a:prstGeom prst="snip2SameRect">
            <a:avLst>
              <a:gd name="adj1" fmla="val 48824"/>
              <a:gd name="adj2" fmla="val 0"/>
            </a:avLst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252000" algn="ctr">
              <a:defRPr/>
            </a:pPr>
            <a:r>
              <a:rPr lang="ar-DZ" sz="2800" dirty="0" smtClean="0">
                <a:solidFill>
                  <a:schemeClr val="tx1"/>
                </a:solidFill>
              </a:rPr>
              <a:t>يحكم </a:t>
            </a:r>
            <a:r>
              <a:rPr lang="ar-DZ" sz="2800" dirty="0">
                <a:solidFill>
                  <a:schemeClr val="tx1"/>
                </a:solidFill>
              </a:rPr>
              <a:t>ـ </a:t>
            </a:r>
            <a:r>
              <a:rPr lang="ar-DZ" sz="2800" dirty="0" smtClean="0">
                <a:solidFill>
                  <a:schemeClr val="tx1"/>
                </a:solidFill>
              </a:rPr>
              <a:t>يناقش </a:t>
            </a:r>
            <a:r>
              <a:rPr lang="ar-DZ" sz="2800" dirty="0">
                <a:solidFill>
                  <a:schemeClr val="tx1"/>
                </a:solidFill>
              </a:rPr>
              <a:t>ـ </a:t>
            </a:r>
            <a:r>
              <a:rPr lang="ar-DZ" sz="2800" dirty="0" smtClean="0">
                <a:solidFill>
                  <a:schemeClr val="tx1"/>
                </a:solidFill>
              </a:rPr>
              <a:t>يبررـ يقدرـ يعرف ـ ينقد </a:t>
            </a:r>
            <a:r>
              <a:rPr lang="ar-DZ" sz="2800" dirty="0">
                <a:solidFill>
                  <a:schemeClr val="tx1"/>
                </a:solidFill>
              </a:rPr>
              <a:t>ـ </a:t>
            </a:r>
            <a:r>
              <a:rPr lang="ar-DZ" sz="2800" dirty="0" smtClean="0">
                <a:solidFill>
                  <a:schemeClr val="tx1"/>
                </a:solidFill>
              </a:rPr>
              <a:t>يقدم </a:t>
            </a:r>
            <a:r>
              <a:rPr lang="ar-DZ" sz="2800" dirty="0" err="1" smtClean="0">
                <a:solidFill>
                  <a:schemeClr val="tx1"/>
                </a:solidFill>
              </a:rPr>
              <a:t>يحاجج</a:t>
            </a:r>
            <a:r>
              <a:rPr lang="ar-DZ" sz="2800" dirty="0" smtClean="0">
                <a:solidFill>
                  <a:schemeClr val="tx1"/>
                </a:solidFill>
              </a:rPr>
              <a:t> ـ يقارن </a:t>
            </a:r>
            <a:r>
              <a:rPr lang="ar-DZ" sz="2800" dirty="0">
                <a:solidFill>
                  <a:schemeClr val="tx1"/>
                </a:solidFill>
              </a:rPr>
              <a:t>ـ </a:t>
            </a:r>
            <a:r>
              <a:rPr lang="ar-DZ" sz="2800" dirty="0" smtClean="0">
                <a:solidFill>
                  <a:schemeClr val="tx1"/>
                </a:solidFill>
              </a:rPr>
              <a:t>يستنتج </a:t>
            </a:r>
            <a:r>
              <a:rPr lang="ar-DZ" sz="2800" dirty="0">
                <a:solidFill>
                  <a:schemeClr val="tx1"/>
                </a:solidFill>
              </a:rPr>
              <a:t>ـ </a:t>
            </a:r>
            <a:r>
              <a:rPr lang="ar-DZ" sz="2800" dirty="0" smtClean="0">
                <a:solidFill>
                  <a:schemeClr val="tx1"/>
                </a:solidFill>
              </a:rPr>
              <a:t>يثبت </a:t>
            </a:r>
            <a:r>
              <a:rPr lang="ar-DZ" sz="2800" dirty="0">
                <a:solidFill>
                  <a:schemeClr val="tx1"/>
                </a:solidFill>
              </a:rPr>
              <a:t>ـ </a:t>
            </a:r>
            <a:r>
              <a:rPr lang="ar-DZ" sz="2800" dirty="0" smtClean="0">
                <a:solidFill>
                  <a:schemeClr val="tx1"/>
                </a:solidFill>
              </a:rPr>
              <a:t>يحلل </a:t>
            </a:r>
            <a:r>
              <a:rPr lang="ar-DZ" sz="2800" dirty="0">
                <a:solidFill>
                  <a:schemeClr val="tx1"/>
                </a:solidFill>
              </a:rPr>
              <a:t>ـ </a:t>
            </a:r>
            <a:r>
              <a:rPr lang="ar-DZ" sz="2800" dirty="0" smtClean="0">
                <a:solidFill>
                  <a:schemeClr val="tx1"/>
                </a:solidFill>
              </a:rPr>
              <a:t>يحسب </a:t>
            </a:r>
            <a:r>
              <a:rPr lang="ar-DZ" sz="2800" dirty="0">
                <a:solidFill>
                  <a:schemeClr val="tx1"/>
                </a:solidFill>
              </a:rPr>
              <a:t>ـ </a:t>
            </a:r>
            <a:r>
              <a:rPr lang="ar-DZ" sz="2800" dirty="0" smtClean="0">
                <a:solidFill>
                  <a:schemeClr val="tx1"/>
                </a:solidFill>
              </a:rPr>
              <a:t>يختارـ يقترح</a:t>
            </a:r>
            <a:r>
              <a:rPr lang="ar-DZ" sz="2800" dirty="0">
                <a:solidFill>
                  <a:schemeClr val="tx1"/>
                </a:solidFill>
              </a:rPr>
              <a:t>. </a:t>
            </a:r>
            <a:r>
              <a:rPr lang="ar-DZ" sz="2800" b="1" dirty="0">
                <a:solidFill>
                  <a:prstClr val="black"/>
                </a:solidFill>
              </a:rPr>
              <a:t>يشرح ـ</a:t>
            </a:r>
            <a:r>
              <a:rPr lang="ar-DZ" sz="2800" dirty="0" smtClean="0">
                <a:solidFill>
                  <a:schemeClr val="tx1"/>
                </a:solidFill>
              </a:rPr>
              <a:t> 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5" name="Triangle isocèle 4"/>
          <p:cNvSpPr/>
          <p:nvPr/>
        </p:nvSpPr>
        <p:spPr>
          <a:xfrm>
            <a:off x="2738849" y="55628"/>
            <a:ext cx="4680520" cy="3254880"/>
          </a:xfrm>
          <a:prstGeom prst="triangle">
            <a:avLst>
              <a:gd name="adj" fmla="val 49574"/>
            </a:avLst>
          </a:prstGeom>
          <a:solidFill>
            <a:srgbClr val="30E41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>
              <a:defRPr/>
            </a:pPr>
            <a:r>
              <a:rPr lang="ar-DZ" sz="2400" b="1" dirty="0" smtClean="0">
                <a:solidFill>
                  <a:schemeClr val="tx1"/>
                </a:solidFill>
              </a:rPr>
              <a:t>يضع </a:t>
            </a:r>
            <a:r>
              <a:rPr lang="ar-DZ" sz="2400" b="1" dirty="0">
                <a:solidFill>
                  <a:schemeClr val="tx1"/>
                </a:solidFill>
              </a:rPr>
              <a:t>مخطط ـ </a:t>
            </a:r>
            <a:r>
              <a:rPr lang="ar-DZ" sz="2400" b="1" dirty="0" smtClean="0">
                <a:solidFill>
                  <a:schemeClr val="tx1"/>
                </a:solidFill>
              </a:rPr>
              <a:t>يحررـ  يركب </a:t>
            </a:r>
            <a:r>
              <a:rPr lang="ar-DZ" sz="2400" b="1" dirty="0">
                <a:solidFill>
                  <a:schemeClr val="tx1"/>
                </a:solidFill>
              </a:rPr>
              <a:t>ـ </a:t>
            </a:r>
            <a:r>
              <a:rPr lang="ar-DZ" sz="2400" b="1" dirty="0" smtClean="0">
                <a:solidFill>
                  <a:schemeClr val="tx1"/>
                </a:solidFill>
              </a:rPr>
              <a:t>يصمم </a:t>
            </a:r>
            <a:r>
              <a:rPr lang="ar-DZ" sz="2400" b="1" dirty="0">
                <a:solidFill>
                  <a:schemeClr val="tx1"/>
                </a:solidFill>
              </a:rPr>
              <a:t>ـ </a:t>
            </a:r>
            <a:r>
              <a:rPr lang="ar-DZ" sz="2400" b="1" dirty="0" smtClean="0">
                <a:solidFill>
                  <a:schemeClr val="tx1"/>
                </a:solidFill>
              </a:rPr>
              <a:t>يبني </a:t>
            </a:r>
            <a:r>
              <a:rPr lang="ar-DZ" sz="2400" b="1" dirty="0">
                <a:solidFill>
                  <a:schemeClr val="tx1"/>
                </a:solidFill>
              </a:rPr>
              <a:t>ـ </a:t>
            </a:r>
            <a:r>
              <a:rPr lang="ar-DZ" sz="2400" b="1" dirty="0" smtClean="0">
                <a:solidFill>
                  <a:schemeClr val="tx1"/>
                </a:solidFill>
              </a:rPr>
              <a:t>ينجز </a:t>
            </a:r>
            <a:r>
              <a:rPr lang="ar-DZ" sz="2400" b="1" dirty="0">
                <a:solidFill>
                  <a:schemeClr val="tx1"/>
                </a:solidFill>
              </a:rPr>
              <a:t>رسم </a:t>
            </a:r>
            <a:r>
              <a:rPr lang="ar-DZ" sz="2400" b="1" dirty="0" smtClean="0">
                <a:solidFill>
                  <a:schemeClr val="tx1"/>
                </a:solidFill>
              </a:rPr>
              <a:t>تحصيلي.</a:t>
            </a:r>
            <a:r>
              <a:rPr lang="ar-DZ" sz="2800" b="1" dirty="0">
                <a:solidFill>
                  <a:prstClr val="black"/>
                </a:solidFill>
              </a:rPr>
              <a:t> يلخص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0" y="2852739"/>
            <a:ext cx="1642402" cy="1519237"/>
          </a:xfrm>
          <a:prstGeom prst="wedgeRoundRectCallout">
            <a:avLst>
              <a:gd name="adj1" fmla="val 40798"/>
              <a:gd name="adj2" fmla="val 111281"/>
              <a:gd name="adj3" fmla="val 16667"/>
            </a:avLst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>
              <a:defRPr/>
            </a:pPr>
            <a:r>
              <a:rPr lang="ar-DZ" sz="2000" b="1" dirty="0">
                <a:solidFill>
                  <a:schemeClr val="tx1"/>
                </a:solidFill>
              </a:rPr>
              <a:t>التحقق من الموارد </a:t>
            </a:r>
          </a:p>
          <a:p>
            <a:pPr algn="ctr" rtl="1">
              <a:defRPr/>
            </a:pPr>
            <a:r>
              <a:rPr lang="ar-DZ" sz="2000" b="1" dirty="0">
                <a:solidFill>
                  <a:schemeClr val="tx1"/>
                </a:solidFill>
              </a:rPr>
              <a:t> المعرفية </a:t>
            </a:r>
            <a:r>
              <a:rPr lang="ar-DZ" sz="2000" b="1" dirty="0">
                <a:solidFill>
                  <a:srgbClr val="FF0000"/>
                </a:solidFill>
              </a:rPr>
              <a:t>المستوى </a:t>
            </a:r>
            <a:r>
              <a:rPr lang="ar-DZ" sz="2000" b="1" dirty="0">
                <a:solidFill>
                  <a:srgbClr val="FF0000"/>
                </a:solidFill>
                <a:latin typeface="Calibri"/>
              </a:rPr>
              <a:t>①</a:t>
            </a:r>
            <a:endParaRPr lang="fr-FR" sz="2000" b="1" dirty="0">
              <a:solidFill>
                <a:srgbClr val="FF0000"/>
              </a:solidFill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507340" y="1125538"/>
            <a:ext cx="1640681" cy="1519237"/>
          </a:xfrm>
          <a:prstGeom prst="wedgeRoundRectCallout">
            <a:avLst>
              <a:gd name="adj1" fmla="val 73484"/>
              <a:gd name="adj2" fmla="val 123816"/>
              <a:gd name="adj3" fmla="val 16667"/>
            </a:avLst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>
              <a:defRPr/>
            </a:pPr>
            <a:r>
              <a:rPr lang="ar-DZ" sz="2000" b="1" dirty="0">
                <a:solidFill>
                  <a:schemeClr val="tx1"/>
                </a:solidFill>
              </a:rPr>
              <a:t>استعمال الموارد </a:t>
            </a:r>
          </a:p>
          <a:p>
            <a:pPr algn="ctr" rtl="1">
              <a:defRPr/>
            </a:pPr>
            <a:r>
              <a:rPr lang="ar-DZ" sz="2000" b="1" dirty="0">
                <a:solidFill>
                  <a:schemeClr val="tx1"/>
                </a:solidFill>
              </a:rPr>
              <a:t> المعرفية </a:t>
            </a:r>
            <a:r>
              <a:rPr lang="ar-DZ" sz="2000" b="1" dirty="0">
                <a:solidFill>
                  <a:srgbClr val="FF0000"/>
                </a:solidFill>
              </a:rPr>
              <a:t>المستوى </a:t>
            </a:r>
            <a:r>
              <a:rPr lang="ar-DZ" sz="2000" b="1" dirty="0">
                <a:solidFill>
                  <a:srgbClr val="FF0000"/>
                </a:solidFill>
                <a:latin typeface="Calibri"/>
              </a:rPr>
              <a:t>②</a:t>
            </a:r>
            <a:endParaRPr lang="fr-FR" sz="2000" b="1" dirty="0">
              <a:solidFill>
                <a:srgbClr val="FF0000"/>
              </a:solidFill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2221972" y="12700"/>
            <a:ext cx="1640681" cy="1519238"/>
          </a:xfrm>
          <a:prstGeom prst="wedgeRoundRectCallout">
            <a:avLst>
              <a:gd name="adj1" fmla="val 40798"/>
              <a:gd name="adj2" fmla="val 111281"/>
              <a:gd name="adj3" fmla="val 16667"/>
            </a:avLst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>
              <a:defRPr/>
            </a:pPr>
            <a:r>
              <a:rPr lang="ar-DZ" sz="2000" b="1" dirty="0">
                <a:solidFill>
                  <a:schemeClr val="tx1"/>
                </a:solidFill>
              </a:rPr>
              <a:t>التركيب</a:t>
            </a:r>
          </a:p>
          <a:p>
            <a:pPr algn="ctr" rtl="1">
              <a:defRPr/>
            </a:pPr>
            <a:r>
              <a:rPr lang="ar-DZ" sz="2000" b="1" dirty="0">
                <a:solidFill>
                  <a:srgbClr val="FF0000"/>
                </a:solidFill>
              </a:rPr>
              <a:t>المستوى </a:t>
            </a:r>
            <a:r>
              <a:rPr lang="ar-DZ" sz="2000" b="1" dirty="0">
                <a:solidFill>
                  <a:srgbClr val="FF0000"/>
                </a:solidFill>
                <a:latin typeface="Calibri"/>
              </a:rPr>
              <a:t>③</a:t>
            </a:r>
            <a:endParaRPr lang="fr-FR" sz="2000" b="1" dirty="0">
              <a:solidFill>
                <a:srgbClr val="FF0000"/>
              </a:solidFill>
            </a:endParaRPr>
          </a:p>
        </p:txBody>
      </p:sp>
      <p:grpSp>
        <p:nvGrpSpPr>
          <p:cNvPr id="29710" name="Groupe 12"/>
          <p:cNvGrpSpPr>
            <a:grpSpLocks/>
          </p:cNvGrpSpPr>
          <p:nvPr/>
        </p:nvGrpSpPr>
        <p:grpSpPr bwMode="auto">
          <a:xfrm>
            <a:off x="7486253" y="750889"/>
            <a:ext cx="1878013" cy="1893887"/>
            <a:chOff x="6910672" y="751350"/>
            <a:chExt cx="1515344" cy="1782874"/>
          </a:xfrm>
        </p:grpSpPr>
        <p:sp>
          <p:nvSpPr>
            <p:cNvPr id="11" name="Rectangle à coins arrondis 10"/>
            <p:cNvSpPr/>
            <p:nvPr/>
          </p:nvSpPr>
          <p:spPr>
            <a:xfrm>
              <a:off x="6910672" y="751350"/>
              <a:ext cx="1515344" cy="1519851"/>
            </a:xfrm>
            <a:prstGeom prst="wedgeRoundRectCallout">
              <a:avLst>
                <a:gd name="adj1" fmla="val -113831"/>
                <a:gd name="adj2" fmla="val 76182"/>
                <a:gd name="adj3" fmla="val 16667"/>
              </a:avLst>
            </a:prstGeom>
            <a:solidFill>
              <a:srgbClr val="66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1">
                <a:defRPr/>
              </a:pPr>
              <a:r>
                <a:rPr lang="ar-DZ" sz="2400" b="1" dirty="0">
                  <a:solidFill>
                    <a:srgbClr val="FF0000"/>
                  </a:solidFill>
                </a:rPr>
                <a:t>تعليمات انجاز</a:t>
              </a:r>
              <a:endParaRPr lang="fr-FR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Rectangle à coins arrondis 11"/>
            <p:cNvSpPr/>
            <p:nvPr/>
          </p:nvSpPr>
          <p:spPr>
            <a:xfrm>
              <a:off x="6910672" y="1775045"/>
              <a:ext cx="1515344" cy="759179"/>
            </a:xfrm>
            <a:prstGeom prst="wedgeRoundRectCallout">
              <a:avLst>
                <a:gd name="adj1" fmla="val -58516"/>
                <a:gd name="adj2" fmla="val 189001"/>
                <a:gd name="adj3" fmla="val 16667"/>
              </a:avLst>
            </a:prstGeom>
            <a:solidFill>
              <a:srgbClr val="66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1">
                <a:defRPr/>
              </a:pPr>
              <a:r>
                <a:rPr lang="ar-DZ" sz="2400" b="1" dirty="0">
                  <a:solidFill>
                    <a:srgbClr val="FF0000"/>
                  </a:solidFill>
                </a:rPr>
                <a:t>مهمة مركبة</a:t>
              </a:r>
              <a:endParaRPr lang="fr-FR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769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4800" y="573618"/>
            <a:ext cx="9124949" cy="1681928"/>
          </a:xfrm>
        </p:spPr>
        <p:txBody>
          <a:bodyPr/>
          <a:lstStyle/>
          <a:p>
            <a:pPr lvl="0" algn="ctr" defTabSz="914400">
              <a:spcBef>
                <a:spcPts val="0"/>
              </a:spcBef>
            </a:pPr>
            <a:r>
              <a:rPr lang="fr-FR" sz="4000" b="1" dirty="0" smtClean="0">
                <a:solidFill>
                  <a:schemeClr val="bg1"/>
                </a:solidFill>
                <a:latin typeface="Times New Roman"/>
                <a:ea typeface="+mn-ea"/>
                <a:cs typeface="+mn-cs"/>
              </a:rPr>
              <a:t>l’analyse de </a:t>
            </a:r>
            <a:r>
              <a:rPr lang="fr-FR" sz="4000" b="1" dirty="0">
                <a:solidFill>
                  <a:schemeClr val="bg1"/>
                </a:solidFill>
                <a:latin typeface="Times New Roman"/>
                <a:ea typeface="+mn-ea"/>
                <a:cs typeface="+mn-cs"/>
              </a:rPr>
              <a:t>la </a:t>
            </a:r>
            <a:r>
              <a:rPr lang="fr-FR" sz="4000" b="1" dirty="0" smtClean="0">
                <a:solidFill>
                  <a:schemeClr val="bg1"/>
                </a:solidFill>
                <a:latin typeface="Times New Roman"/>
                <a:ea typeface="+mn-ea"/>
                <a:cs typeface="+mn-cs"/>
              </a:rPr>
              <a:t>consigne</a:t>
            </a:r>
            <a:r>
              <a:rPr lang="ar-DZ" sz="4000" b="1" dirty="0" smtClean="0">
                <a:solidFill>
                  <a:schemeClr val="bg1"/>
                </a:solidFill>
                <a:latin typeface="Times New Roman"/>
                <a:ea typeface="+mn-ea"/>
                <a:cs typeface="+mn-cs"/>
              </a:rPr>
              <a:t/>
            </a:r>
            <a:br>
              <a:rPr lang="ar-DZ" sz="4000" b="1" dirty="0" smtClean="0">
                <a:solidFill>
                  <a:schemeClr val="bg1"/>
                </a:solidFill>
                <a:latin typeface="Times New Roman"/>
                <a:ea typeface="+mn-ea"/>
                <a:cs typeface="+mn-cs"/>
              </a:rPr>
            </a:br>
            <a:r>
              <a:rPr lang="ar-DZ" sz="4000" b="1" dirty="0" smtClean="0">
                <a:solidFill>
                  <a:schemeClr val="bg1"/>
                </a:solidFill>
                <a:latin typeface="Times New Roman"/>
                <a:ea typeface="+mn-ea"/>
                <a:cs typeface="+mn-cs"/>
              </a:rPr>
              <a:t>تحليل التعليمة</a:t>
            </a:r>
            <a:endParaRPr lang="fr-FR" sz="48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6250" y="2688403"/>
            <a:ext cx="8915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3600" dirty="0" smtClean="0"/>
              <a:t>يتطلب تمثيل المهمة:</a:t>
            </a:r>
            <a:endParaRPr lang="ar-DZ" sz="3600" dirty="0"/>
          </a:p>
          <a:p>
            <a:pPr algn="r" rtl="1"/>
            <a:r>
              <a:rPr lang="ar-DZ" sz="3600" dirty="0" smtClean="0"/>
              <a:t>ماذا يفعل</a:t>
            </a:r>
            <a:r>
              <a:rPr lang="ar-DZ" sz="3600" dirty="0"/>
              <a:t>؟ </a:t>
            </a:r>
            <a:r>
              <a:rPr lang="ar-DZ" sz="3600" dirty="0" smtClean="0"/>
              <a:t>لماذا يفعل؟ </a:t>
            </a:r>
            <a:r>
              <a:rPr lang="ar-DZ" sz="3600" dirty="0"/>
              <a:t>كيف </a:t>
            </a:r>
            <a:r>
              <a:rPr lang="ar-DZ" sz="3600" dirty="0" smtClean="0"/>
              <a:t>يفعل </a:t>
            </a:r>
            <a:r>
              <a:rPr lang="ar-DZ" sz="3600" dirty="0"/>
              <a:t>، </a:t>
            </a:r>
            <a:r>
              <a:rPr lang="ar-DZ" sz="3600" dirty="0" smtClean="0"/>
              <a:t>بماذا يفعل؟</a:t>
            </a:r>
          </a:p>
          <a:p>
            <a:pPr algn="r" rtl="1"/>
            <a:r>
              <a:rPr lang="ar-DZ" sz="3600" dirty="0" smtClean="0"/>
              <a:t> </a:t>
            </a:r>
            <a:r>
              <a:rPr lang="ar-DZ" sz="3600" dirty="0"/>
              <a:t>فهمنا </a:t>
            </a:r>
            <a:r>
              <a:rPr lang="ar-DZ" sz="3600" dirty="0" smtClean="0"/>
              <a:t>للتعليمة </a:t>
            </a:r>
            <a:r>
              <a:rPr lang="ar-DZ" sz="3600" dirty="0"/>
              <a:t>يقودنا إلى الدخول إلى </a:t>
            </a:r>
            <a:r>
              <a:rPr lang="ar-DZ" sz="3600" b="1" dirty="0"/>
              <a:t>ما </a:t>
            </a:r>
            <a:r>
              <a:rPr lang="ar-DZ" sz="3600" b="1" dirty="0" smtClean="0"/>
              <a:t>فوق </a:t>
            </a:r>
            <a:r>
              <a:rPr lang="ar-DZ" sz="3600" b="1" dirty="0"/>
              <a:t>المعرفة </a:t>
            </a:r>
            <a:r>
              <a:rPr lang="fr-FR" sz="3600" b="1" dirty="0" smtClean="0">
                <a:solidFill>
                  <a:prstClr val="black"/>
                </a:solidFill>
                <a:latin typeface="Times New Roman"/>
              </a:rPr>
              <a:t>métacognition</a:t>
            </a:r>
            <a:r>
              <a:rPr lang="ar-DZ" sz="3600" b="1" dirty="0" smtClean="0">
                <a:solidFill>
                  <a:prstClr val="black"/>
                </a:solidFill>
                <a:latin typeface="Times New Roman"/>
              </a:rPr>
              <a:t> </a:t>
            </a:r>
            <a:r>
              <a:rPr lang="fr-FR" sz="3600" b="1" dirty="0" smtClean="0">
                <a:solidFill>
                  <a:prstClr val="black"/>
                </a:solidFill>
                <a:latin typeface="Times New Roman"/>
              </a:rPr>
              <a:t>la </a:t>
            </a:r>
            <a:r>
              <a:rPr lang="ar-DZ" sz="3600" b="1" dirty="0" smtClean="0">
                <a:solidFill>
                  <a:prstClr val="black"/>
                </a:solidFill>
                <a:latin typeface="Times New Roman"/>
              </a:rPr>
              <a:t> </a:t>
            </a:r>
            <a:r>
              <a:rPr lang="ar-DZ" sz="3600" dirty="0" smtClean="0"/>
              <a:t>و «هي </a:t>
            </a:r>
            <a:r>
              <a:rPr lang="ar-DZ" sz="3600" dirty="0"/>
              <a:t>نشاط </a:t>
            </a:r>
            <a:r>
              <a:rPr lang="ar-DZ" sz="3600" dirty="0" smtClean="0"/>
              <a:t>ذهني يُأخَذُ </a:t>
            </a:r>
            <a:r>
              <a:rPr lang="ar-DZ" sz="3600" dirty="0"/>
              <a:t>فيه </a:t>
            </a:r>
            <a:r>
              <a:rPr lang="ar-DZ" sz="3600" dirty="0" smtClean="0"/>
              <a:t>التفكير </a:t>
            </a:r>
            <a:r>
              <a:rPr lang="ar-DZ" sz="3600" dirty="0"/>
              <a:t>في </a:t>
            </a:r>
            <a:r>
              <a:rPr lang="ar-DZ" sz="3600" dirty="0" smtClean="0"/>
              <a:t>المعرفة  و استراتيجيات </a:t>
            </a:r>
            <a:r>
              <a:rPr lang="ar-DZ" sz="3600" dirty="0"/>
              <a:t>معالجة </a:t>
            </a:r>
            <a:r>
              <a:rPr lang="ar-DZ" sz="3600" dirty="0" smtClean="0"/>
              <a:t>المعلومات».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16008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4800" y="573618"/>
            <a:ext cx="9124949" cy="1681928"/>
          </a:xfrm>
        </p:spPr>
        <p:txBody>
          <a:bodyPr/>
          <a:lstStyle/>
          <a:p>
            <a:pPr lvl="0" algn="ctr" defTabSz="914400">
              <a:spcBef>
                <a:spcPts val="0"/>
              </a:spcBef>
            </a:pPr>
            <a:r>
              <a:rPr lang="ar-DZ" sz="4000" b="1" dirty="0" smtClean="0">
                <a:solidFill>
                  <a:schemeClr val="bg1"/>
                </a:solidFill>
                <a:latin typeface="Times New Roman"/>
                <a:ea typeface="+mn-ea"/>
                <a:cs typeface="+mn-cs"/>
              </a:rPr>
              <a:t>المراحل </a:t>
            </a:r>
            <a:r>
              <a:rPr lang="ar-DZ" sz="4000" b="1" dirty="0">
                <a:solidFill>
                  <a:schemeClr val="bg1"/>
                </a:solidFill>
                <a:latin typeface="Times New Roman"/>
                <a:ea typeface="+mn-ea"/>
                <a:cs typeface="+mn-cs"/>
              </a:rPr>
              <a:t>الذهنية الواجب القيام بها لإنجاز المهمة</a:t>
            </a:r>
            <a:endParaRPr lang="fr-FR" sz="48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6250" y="2288353"/>
            <a:ext cx="8915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800" dirty="0" smtClean="0"/>
              <a:t>- تحليل المعطى (تحديد </a:t>
            </a:r>
            <a:r>
              <a:rPr lang="ar-DZ" sz="2800" dirty="0"/>
              <a:t>الأفعال </a:t>
            </a:r>
            <a:r>
              <a:rPr lang="ar-DZ" sz="2800" dirty="0" smtClean="0"/>
              <a:t>الأدائية )؛</a:t>
            </a:r>
            <a:endParaRPr lang="ar-DZ" sz="2800" dirty="0"/>
          </a:p>
          <a:p>
            <a:pPr algn="r" rtl="1"/>
            <a:r>
              <a:rPr lang="ar-DZ" sz="2800" dirty="0" smtClean="0"/>
              <a:t>- تحليل </a:t>
            </a:r>
            <a:r>
              <a:rPr lang="ar-DZ" sz="2800" dirty="0"/>
              <a:t>الروابط بين </a:t>
            </a:r>
            <a:r>
              <a:rPr lang="ar-DZ" sz="2800" dirty="0" smtClean="0"/>
              <a:t>المعطيات والتعليمات </a:t>
            </a:r>
            <a:r>
              <a:rPr lang="ar-DZ" sz="2800" dirty="0"/>
              <a:t>؛</a:t>
            </a:r>
          </a:p>
          <a:p>
            <a:pPr algn="r" rtl="1"/>
            <a:r>
              <a:rPr lang="ar-DZ" sz="2800" dirty="0" smtClean="0"/>
              <a:t>- البحث </a:t>
            </a:r>
            <a:r>
              <a:rPr lang="ar-DZ" sz="2800" dirty="0"/>
              <a:t>عن الروابط بين المهمة التي يتعين القيام بها والدرس ، أو </a:t>
            </a:r>
            <a:r>
              <a:rPr lang="ar-DZ" sz="2800" dirty="0" smtClean="0"/>
              <a:t>المفاهيم المرساة أتناء </a:t>
            </a:r>
            <a:r>
              <a:rPr lang="ar-DZ" sz="2800" dirty="0" err="1" smtClean="0"/>
              <a:t>التعلمات</a:t>
            </a:r>
            <a:r>
              <a:rPr lang="ar-DZ" sz="2800" dirty="0" smtClean="0"/>
              <a:t> وهي محل التقييم.</a:t>
            </a:r>
            <a:endParaRPr lang="ar-DZ" sz="2800" dirty="0"/>
          </a:p>
          <a:p>
            <a:pPr algn="r" rtl="1"/>
            <a:r>
              <a:rPr lang="ar-DZ" sz="2800" dirty="0" smtClean="0"/>
              <a:t>- توقع </a:t>
            </a:r>
            <a:r>
              <a:rPr lang="ar-DZ" sz="2800" dirty="0"/>
              <a:t>النتيجة </a:t>
            </a:r>
            <a:r>
              <a:rPr lang="ar-DZ" sz="2800" dirty="0" smtClean="0"/>
              <a:t>، التنبؤ لما هو منتظر.</a:t>
            </a:r>
            <a:endParaRPr lang="fr-FR" sz="2800" dirty="0"/>
          </a:p>
        </p:txBody>
      </p:sp>
      <p:sp>
        <p:nvSpPr>
          <p:cNvPr id="3" name="Rectangle 2"/>
          <p:cNvSpPr/>
          <p:nvPr/>
        </p:nvSpPr>
        <p:spPr>
          <a:xfrm>
            <a:off x="304800" y="4535122"/>
            <a:ext cx="90868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Arial"/>
              </a:rPr>
              <a:t> </a:t>
            </a:r>
            <a:r>
              <a:rPr lang="fr-FR" dirty="0">
                <a:latin typeface="Arial"/>
              </a:rPr>
              <a:t>“décortiquer” un énoncé (repérage des verbes d’action...) </a:t>
            </a:r>
            <a:r>
              <a:rPr lang="fr-FR" dirty="0" smtClean="0">
                <a:latin typeface="Arial"/>
              </a:rPr>
              <a:t>; </a:t>
            </a:r>
            <a:endParaRPr lang="fr-FR" dirty="0">
              <a:latin typeface="Arial"/>
            </a:endParaRPr>
          </a:p>
          <a:p>
            <a:r>
              <a:rPr lang="fr-FR" dirty="0" smtClean="0">
                <a:latin typeface="Arial"/>
              </a:rPr>
              <a:t>analyser </a:t>
            </a:r>
            <a:r>
              <a:rPr lang="fr-FR" dirty="0">
                <a:latin typeface="Arial"/>
              </a:rPr>
              <a:t>les liens entre des données et des consignes </a:t>
            </a:r>
            <a:r>
              <a:rPr lang="fr-FR" dirty="0" smtClean="0">
                <a:latin typeface="Arial"/>
              </a:rPr>
              <a:t>;</a:t>
            </a:r>
            <a:endParaRPr lang="fr-FR" dirty="0">
              <a:latin typeface="Arial"/>
            </a:endParaRPr>
          </a:p>
          <a:p>
            <a:r>
              <a:rPr lang="fr-FR" dirty="0" smtClean="0">
                <a:latin typeface="Arial"/>
              </a:rPr>
              <a:t>rechercher </a:t>
            </a:r>
            <a:r>
              <a:rPr lang="fr-FR" dirty="0">
                <a:latin typeface="Arial"/>
              </a:rPr>
              <a:t>les liens entre la tâche à faire et la leçon, ou les notions qui sont objet d’évaluation </a:t>
            </a:r>
            <a:r>
              <a:rPr lang="fr-FR" dirty="0" smtClean="0">
                <a:latin typeface="Arial"/>
              </a:rPr>
              <a:t>;</a:t>
            </a:r>
            <a:endParaRPr lang="fr-FR" dirty="0">
              <a:latin typeface="Arial"/>
            </a:endParaRPr>
          </a:p>
          <a:p>
            <a:r>
              <a:rPr lang="fr-FR" dirty="0" smtClean="0">
                <a:latin typeface="Arial"/>
              </a:rPr>
              <a:t>anticiper </a:t>
            </a:r>
            <a:r>
              <a:rPr lang="fr-FR" dirty="0">
                <a:latin typeface="Arial"/>
              </a:rPr>
              <a:t>le résultat, de prévoir ce qui est attendu. </a:t>
            </a:r>
            <a:endParaRPr lang="fr-FR" dirty="0">
              <a:effectLst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257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326780"/>
              </p:ext>
            </p:extLst>
          </p:nvPr>
        </p:nvGraphicFramePr>
        <p:xfrm>
          <a:off x="227546" y="571495"/>
          <a:ext cx="9468904" cy="6249756"/>
        </p:xfrm>
        <a:graphic>
          <a:graphicData uri="http://schemas.openxmlformats.org/drawingml/2006/table">
            <a:tbl>
              <a:tblPr rtl="1" firstRow="1" firstCol="1" bandRow="1"/>
              <a:tblGrid>
                <a:gridCol w="462171"/>
                <a:gridCol w="574845"/>
                <a:gridCol w="767393"/>
                <a:gridCol w="1694623"/>
                <a:gridCol w="791492"/>
                <a:gridCol w="791492"/>
                <a:gridCol w="2671334"/>
                <a:gridCol w="1715554"/>
              </a:tblGrid>
              <a:tr h="1129116">
                <a:tc gridSpan="2"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رقم التمرين</a:t>
                      </a:r>
                      <a:endParaRPr lang="fr-FR" sz="1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رقم التعليمة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الأفعال الأدائية المستعملة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مستوى الكفاءة </a:t>
                      </a:r>
                      <a:r>
                        <a:rPr lang="ar-SA" sz="1400" b="1" dirty="0" smtClean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المستهدف</a:t>
                      </a:r>
                      <a:endParaRPr lang="fr-FR" sz="1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الكفاءة المنهجية </a:t>
                      </a:r>
                      <a:r>
                        <a:rPr lang="ar-SA" sz="1800" b="1" dirty="0" smtClean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المجندة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DZ" sz="1800" b="1" dirty="0" smtClean="0">
                          <a:effectLst/>
                          <a:latin typeface="Calibri"/>
                          <a:ea typeface="Arial"/>
                          <a:cs typeface="Times New Roman"/>
                        </a:rPr>
                        <a:t>نمط المهمة</a:t>
                      </a:r>
                    </a:p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DZ" sz="1800" b="1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أو مراحل انجاز المهمة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اقتراح </a:t>
                      </a:r>
                      <a:r>
                        <a:rPr lang="ar-SA" sz="1800" b="1" dirty="0" smtClean="0">
                          <a:effectLst/>
                          <a:latin typeface="Calibri"/>
                          <a:ea typeface="Arial"/>
                          <a:cs typeface="Times New Roman"/>
                        </a:rPr>
                        <a:t>تعديل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rowSpan="2" gridSpan="2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التمرين الأول</a:t>
                      </a:r>
                      <a:endParaRPr lang="fr-FR" sz="1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1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gridSpan="2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2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rowSpan="4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التمرين الثاني</a:t>
                      </a:r>
                      <a:endParaRPr lang="fr-FR" sz="1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الجزء1</a:t>
                      </a:r>
                      <a:endParaRPr lang="fr-FR" sz="1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1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DZ" sz="1800" dirty="0" smtClean="0">
                          <a:effectLst/>
                          <a:latin typeface="Calibri"/>
                          <a:ea typeface="Calibri"/>
                          <a:cs typeface="Arial"/>
                        </a:rPr>
                        <a:t>2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DZ" sz="1800" b="1" dirty="0" smtClean="0">
                          <a:effectLst/>
                          <a:latin typeface="Calibri"/>
                          <a:ea typeface="Arial"/>
                          <a:cs typeface="Times New Roman"/>
                        </a:rPr>
                        <a:t>1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2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الجزء 2</a:t>
                      </a:r>
                      <a:endParaRPr lang="fr-FR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1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rowSpan="6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التمرين الثالث</a:t>
                      </a:r>
                      <a:endParaRPr lang="fr-FR" sz="1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الجزء1</a:t>
                      </a:r>
                      <a:endParaRPr lang="fr-FR" sz="1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1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2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الجزء2</a:t>
                      </a:r>
                      <a:endParaRPr lang="fr-FR" sz="1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1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2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3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الجزء3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1790700" y="0"/>
            <a:ext cx="47625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بكالوريا 2018 الموضوع الأول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6191250" y="1657350"/>
            <a:ext cx="16192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300" b="1" dirty="0" smtClean="0"/>
              <a:t>ـ ا</a:t>
            </a:r>
            <a:r>
              <a:rPr lang="ar-DZ" sz="1300" b="1" dirty="0" smtClean="0">
                <a:solidFill>
                  <a:srgbClr val="FF0000"/>
                </a:solidFill>
              </a:rPr>
              <a:t>ذكر </a:t>
            </a:r>
            <a:r>
              <a:rPr lang="ar-DZ" sz="1300" b="1" dirty="0" smtClean="0"/>
              <a:t>مختلف البروتينات</a:t>
            </a:r>
          </a:p>
          <a:p>
            <a:pPr algn="r" rtl="1"/>
            <a:r>
              <a:rPr lang="ar-DZ" sz="1300" b="1" dirty="0" smtClean="0"/>
              <a:t> ـ </a:t>
            </a:r>
            <a:r>
              <a:rPr lang="ar-DZ" sz="1300" b="1" dirty="0" smtClean="0">
                <a:solidFill>
                  <a:srgbClr val="FF0000"/>
                </a:solidFill>
              </a:rPr>
              <a:t>حدد </a:t>
            </a:r>
            <a:r>
              <a:rPr lang="ar-DZ" sz="1300" b="1" dirty="0" smtClean="0"/>
              <a:t>دور كل منها</a:t>
            </a:r>
            <a:endParaRPr lang="fr-FR" sz="1300" b="1" dirty="0"/>
          </a:p>
        </p:txBody>
      </p:sp>
      <p:sp>
        <p:nvSpPr>
          <p:cNvPr id="5" name="ZoneTexte 4"/>
          <p:cNvSpPr txBox="1">
            <a:spLocks noChangeArrowheads="1"/>
          </p:cNvSpPr>
          <p:nvPr/>
        </p:nvSpPr>
        <p:spPr bwMode="auto">
          <a:xfrm>
            <a:off x="5560483" y="1718905"/>
            <a:ext cx="7831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①</a:t>
            </a:r>
            <a:endParaRPr lang="fr-FR" sz="2000" dirty="0"/>
          </a:p>
        </p:txBody>
      </p:sp>
      <p:sp>
        <p:nvSpPr>
          <p:cNvPr id="6" name="ZoneTexte 5"/>
          <p:cNvSpPr txBox="1"/>
          <p:nvPr/>
        </p:nvSpPr>
        <p:spPr>
          <a:xfrm>
            <a:off x="4610100" y="1718905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يتملك</a:t>
            </a:r>
            <a:endParaRPr lang="fr-FR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2247900" y="1749683"/>
            <a:ext cx="1924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استرجاع منظم للمعارف</a:t>
            </a:r>
            <a:endParaRPr lang="fr-FR" sz="16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6191251" y="2161580"/>
            <a:ext cx="1619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اكتب</a:t>
            </a:r>
            <a:r>
              <a:rPr lang="ar-DZ" sz="1600" b="1" dirty="0" smtClean="0"/>
              <a:t> نصا علميا </a:t>
            </a:r>
            <a:r>
              <a:rPr lang="ar-DZ" sz="1600" b="1" dirty="0" smtClean="0">
                <a:solidFill>
                  <a:srgbClr val="FF0000"/>
                </a:solidFill>
              </a:rPr>
              <a:t>تبين</a:t>
            </a:r>
            <a:endParaRPr lang="fr-FR" sz="1600" b="1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>
            <a:spLocks noChangeArrowheads="1"/>
          </p:cNvSpPr>
          <p:nvPr/>
        </p:nvSpPr>
        <p:spPr bwMode="auto">
          <a:xfrm>
            <a:off x="5739208" y="2119015"/>
            <a:ext cx="5781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③</a:t>
            </a:r>
            <a:endParaRPr lang="fr-FR" sz="2000" dirty="0"/>
          </a:p>
        </p:txBody>
      </p:sp>
      <p:sp>
        <p:nvSpPr>
          <p:cNvPr id="12" name="ZoneTexte 11"/>
          <p:cNvSpPr txBox="1"/>
          <p:nvPr/>
        </p:nvSpPr>
        <p:spPr>
          <a:xfrm>
            <a:off x="4610100" y="2134404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يبلغ</a:t>
            </a:r>
            <a:endParaRPr lang="fr-FR" b="1" dirty="0"/>
          </a:p>
        </p:txBody>
      </p:sp>
      <p:sp>
        <p:nvSpPr>
          <p:cNvPr id="14" name="ZoneTexte 13"/>
          <p:cNvSpPr txBox="1"/>
          <p:nvPr/>
        </p:nvSpPr>
        <p:spPr>
          <a:xfrm>
            <a:off x="1790700" y="2058204"/>
            <a:ext cx="2439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يستخرج معلومات من استغلال وثيقة ويعيد تنظيمها</a:t>
            </a:r>
            <a:endParaRPr lang="fr-FR" sz="1600" b="1" dirty="0"/>
          </a:p>
        </p:txBody>
      </p:sp>
      <p:sp>
        <p:nvSpPr>
          <p:cNvPr id="15" name="ZoneTexte 14"/>
          <p:cNvSpPr txBox="1"/>
          <p:nvPr/>
        </p:nvSpPr>
        <p:spPr>
          <a:xfrm>
            <a:off x="6191251" y="2505522"/>
            <a:ext cx="1619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400" b="1" dirty="0" smtClean="0">
                <a:solidFill>
                  <a:srgbClr val="FF0000"/>
                </a:solidFill>
              </a:rPr>
              <a:t>مثل  </a:t>
            </a:r>
            <a:r>
              <a:rPr lang="ar-DZ" sz="1400" b="1" dirty="0" smtClean="0"/>
              <a:t>الصيغة </a:t>
            </a:r>
            <a:r>
              <a:rPr lang="ar-DZ" sz="1400" b="1" dirty="0" err="1" smtClean="0"/>
              <a:t>الشاردية</a:t>
            </a:r>
            <a:r>
              <a:rPr lang="ar-DZ" sz="1400" b="1" dirty="0" smtClean="0"/>
              <a:t>  في </a:t>
            </a:r>
            <a:r>
              <a:rPr lang="fr-FR" sz="1400" b="1" dirty="0" smtClean="0"/>
              <a:t>pH</a:t>
            </a:r>
            <a:r>
              <a:rPr lang="ar-DZ" sz="1400" b="1" dirty="0" smtClean="0"/>
              <a:t> معين</a:t>
            </a:r>
            <a:endParaRPr lang="fr-FR" sz="1400" b="1" dirty="0"/>
          </a:p>
        </p:txBody>
      </p:sp>
      <p:sp>
        <p:nvSpPr>
          <p:cNvPr id="16" name="ZoneTexte 15"/>
          <p:cNvSpPr txBox="1">
            <a:spLocks noChangeArrowheads="1"/>
          </p:cNvSpPr>
          <p:nvPr/>
        </p:nvSpPr>
        <p:spPr bwMode="auto">
          <a:xfrm>
            <a:off x="5534157" y="2519988"/>
            <a:ext cx="7831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①</a:t>
            </a:r>
            <a:endParaRPr lang="fr-FR" sz="2000" dirty="0"/>
          </a:p>
        </p:txBody>
      </p:sp>
      <p:sp>
        <p:nvSpPr>
          <p:cNvPr id="17" name="ZoneTexte 16"/>
          <p:cNvSpPr txBox="1"/>
          <p:nvPr/>
        </p:nvSpPr>
        <p:spPr>
          <a:xfrm>
            <a:off x="4610100" y="2582466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ينجز</a:t>
            </a:r>
            <a:endParaRPr lang="fr-FR" b="1" dirty="0"/>
          </a:p>
        </p:txBody>
      </p:sp>
      <p:sp>
        <p:nvSpPr>
          <p:cNvPr id="19" name="ZoneTexte 18"/>
          <p:cNvSpPr txBox="1"/>
          <p:nvPr/>
        </p:nvSpPr>
        <p:spPr>
          <a:xfrm>
            <a:off x="2247900" y="2582257"/>
            <a:ext cx="1924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يطبق قاعدة</a:t>
            </a:r>
            <a:endParaRPr lang="fr-FR" sz="1600" b="1" dirty="0"/>
          </a:p>
        </p:txBody>
      </p:sp>
      <p:sp>
        <p:nvSpPr>
          <p:cNvPr id="20" name="ZoneTexte 19"/>
          <p:cNvSpPr txBox="1"/>
          <p:nvPr/>
        </p:nvSpPr>
        <p:spPr>
          <a:xfrm>
            <a:off x="6590771" y="3028742"/>
            <a:ext cx="1219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حدد</a:t>
            </a:r>
            <a:r>
              <a:rPr lang="ar-DZ" sz="1600" b="1" dirty="0" smtClean="0"/>
              <a:t> دور أ-أ</a:t>
            </a:r>
            <a:endParaRPr lang="fr-FR" sz="1600" b="1" dirty="0"/>
          </a:p>
        </p:txBody>
      </p:sp>
      <p:sp>
        <p:nvSpPr>
          <p:cNvPr id="21" name="ZoneTexte 20"/>
          <p:cNvSpPr txBox="1">
            <a:spLocks noChangeArrowheads="1"/>
          </p:cNvSpPr>
          <p:nvPr/>
        </p:nvSpPr>
        <p:spPr bwMode="auto">
          <a:xfrm>
            <a:off x="5678685" y="3005138"/>
            <a:ext cx="494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②</a:t>
            </a:r>
            <a:endParaRPr lang="fr-FR" sz="2000" dirty="0"/>
          </a:p>
        </p:txBody>
      </p:sp>
      <p:sp>
        <p:nvSpPr>
          <p:cNvPr id="22" name="ZoneTexte 21"/>
          <p:cNvSpPr txBox="1"/>
          <p:nvPr/>
        </p:nvSpPr>
        <p:spPr>
          <a:xfrm>
            <a:off x="4627033" y="3005138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يصادق</a:t>
            </a:r>
            <a:endParaRPr lang="fr-FR" b="1" dirty="0"/>
          </a:p>
        </p:txBody>
      </p:sp>
      <p:sp>
        <p:nvSpPr>
          <p:cNvPr id="25" name="ZoneTexte 24"/>
          <p:cNvSpPr txBox="1"/>
          <p:nvPr/>
        </p:nvSpPr>
        <p:spPr>
          <a:xfrm>
            <a:off x="151343" y="3001268"/>
            <a:ext cx="1676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تغيير الفعل الأدائي</a:t>
            </a:r>
            <a:endParaRPr lang="fr-FR" sz="1600" b="1" dirty="0"/>
          </a:p>
        </p:txBody>
      </p:sp>
      <p:sp>
        <p:nvSpPr>
          <p:cNvPr id="26" name="ZoneTexte 25"/>
          <p:cNvSpPr txBox="1"/>
          <p:nvPr/>
        </p:nvSpPr>
        <p:spPr>
          <a:xfrm>
            <a:off x="151343" y="1642705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400" b="1" dirty="0" smtClean="0"/>
              <a:t>تغيير الوثيقة ، وضع كل المعلومات </a:t>
            </a:r>
            <a:endParaRPr lang="fr-FR" sz="1400" b="1" dirty="0"/>
          </a:p>
        </p:txBody>
      </p:sp>
      <p:sp>
        <p:nvSpPr>
          <p:cNvPr id="27" name="ZoneTexte 26"/>
          <p:cNvSpPr txBox="1"/>
          <p:nvPr/>
        </p:nvSpPr>
        <p:spPr>
          <a:xfrm>
            <a:off x="2247899" y="3497580"/>
            <a:ext cx="1924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تطبيق قاعدة</a:t>
            </a:r>
            <a:endParaRPr lang="fr-FR" sz="1600" b="1" dirty="0"/>
          </a:p>
        </p:txBody>
      </p:sp>
      <p:sp>
        <p:nvSpPr>
          <p:cNvPr id="28" name="ZoneTexte 27"/>
          <p:cNvSpPr txBox="1"/>
          <p:nvPr/>
        </p:nvSpPr>
        <p:spPr>
          <a:xfrm>
            <a:off x="6343650" y="3493026"/>
            <a:ext cx="1428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استخرج </a:t>
            </a:r>
            <a:r>
              <a:rPr lang="ar-DZ" sz="1600" b="1" dirty="0" smtClean="0"/>
              <a:t>متتالية أ-أ</a:t>
            </a:r>
            <a:endParaRPr lang="fr-FR" sz="1600" b="1" dirty="0"/>
          </a:p>
        </p:txBody>
      </p:sp>
      <p:sp>
        <p:nvSpPr>
          <p:cNvPr id="29" name="ZoneTexte 28"/>
          <p:cNvSpPr txBox="1">
            <a:spLocks noChangeArrowheads="1"/>
          </p:cNvSpPr>
          <p:nvPr/>
        </p:nvSpPr>
        <p:spPr bwMode="auto">
          <a:xfrm>
            <a:off x="5534157" y="3436024"/>
            <a:ext cx="7831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①</a:t>
            </a:r>
            <a:endParaRPr lang="fr-FR" sz="2000" dirty="0"/>
          </a:p>
        </p:txBody>
      </p:sp>
      <p:sp>
        <p:nvSpPr>
          <p:cNvPr id="30" name="ZoneTexte 29"/>
          <p:cNvSpPr txBox="1"/>
          <p:nvPr/>
        </p:nvSpPr>
        <p:spPr>
          <a:xfrm>
            <a:off x="4583774" y="3416022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ينجز</a:t>
            </a:r>
            <a:endParaRPr lang="fr-FR" b="1" dirty="0"/>
          </a:p>
        </p:txBody>
      </p:sp>
      <p:sp>
        <p:nvSpPr>
          <p:cNvPr id="32" name="ZoneTexte 31"/>
          <p:cNvSpPr txBox="1"/>
          <p:nvPr/>
        </p:nvSpPr>
        <p:spPr>
          <a:xfrm>
            <a:off x="227543" y="3471922"/>
            <a:ext cx="1676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تغيير الفعل الأدائي</a:t>
            </a:r>
            <a:endParaRPr lang="fr-FR" sz="1600" b="1" dirty="0"/>
          </a:p>
        </p:txBody>
      </p:sp>
      <p:sp>
        <p:nvSpPr>
          <p:cNvPr id="33" name="ZoneTexte 32"/>
          <p:cNvSpPr txBox="1"/>
          <p:nvPr/>
        </p:nvSpPr>
        <p:spPr>
          <a:xfrm>
            <a:off x="6317324" y="3857714"/>
            <a:ext cx="1428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ناقش </a:t>
            </a:r>
            <a:r>
              <a:rPr lang="ar-DZ" sz="1600" b="1" dirty="0" smtClean="0"/>
              <a:t>العلاقة بين</a:t>
            </a:r>
            <a:endParaRPr lang="fr-FR" sz="1600" b="1" dirty="0"/>
          </a:p>
        </p:txBody>
      </p:sp>
      <p:sp>
        <p:nvSpPr>
          <p:cNvPr id="34" name="ZoneTexte 33"/>
          <p:cNvSpPr txBox="1">
            <a:spLocks noChangeArrowheads="1"/>
          </p:cNvSpPr>
          <p:nvPr/>
        </p:nvSpPr>
        <p:spPr bwMode="auto">
          <a:xfrm>
            <a:off x="5678685" y="3831580"/>
            <a:ext cx="5781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③</a:t>
            </a:r>
            <a:endParaRPr lang="fr-FR" sz="2000" dirty="0"/>
          </a:p>
        </p:txBody>
      </p:sp>
      <p:sp>
        <p:nvSpPr>
          <p:cNvPr id="35" name="ZoneTexte 34"/>
          <p:cNvSpPr txBox="1"/>
          <p:nvPr/>
        </p:nvSpPr>
        <p:spPr>
          <a:xfrm>
            <a:off x="4627033" y="3826936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يصادق</a:t>
            </a:r>
            <a:endParaRPr lang="fr-FR" b="1" dirty="0"/>
          </a:p>
        </p:txBody>
      </p:sp>
      <p:sp>
        <p:nvSpPr>
          <p:cNvPr id="38" name="ZoneTexte 37"/>
          <p:cNvSpPr txBox="1"/>
          <p:nvPr/>
        </p:nvSpPr>
        <p:spPr>
          <a:xfrm>
            <a:off x="1790699" y="2912805"/>
            <a:ext cx="2439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يستخرج معلومات من استغلال وثيقة ويعيد تنظيمها</a:t>
            </a:r>
            <a:endParaRPr lang="fr-FR" sz="1600" b="1" dirty="0"/>
          </a:p>
        </p:txBody>
      </p:sp>
      <p:sp>
        <p:nvSpPr>
          <p:cNvPr id="39" name="ZoneTexte 38"/>
          <p:cNvSpPr txBox="1"/>
          <p:nvPr/>
        </p:nvSpPr>
        <p:spPr>
          <a:xfrm>
            <a:off x="1790700" y="3765440"/>
            <a:ext cx="2439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يستخرج معلومات من استغلال وثيقة ويعيد تنظيمها</a:t>
            </a:r>
            <a:endParaRPr lang="fr-FR" sz="1600" b="1" dirty="0"/>
          </a:p>
        </p:txBody>
      </p:sp>
      <p:sp>
        <p:nvSpPr>
          <p:cNvPr id="40" name="ZoneTexte 39"/>
          <p:cNvSpPr txBox="1"/>
          <p:nvPr/>
        </p:nvSpPr>
        <p:spPr>
          <a:xfrm>
            <a:off x="6343650" y="4295655"/>
            <a:ext cx="1428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حلل </a:t>
            </a:r>
            <a:r>
              <a:rPr lang="ar-DZ" sz="1600" b="1" dirty="0" smtClean="0"/>
              <a:t>النتائج</a:t>
            </a:r>
            <a:endParaRPr lang="fr-FR" sz="1600" b="1" dirty="0"/>
          </a:p>
        </p:txBody>
      </p:sp>
      <p:sp>
        <p:nvSpPr>
          <p:cNvPr id="41" name="ZoneTexte 40"/>
          <p:cNvSpPr txBox="1"/>
          <p:nvPr/>
        </p:nvSpPr>
        <p:spPr>
          <a:xfrm>
            <a:off x="6354895" y="4658527"/>
            <a:ext cx="1428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قدم فرضيات تفسر</a:t>
            </a:r>
            <a:endParaRPr lang="fr-FR" sz="1600" b="1" dirty="0"/>
          </a:p>
        </p:txBody>
      </p:sp>
      <p:sp>
        <p:nvSpPr>
          <p:cNvPr id="42" name="ZoneTexte 41"/>
          <p:cNvSpPr txBox="1">
            <a:spLocks noChangeArrowheads="1"/>
          </p:cNvSpPr>
          <p:nvPr/>
        </p:nvSpPr>
        <p:spPr bwMode="auto">
          <a:xfrm>
            <a:off x="5697142" y="4264877"/>
            <a:ext cx="494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②</a:t>
            </a:r>
            <a:endParaRPr lang="fr-FR" sz="2000" dirty="0"/>
          </a:p>
        </p:txBody>
      </p:sp>
      <p:sp>
        <p:nvSpPr>
          <p:cNvPr id="43" name="ZoneTexte 42"/>
          <p:cNvSpPr txBox="1">
            <a:spLocks noChangeArrowheads="1"/>
          </p:cNvSpPr>
          <p:nvPr/>
        </p:nvSpPr>
        <p:spPr bwMode="auto">
          <a:xfrm>
            <a:off x="5720688" y="4664987"/>
            <a:ext cx="494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②</a:t>
            </a:r>
            <a:endParaRPr lang="fr-FR" sz="2000" dirty="0"/>
          </a:p>
        </p:txBody>
      </p:sp>
      <p:sp>
        <p:nvSpPr>
          <p:cNvPr id="44" name="ZoneTexte 43"/>
          <p:cNvSpPr txBox="1"/>
          <p:nvPr/>
        </p:nvSpPr>
        <p:spPr>
          <a:xfrm>
            <a:off x="4610099" y="4264877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يحلل</a:t>
            </a:r>
            <a:endParaRPr lang="fr-FR" b="1" dirty="0"/>
          </a:p>
        </p:txBody>
      </p:sp>
      <p:sp>
        <p:nvSpPr>
          <p:cNvPr id="45" name="ZoneTexte 44"/>
          <p:cNvSpPr txBox="1"/>
          <p:nvPr/>
        </p:nvSpPr>
        <p:spPr>
          <a:xfrm>
            <a:off x="4627033" y="4695765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يحلل</a:t>
            </a:r>
            <a:endParaRPr lang="fr-FR" b="1" dirty="0"/>
          </a:p>
        </p:txBody>
      </p:sp>
      <p:sp>
        <p:nvSpPr>
          <p:cNvPr id="48" name="ZoneTexte 47"/>
          <p:cNvSpPr txBox="1"/>
          <p:nvPr/>
        </p:nvSpPr>
        <p:spPr>
          <a:xfrm>
            <a:off x="1810808" y="4289105"/>
            <a:ext cx="2439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يستغل وثيقة من أجل التحليل</a:t>
            </a:r>
            <a:endParaRPr lang="fr-FR" sz="1600" b="1" dirty="0"/>
          </a:p>
        </p:txBody>
      </p:sp>
      <p:sp>
        <p:nvSpPr>
          <p:cNvPr id="49" name="ZoneTexte 48"/>
          <p:cNvSpPr txBox="1"/>
          <p:nvPr/>
        </p:nvSpPr>
        <p:spPr>
          <a:xfrm>
            <a:off x="1790700" y="4726543"/>
            <a:ext cx="2459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400" b="1" dirty="0" smtClean="0"/>
              <a:t>يستغل وثيقة من أجل اقتراح فرضيات</a:t>
            </a:r>
            <a:endParaRPr lang="fr-FR" sz="1400" b="1" dirty="0"/>
          </a:p>
        </p:txBody>
      </p:sp>
      <p:sp>
        <p:nvSpPr>
          <p:cNvPr id="50" name="ZoneTexte 49"/>
          <p:cNvSpPr txBox="1"/>
          <p:nvPr/>
        </p:nvSpPr>
        <p:spPr>
          <a:xfrm>
            <a:off x="6229945" y="5136412"/>
            <a:ext cx="1599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استخرج </a:t>
            </a:r>
            <a:r>
              <a:rPr lang="ar-DZ" sz="1600" b="1" dirty="0" smtClean="0"/>
              <a:t>عدد...، </a:t>
            </a:r>
            <a:r>
              <a:rPr lang="ar-DZ" sz="1600" b="1" dirty="0" smtClean="0">
                <a:solidFill>
                  <a:srgbClr val="FF0000"/>
                </a:solidFill>
              </a:rPr>
              <a:t>حدد</a:t>
            </a:r>
            <a:endParaRPr lang="fr-FR" sz="1600" b="1" dirty="0"/>
          </a:p>
        </p:txBody>
      </p:sp>
      <p:sp>
        <p:nvSpPr>
          <p:cNvPr id="51" name="ZoneTexte 50"/>
          <p:cNvSpPr txBox="1">
            <a:spLocks noChangeArrowheads="1"/>
          </p:cNvSpPr>
          <p:nvPr/>
        </p:nvSpPr>
        <p:spPr bwMode="auto">
          <a:xfrm>
            <a:off x="5473634" y="5148199"/>
            <a:ext cx="7831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①</a:t>
            </a:r>
            <a:endParaRPr lang="fr-FR" sz="2000" dirty="0"/>
          </a:p>
        </p:txBody>
      </p:sp>
      <p:sp>
        <p:nvSpPr>
          <p:cNvPr id="52" name="ZoneTexte 51"/>
          <p:cNvSpPr txBox="1"/>
          <p:nvPr/>
        </p:nvSpPr>
        <p:spPr>
          <a:xfrm>
            <a:off x="4523251" y="5148199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يتملك</a:t>
            </a:r>
            <a:endParaRPr lang="fr-FR" b="1" dirty="0"/>
          </a:p>
        </p:txBody>
      </p:sp>
      <p:sp>
        <p:nvSpPr>
          <p:cNvPr id="54" name="ZoneTexte 53"/>
          <p:cNvSpPr txBox="1"/>
          <p:nvPr/>
        </p:nvSpPr>
        <p:spPr>
          <a:xfrm>
            <a:off x="1752595" y="5117422"/>
            <a:ext cx="2687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ينتقي المعلومات لها علاقة بالتعليمة</a:t>
            </a:r>
            <a:endParaRPr lang="fr-FR" sz="1600" b="1" dirty="0"/>
          </a:p>
        </p:txBody>
      </p:sp>
      <p:sp>
        <p:nvSpPr>
          <p:cNvPr id="55" name="ZoneTexte 54"/>
          <p:cNvSpPr txBox="1"/>
          <p:nvPr/>
        </p:nvSpPr>
        <p:spPr>
          <a:xfrm>
            <a:off x="6256801" y="5541221"/>
            <a:ext cx="1572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400" b="1" dirty="0" smtClean="0">
                <a:solidFill>
                  <a:srgbClr val="FF0000"/>
                </a:solidFill>
              </a:rPr>
              <a:t>اشرح آ</a:t>
            </a:r>
            <a:r>
              <a:rPr lang="ar-DZ" sz="1400" b="1" dirty="0" smtClean="0"/>
              <a:t>لية</a:t>
            </a:r>
            <a:r>
              <a:rPr lang="ar-DZ" sz="1400" b="1" dirty="0" smtClean="0">
                <a:solidFill>
                  <a:srgbClr val="FF0000"/>
                </a:solidFill>
              </a:rPr>
              <a:t> ،استنتج  </a:t>
            </a:r>
            <a:r>
              <a:rPr lang="ar-DZ" sz="1400" b="1" dirty="0" smtClean="0"/>
              <a:t>الحصيلة</a:t>
            </a:r>
            <a:endParaRPr lang="fr-FR" sz="1400" b="1" dirty="0"/>
          </a:p>
        </p:txBody>
      </p:sp>
      <p:sp>
        <p:nvSpPr>
          <p:cNvPr id="56" name="ZoneTexte 55"/>
          <p:cNvSpPr txBox="1">
            <a:spLocks noChangeArrowheads="1"/>
          </p:cNvSpPr>
          <p:nvPr/>
        </p:nvSpPr>
        <p:spPr bwMode="auto">
          <a:xfrm>
            <a:off x="5720688" y="5548309"/>
            <a:ext cx="494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②</a:t>
            </a:r>
            <a:endParaRPr lang="fr-FR" sz="2000" dirty="0"/>
          </a:p>
        </p:txBody>
      </p:sp>
      <p:sp>
        <p:nvSpPr>
          <p:cNvPr id="58" name="ZoneTexte 57"/>
          <p:cNvSpPr txBox="1"/>
          <p:nvPr/>
        </p:nvSpPr>
        <p:spPr>
          <a:xfrm>
            <a:off x="4627033" y="5579087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يصادق</a:t>
            </a:r>
            <a:endParaRPr lang="fr-FR" b="1" dirty="0"/>
          </a:p>
        </p:txBody>
      </p:sp>
      <p:sp>
        <p:nvSpPr>
          <p:cNvPr id="60" name="ZoneTexte 59"/>
          <p:cNvSpPr txBox="1"/>
          <p:nvPr/>
        </p:nvSpPr>
        <p:spPr>
          <a:xfrm>
            <a:off x="1827743" y="5455976"/>
            <a:ext cx="2439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يستخرج معلومات من استغلال وثيقة  من اجل الشرح</a:t>
            </a:r>
            <a:endParaRPr lang="fr-FR" sz="1600" b="1" dirty="0"/>
          </a:p>
        </p:txBody>
      </p:sp>
      <p:sp>
        <p:nvSpPr>
          <p:cNvPr id="61" name="ZoneTexte 60"/>
          <p:cNvSpPr txBox="1"/>
          <p:nvPr/>
        </p:nvSpPr>
        <p:spPr>
          <a:xfrm>
            <a:off x="6282828" y="5946216"/>
            <a:ext cx="1572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400" b="1" dirty="0" smtClean="0">
                <a:solidFill>
                  <a:srgbClr val="FF0000"/>
                </a:solidFill>
              </a:rPr>
              <a:t>فسر آ</a:t>
            </a:r>
            <a:r>
              <a:rPr lang="ar-DZ" sz="1400" b="1" dirty="0" smtClean="0"/>
              <a:t>لية</a:t>
            </a:r>
            <a:r>
              <a:rPr lang="ar-DZ" sz="1400" b="1" dirty="0" smtClean="0">
                <a:solidFill>
                  <a:srgbClr val="FF0000"/>
                </a:solidFill>
              </a:rPr>
              <a:t> ،مبرزا </a:t>
            </a:r>
            <a:r>
              <a:rPr lang="ar-DZ" sz="1400" b="1" dirty="0" smtClean="0"/>
              <a:t>توافقها مع ارضية</a:t>
            </a:r>
            <a:endParaRPr lang="fr-FR" sz="1400" b="1" dirty="0"/>
          </a:p>
        </p:txBody>
      </p:sp>
      <p:sp>
        <p:nvSpPr>
          <p:cNvPr id="62" name="ZoneTexte 61"/>
          <p:cNvSpPr txBox="1">
            <a:spLocks noChangeArrowheads="1"/>
          </p:cNvSpPr>
          <p:nvPr/>
        </p:nvSpPr>
        <p:spPr bwMode="auto">
          <a:xfrm>
            <a:off x="5701638" y="5948419"/>
            <a:ext cx="494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②</a:t>
            </a:r>
            <a:endParaRPr lang="fr-FR" sz="2000" dirty="0"/>
          </a:p>
        </p:txBody>
      </p:sp>
      <p:sp>
        <p:nvSpPr>
          <p:cNvPr id="63" name="ZoneTexte 62"/>
          <p:cNvSpPr txBox="1"/>
          <p:nvPr/>
        </p:nvSpPr>
        <p:spPr>
          <a:xfrm>
            <a:off x="4627033" y="5963808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يصادق</a:t>
            </a:r>
            <a:endParaRPr lang="fr-FR" b="1" dirty="0"/>
          </a:p>
        </p:txBody>
      </p:sp>
      <p:sp>
        <p:nvSpPr>
          <p:cNvPr id="65" name="ZoneTexte 64"/>
          <p:cNvSpPr txBox="1"/>
          <p:nvPr/>
        </p:nvSpPr>
        <p:spPr>
          <a:xfrm>
            <a:off x="1903943" y="5933775"/>
            <a:ext cx="2268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400" b="1" dirty="0" smtClean="0"/>
              <a:t>يؤول  النتائج والمصادقة على الفرضيات</a:t>
            </a:r>
            <a:endParaRPr lang="fr-FR" sz="1400" b="1" dirty="0"/>
          </a:p>
        </p:txBody>
      </p:sp>
      <p:sp>
        <p:nvSpPr>
          <p:cNvPr id="66" name="ZoneTexte 65"/>
          <p:cNvSpPr txBox="1"/>
          <p:nvPr/>
        </p:nvSpPr>
        <p:spPr>
          <a:xfrm>
            <a:off x="6317324" y="6456995"/>
            <a:ext cx="1428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اشرح </a:t>
            </a:r>
            <a:r>
              <a:rPr lang="ar-DZ" sz="1600" b="1" dirty="0" smtClean="0"/>
              <a:t>العلاقة بين</a:t>
            </a:r>
            <a:endParaRPr lang="fr-FR" sz="1600" b="1" dirty="0"/>
          </a:p>
        </p:txBody>
      </p:sp>
      <p:sp>
        <p:nvSpPr>
          <p:cNvPr id="67" name="ZoneTexte 66"/>
          <p:cNvSpPr txBox="1">
            <a:spLocks noChangeArrowheads="1"/>
          </p:cNvSpPr>
          <p:nvPr/>
        </p:nvSpPr>
        <p:spPr bwMode="auto">
          <a:xfrm>
            <a:off x="5678685" y="6450270"/>
            <a:ext cx="494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②</a:t>
            </a:r>
            <a:endParaRPr lang="fr-FR" sz="2000" dirty="0"/>
          </a:p>
        </p:txBody>
      </p:sp>
      <p:sp>
        <p:nvSpPr>
          <p:cNvPr id="68" name="ZoneTexte 67"/>
          <p:cNvSpPr txBox="1"/>
          <p:nvPr/>
        </p:nvSpPr>
        <p:spPr>
          <a:xfrm>
            <a:off x="4627033" y="6450270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يصادق</a:t>
            </a:r>
            <a:endParaRPr lang="fr-FR" b="1" dirty="0"/>
          </a:p>
        </p:txBody>
      </p:sp>
      <p:sp>
        <p:nvSpPr>
          <p:cNvPr id="70" name="ZoneTexte 69"/>
          <p:cNvSpPr txBox="1"/>
          <p:nvPr/>
        </p:nvSpPr>
        <p:spPr>
          <a:xfrm>
            <a:off x="227543" y="6450270"/>
            <a:ext cx="1676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تغيير التعليمة (تركيب)</a:t>
            </a:r>
            <a:endParaRPr lang="fr-FR" sz="1600" b="1" dirty="0"/>
          </a:p>
        </p:txBody>
      </p:sp>
      <p:sp>
        <p:nvSpPr>
          <p:cNvPr id="71" name="ZoneTexte 70"/>
          <p:cNvSpPr txBox="1"/>
          <p:nvPr/>
        </p:nvSpPr>
        <p:spPr>
          <a:xfrm>
            <a:off x="1962147" y="6458396"/>
            <a:ext cx="2268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انجاز خلاصة تركيبية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1004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2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5" grpId="0"/>
      <p:bldP spid="26" grpId="0"/>
      <p:bldP spid="27" grpId="0"/>
      <p:bldP spid="28" grpId="0"/>
      <p:bldP spid="29" grpId="0"/>
      <p:bldP spid="30" grpId="0"/>
      <p:bldP spid="32" grpId="0"/>
      <p:bldP spid="33" grpId="0"/>
      <p:bldP spid="34" grpId="0"/>
      <p:bldP spid="35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8" grpId="0"/>
      <p:bldP spid="49" grpId="0"/>
      <p:bldP spid="50" grpId="0"/>
      <p:bldP spid="51" grpId="0"/>
      <p:bldP spid="52" grpId="0"/>
      <p:bldP spid="54" grpId="0"/>
      <p:bldP spid="55" grpId="0"/>
      <p:bldP spid="56" grpId="0"/>
      <p:bldP spid="58" grpId="0"/>
      <p:bldP spid="60" grpId="0"/>
      <p:bldP spid="61" grpId="0"/>
      <p:bldP spid="62" grpId="0"/>
      <p:bldP spid="63" grpId="0"/>
      <p:bldP spid="65" grpId="0"/>
      <p:bldP spid="66" grpId="0"/>
      <p:bldP spid="67" grpId="0"/>
      <p:bldP spid="68" grpId="0"/>
      <p:bldP spid="70" grpId="0"/>
      <p:bldP spid="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768725"/>
              </p:ext>
            </p:extLst>
          </p:nvPr>
        </p:nvGraphicFramePr>
        <p:xfrm>
          <a:off x="247648" y="571495"/>
          <a:ext cx="9448801" cy="6249756"/>
        </p:xfrm>
        <a:graphic>
          <a:graphicData uri="http://schemas.openxmlformats.org/drawingml/2006/table">
            <a:tbl>
              <a:tblPr rtl="1" firstRow="1" firstCol="1" bandRow="1"/>
              <a:tblGrid>
                <a:gridCol w="461190"/>
                <a:gridCol w="573625"/>
                <a:gridCol w="765764"/>
                <a:gridCol w="1691025"/>
                <a:gridCol w="789812"/>
                <a:gridCol w="1071633"/>
                <a:gridCol w="2667708"/>
                <a:gridCol w="1428044"/>
              </a:tblGrid>
              <a:tr h="1129116">
                <a:tc gridSpan="2"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رقم التمرين</a:t>
                      </a:r>
                      <a:endParaRPr lang="fr-FR" sz="1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رقم التعليمة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الأفعال الأدائية المستعملة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مستوى الكفاءة </a:t>
                      </a:r>
                      <a:r>
                        <a:rPr lang="ar-SA" sz="1400" b="1" dirty="0" smtClean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المستهدف</a:t>
                      </a:r>
                      <a:endParaRPr lang="fr-FR" sz="1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الكفاءة المنهجية </a:t>
                      </a:r>
                      <a:r>
                        <a:rPr lang="ar-SA" sz="1800" b="1" dirty="0" smtClean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المجندة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Arial"/>
                          <a:cs typeface="Times New Roman"/>
                        </a:rPr>
                        <a:t>نمط المهمة</a:t>
                      </a:r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Times New Roman"/>
                        </a:rPr>
                        <a:t>أو مراحل انجاز المهمة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اقتراح تعديل التعليمات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rowSpan="2" gridSpan="2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التمرين الأول</a:t>
                      </a:r>
                      <a:endParaRPr lang="fr-FR" sz="1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1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gridSpan="2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2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rowSpan="4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التمرين الثاني</a:t>
                      </a:r>
                      <a:endParaRPr lang="fr-FR" sz="1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الجزء1</a:t>
                      </a:r>
                      <a:endParaRPr lang="fr-FR" sz="1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1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2</a:t>
                      </a:r>
                      <a:endParaRPr lang="fr-FR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الجزء 2</a:t>
                      </a:r>
                      <a:endParaRPr lang="fr-FR" sz="1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smtClean="0">
                          <a:effectLst/>
                          <a:latin typeface="Calibri"/>
                          <a:ea typeface="Arial"/>
                          <a:cs typeface="Times New Roman"/>
                        </a:rPr>
                        <a:t>1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 smtClean="0">
                          <a:effectLst/>
                          <a:latin typeface="Calibri"/>
                          <a:ea typeface="Arial"/>
                          <a:cs typeface="Times New Roman"/>
                        </a:rPr>
                        <a:t>2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rowSpan="6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التمرين الثالث</a:t>
                      </a:r>
                      <a:endParaRPr lang="fr-FR" sz="1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الجزء1</a:t>
                      </a:r>
                      <a:endParaRPr lang="fr-FR" sz="1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1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2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71755" marR="71755"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الجزء2</a:t>
                      </a:r>
                      <a:endParaRPr lang="fr-FR" sz="1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 vert="vert27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1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2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3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604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الجزء3</a:t>
                      </a:r>
                      <a:endParaRPr lang="fr-FR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6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latin typeface="Calibri"/>
                          <a:ea typeface="Arial"/>
                          <a:cs typeface="Times New Roman"/>
                        </a:rPr>
                        <a:t> </a:t>
                      </a:r>
                      <a:endParaRPr lang="fr-FR" sz="2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4818" marR="34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1790700" y="0"/>
            <a:ext cx="47625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بكالوريا 2018 الموضوع الثاني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6096000" y="1657350"/>
            <a:ext cx="16192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300" b="1" dirty="0" smtClean="0"/>
              <a:t>ـ قدم تعريفا</a:t>
            </a:r>
          </a:p>
          <a:p>
            <a:pPr algn="r" rtl="1"/>
            <a:r>
              <a:rPr lang="ar-DZ" sz="1300" b="1" dirty="0" smtClean="0"/>
              <a:t>- قارن بين</a:t>
            </a:r>
            <a:endParaRPr lang="fr-FR" sz="1300" b="1" dirty="0"/>
          </a:p>
        </p:txBody>
      </p:sp>
      <p:sp>
        <p:nvSpPr>
          <p:cNvPr id="5" name="ZoneTexte 4"/>
          <p:cNvSpPr txBox="1">
            <a:spLocks noChangeArrowheads="1"/>
          </p:cNvSpPr>
          <p:nvPr/>
        </p:nvSpPr>
        <p:spPr bwMode="auto">
          <a:xfrm>
            <a:off x="5552016" y="1699914"/>
            <a:ext cx="7831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①</a:t>
            </a:r>
            <a:endParaRPr lang="fr-FR" sz="2000" dirty="0"/>
          </a:p>
        </p:txBody>
      </p:sp>
      <p:sp>
        <p:nvSpPr>
          <p:cNvPr id="6" name="ZoneTexte 5"/>
          <p:cNvSpPr txBox="1"/>
          <p:nvPr/>
        </p:nvSpPr>
        <p:spPr>
          <a:xfrm>
            <a:off x="4417484" y="1760369"/>
            <a:ext cx="1007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400" b="1" dirty="0" smtClean="0"/>
              <a:t>يتملك /يحلل</a:t>
            </a:r>
            <a:endParaRPr lang="fr-FR" sz="1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2152650" y="1635383"/>
            <a:ext cx="1924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استرجاع واستخراج معلومات من المقارنة</a:t>
            </a:r>
            <a:endParaRPr lang="fr-FR" sz="16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247649" y="1773881"/>
            <a:ext cx="1181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400" b="1" dirty="0" smtClean="0"/>
              <a:t>تغيير التعليمة</a:t>
            </a:r>
            <a:endParaRPr lang="fr-FR" sz="1400" b="1" dirty="0"/>
          </a:p>
        </p:txBody>
      </p:sp>
      <p:sp>
        <p:nvSpPr>
          <p:cNvPr id="10" name="ZoneTexte 9"/>
          <p:cNvSpPr txBox="1">
            <a:spLocks noChangeArrowheads="1"/>
          </p:cNvSpPr>
          <p:nvPr/>
        </p:nvSpPr>
        <p:spPr bwMode="auto">
          <a:xfrm>
            <a:off x="5369983" y="1734294"/>
            <a:ext cx="494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②</a:t>
            </a:r>
            <a:endParaRPr lang="fr-FR" sz="2000" dirty="0"/>
          </a:p>
        </p:txBody>
      </p:sp>
      <p:sp>
        <p:nvSpPr>
          <p:cNvPr id="13" name="ZoneTexte 12"/>
          <p:cNvSpPr txBox="1"/>
          <p:nvPr/>
        </p:nvSpPr>
        <p:spPr>
          <a:xfrm>
            <a:off x="6172200" y="2161580"/>
            <a:ext cx="1714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اكتب</a:t>
            </a:r>
            <a:r>
              <a:rPr lang="ar-DZ" sz="1600" b="1" dirty="0" smtClean="0"/>
              <a:t> نصا علميا </a:t>
            </a:r>
            <a:r>
              <a:rPr lang="ar-DZ" sz="1600" b="1" dirty="0" smtClean="0">
                <a:solidFill>
                  <a:srgbClr val="FF0000"/>
                </a:solidFill>
              </a:rPr>
              <a:t>تشرح</a:t>
            </a:r>
            <a:endParaRPr lang="fr-FR" sz="1600" b="1" dirty="0">
              <a:solidFill>
                <a:srgbClr val="FF0000"/>
              </a:solidFill>
            </a:endParaRPr>
          </a:p>
        </p:txBody>
      </p:sp>
      <p:sp>
        <p:nvSpPr>
          <p:cNvPr id="14" name="ZoneTexte 13"/>
          <p:cNvSpPr txBox="1">
            <a:spLocks noChangeArrowheads="1"/>
          </p:cNvSpPr>
          <p:nvPr/>
        </p:nvSpPr>
        <p:spPr bwMode="auto">
          <a:xfrm>
            <a:off x="5739208" y="2119015"/>
            <a:ext cx="5781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③</a:t>
            </a:r>
            <a:endParaRPr lang="fr-FR" sz="2000" dirty="0"/>
          </a:p>
        </p:txBody>
      </p:sp>
      <p:sp>
        <p:nvSpPr>
          <p:cNvPr id="15" name="ZoneTexte 14"/>
          <p:cNvSpPr txBox="1"/>
          <p:nvPr/>
        </p:nvSpPr>
        <p:spPr>
          <a:xfrm>
            <a:off x="4629150" y="2134404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يبلغ</a:t>
            </a:r>
            <a:endParaRPr lang="fr-FR" b="1" dirty="0"/>
          </a:p>
        </p:txBody>
      </p:sp>
      <p:sp>
        <p:nvSpPr>
          <p:cNvPr id="17" name="ZoneTexte 16"/>
          <p:cNvSpPr txBox="1"/>
          <p:nvPr/>
        </p:nvSpPr>
        <p:spPr>
          <a:xfrm>
            <a:off x="1790700" y="2058204"/>
            <a:ext cx="2439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يستخرج معلومات من استغلال وثيقة ويعيد تنظيمها</a:t>
            </a:r>
            <a:endParaRPr lang="fr-FR" sz="1600" b="1" dirty="0"/>
          </a:p>
        </p:txBody>
      </p:sp>
      <p:sp>
        <p:nvSpPr>
          <p:cNvPr id="18" name="ZoneTexte 17"/>
          <p:cNvSpPr txBox="1"/>
          <p:nvPr/>
        </p:nvSpPr>
        <p:spPr>
          <a:xfrm>
            <a:off x="6182783" y="2642979"/>
            <a:ext cx="1714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انجز </a:t>
            </a:r>
            <a:r>
              <a:rPr lang="ar-DZ" sz="1600" b="1" dirty="0" smtClean="0"/>
              <a:t>منحنى</a:t>
            </a:r>
            <a:r>
              <a:rPr lang="ar-DZ" sz="1600" b="1" dirty="0" smtClean="0">
                <a:solidFill>
                  <a:srgbClr val="FF0000"/>
                </a:solidFill>
              </a:rPr>
              <a:t>، مفسرا</a:t>
            </a:r>
            <a:endParaRPr lang="fr-FR" sz="1600" b="1" dirty="0">
              <a:solidFill>
                <a:srgbClr val="FF0000"/>
              </a:solidFill>
            </a:endParaRPr>
          </a:p>
        </p:txBody>
      </p:sp>
      <p:sp>
        <p:nvSpPr>
          <p:cNvPr id="20" name="ZoneTexte 19"/>
          <p:cNvSpPr txBox="1">
            <a:spLocks noChangeArrowheads="1"/>
          </p:cNvSpPr>
          <p:nvPr/>
        </p:nvSpPr>
        <p:spPr bwMode="auto">
          <a:xfrm>
            <a:off x="5660295" y="2579160"/>
            <a:ext cx="494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②</a:t>
            </a:r>
            <a:endParaRPr lang="fr-FR" sz="2000" dirty="0"/>
          </a:p>
        </p:txBody>
      </p:sp>
      <p:sp>
        <p:nvSpPr>
          <p:cNvPr id="21" name="ZoneTexte 20"/>
          <p:cNvSpPr txBox="1"/>
          <p:nvPr/>
        </p:nvSpPr>
        <p:spPr>
          <a:xfrm>
            <a:off x="4379384" y="2606840"/>
            <a:ext cx="1071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400" b="1" dirty="0" smtClean="0"/>
              <a:t>ينجز/يصادق</a:t>
            </a:r>
            <a:endParaRPr lang="fr-FR" sz="1400" b="1" dirty="0"/>
          </a:p>
        </p:txBody>
      </p:sp>
      <p:sp>
        <p:nvSpPr>
          <p:cNvPr id="23" name="ZoneTexte 22"/>
          <p:cNvSpPr txBox="1"/>
          <p:nvPr/>
        </p:nvSpPr>
        <p:spPr>
          <a:xfrm>
            <a:off x="1810810" y="2500606"/>
            <a:ext cx="2439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ينظم معطيات جدول في منحنى ويفسر النتائج</a:t>
            </a:r>
            <a:endParaRPr lang="fr-FR" sz="1600" b="1" dirty="0"/>
          </a:p>
        </p:txBody>
      </p:sp>
      <p:sp>
        <p:nvSpPr>
          <p:cNvPr id="24" name="ZoneTexte 23"/>
          <p:cNvSpPr txBox="1"/>
          <p:nvPr/>
        </p:nvSpPr>
        <p:spPr>
          <a:xfrm>
            <a:off x="6144683" y="3076064"/>
            <a:ext cx="1714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استنتج </a:t>
            </a:r>
            <a:endParaRPr lang="fr-FR" sz="1600" b="1" dirty="0">
              <a:solidFill>
                <a:srgbClr val="FF0000"/>
              </a:solidFill>
            </a:endParaRPr>
          </a:p>
        </p:txBody>
      </p:sp>
      <p:sp>
        <p:nvSpPr>
          <p:cNvPr id="25" name="ZoneTexte 24"/>
          <p:cNvSpPr txBox="1">
            <a:spLocks noChangeArrowheads="1"/>
          </p:cNvSpPr>
          <p:nvPr/>
        </p:nvSpPr>
        <p:spPr bwMode="auto">
          <a:xfrm>
            <a:off x="5733291" y="3015906"/>
            <a:ext cx="494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②</a:t>
            </a:r>
            <a:endParaRPr lang="fr-FR" sz="2000" dirty="0"/>
          </a:p>
        </p:txBody>
      </p:sp>
      <p:sp>
        <p:nvSpPr>
          <p:cNvPr id="26" name="ZoneTexte 25"/>
          <p:cNvSpPr txBox="1"/>
          <p:nvPr/>
        </p:nvSpPr>
        <p:spPr>
          <a:xfrm>
            <a:off x="4665298" y="3015906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يحلل</a:t>
            </a:r>
            <a:endParaRPr lang="fr-FR" b="1" dirty="0"/>
          </a:p>
        </p:txBody>
      </p:sp>
      <p:sp>
        <p:nvSpPr>
          <p:cNvPr id="28" name="ZoneTexte 27"/>
          <p:cNvSpPr txBox="1"/>
          <p:nvPr/>
        </p:nvSpPr>
        <p:spPr>
          <a:xfrm>
            <a:off x="1846957" y="3040134"/>
            <a:ext cx="2439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يحلل نتائج</a:t>
            </a:r>
            <a:endParaRPr lang="fr-FR" sz="1600" b="1" dirty="0"/>
          </a:p>
        </p:txBody>
      </p:sp>
      <p:sp>
        <p:nvSpPr>
          <p:cNvPr id="29" name="ZoneTexte 28"/>
          <p:cNvSpPr txBox="1"/>
          <p:nvPr/>
        </p:nvSpPr>
        <p:spPr>
          <a:xfrm>
            <a:off x="6252633" y="3323683"/>
            <a:ext cx="1553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err="1" smtClean="0">
                <a:solidFill>
                  <a:srgbClr val="FF0000"/>
                </a:solidFill>
              </a:rPr>
              <a:t>نمذج</a:t>
            </a:r>
            <a:r>
              <a:rPr lang="ar-DZ" sz="1600" b="1" dirty="0" smtClean="0">
                <a:solidFill>
                  <a:srgbClr val="FF0000"/>
                </a:solidFill>
              </a:rPr>
              <a:t>،  </a:t>
            </a:r>
            <a:r>
              <a:rPr lang="ar-DZ" sz="1600" b="1" dirty="0" smtClean="0"/>
              <a:t>ل</a:t>
            </a:r>
            <a:r>
              <a:rPr lang="ar-DZ" sz="1600" b="1" dirty="0" smtClean="0">
                <a:solidFill>
                  <a:srgbClr val="FF0000"/>
                </a:solidFill>
              </a:rPr>
              <a:t>تفسر ، يضع مفهوم </a:t>
            </a:r>
            <a:endParaRPr lang="fr-FR" sz="1600" b="1" dirty="0">
              <a:solidFill>
                <a:srgbClr val="FF0000"/>
              </a:solidFill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4629149" y="3402174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يصادق</a:t>
            </a:r>
            <a:endParaRPr lang="fr-FR" b="1" dirty="0"/>
          </a:p>
        </p:txBody>
      </p:sp>
      <p:sp>
        <p:nvSpPr>
          <p:cNvPr id="31" name="ZoneTexte 30"/>
          <p:cNvSpPr txBox="1">
            <a:spLocks noChangeArrowheads="1"/>
          </p:cNvSpPr>
          <p:nvPr/>
        </p:nvSpPr>
        <p:spPr bwMode="auto">
          <a:xfrm>
            <a:off x="5657091" y="3416016"/>
            <a:ext cx="494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②</a:t>
            </a:r>
            <a:endParaRPr lang="fr-FR" sz="2000" dirty="0"/>
          </a:p>
        </p:txBody>
      </p:sp>
      <p:sp>
        <p:nvSpPr>
          <p:cNvPr id="32" name="ZoneTexte 31"/>
          <p:cNvSpPr txBox="1"/>
          <p:nvPr/>
        </p:nvSpPr>
        <p:spPr>
          <a:xfrm>
            <a:off x="1428751" y="3321598"/>
            <a:ext cx="2857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يستخرج معلومات من استغلال نتائج ويعيد تنظيمها في شكل نموذج تفسيري</a:t>
            </a:r>
            <a:endParaRPr lang="fr-FR" sz="1600" b="1" dirty="0"/>
          </a:p>
        </p:txBody>
      </p:sp>
      <p:sp>
        <p:nvSpPr>
          <p:cNvPr id="33" name="ZoneTexte 32"/>
          <p:cNvSpPr txBox="1"/>
          <p:nvPr/>
        </p:nvSpPr>
        <p:spPr>
          <a:xfrm>
            <a:off x="6021916" y="3892938"/>
            <a:ext cx="1714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اشرح  </a:t>
            </a:r>
            <a:endParaRPr lang="fr-FR" sz="1600" b="1" dirty="0">
              <a:solidFill>
                <a:srgbClr val="FF0000"/>
              </a:solidFill>
            </a:endParaRPr>
          </a:p>
        </p:txBody>
      </p:sp>
      <p:sp>
        <p:nvSpPr>
          <p:cNvPr id="34" name="ZoneTexte 33"/>
          <p:cNvSpPr txBox="1">
            <a:spLocks noChangeArrowheads="1"/>
          </p:cNvSpPr>
          <p:nvPr/>
        </p:nvSpPr>
        <p:spPr bwMode="auto">
          <a:xfrm>
            <a:off x="5643957" y="3816126"/>
            <a:ext cx="5781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③</a:t>
            </a:r>
            <a:endParaRPr lang="fr-FR" sz="2000" dirty="0"/>
          </a:p>
        </p:txBody>
      </p:sp>
      <p:sp>
        <p:nvSpPr>
          <p:cNvPr id="35" name="ZoneTexte 34"/>
          <p:cNvSpPr txBox="1"/>
          <p:nvPr/>
        </p:nvSpPr>
        <p:spPr>
          <a:xfrm>
            <a:off x="4703562" y="3877549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يصادق</a:t>
            </a:r>
            <a:endParaRPr lang="fr-FR" b="1" dirty="0"/>
          </a:p>
        </p:txBody>
      </p:sp>
      <p:sp>
        <p:nvSpPr>
          <p:cNvPr id="38" name="ZoneTexte 37"/>
          <p:cNvSpPr txBox="1"/>
          <p:nvPr/>
        </p:nvSpPr>
        <p:spPr>
          <a:xfrm>
            <a:off x="1428751" y="3751225"/>
            <a:ext cx="2857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يستخرج معلومات من استغلال وثائق يربط بينها ويعيد تنظيمها </a:t>
            </a:r>
            <a:endParaRPr lang="fr-FR" sz="1600" b="1" dirty="0"/>
          </a:p>
        </p:txBody>
      </p:sp>
      <p:sp>
        <p:nvSpPr>
          <p:cNvPr id="39" name="ZoneTexte 38"/>
          <p:cNvSpPr txBox="1"/>
          <p:nvPr/>
        </p:nvSpPr>
        <p:spPr>
          <a:xfrm>
            <a:off x="6287690" y="4256523"/>
            <a:ext cx="1428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اقترح فرضية</a:t>
            </a:r>
            <a:endParaRPr lang="fr-FR" sz="1600" b="1" dirty="0"/>
          </a:p>
        </p:txBody>
      </p:sp>
      <p:sp>
        <p:nvSpPr>
          <p:cNvPr id="40" name="ZoneTexte 39"/>
          <p:cNvSpPr txBox="1">
            <a:spLocks noChangeArrowheads="1"/>
          </p:cNvSpPr>
          <p:nvPr/>
        </p:nvSpPr>
        <p:spPr bwMode="auto">
          <a:xfrm>
            <a:off x="5653483" y="4262983"/>
            <a:ext cx="494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②</a:t>
            </a:r>
            <a:endParaRPr lang="fr-FR" sz="2000" dirty="0"/>
          </a:p>
        </p:txBody>
      </p:sp>
      <p:sp>
        <p:nvSpPr>
          <p:cNvPr id="41" name="ZoneTexte 40"/>
          <p:cNvSpPr txBox="1"/>
          <p:nvPr/>
        </p:nvSpPr>
        <p:spPr>
          <a:xfrm>
            <a:off x="4578878" y="4293761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يحلل</a:t>
            </a:r>
            <a:endParaRPr lang="fr-FR" b="1" dirty="0"/>
          </a:p>
        </p:txBody>
      </p:sp>
      <p:sp>
        <p:nvSpPr>
          <p:cNvPr id="43" name="ZoneTexte 42"/>
          <p:cNvSpPr txBox="1"/>
          <p:nvPr/>
        </p:nvSpPr>
        <p:spPr>
          <a:xfrm>
            <a:off x="1723495" y="4324539"/>
            <a:ext cx="2459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400" b="1" dirty="0" smtClean="0"/>
              <a:t>يستغل وثيقة من أجل اقتراح فرضيات</a:t>
            </a:r>
            <a:endParaRPr lang="fr-FR" sz="1400" b="1" dirty="0"/>
          </a:p>
        </p:txBody>
      </p:sp>
      <p:sp>
        <p:nvSpPr>
          <p:cNvPr id="44" name="ZoneTexte 43"/>
          <p:cNvSpPr txBox="1"/>
          <p:nvPr/>
        </p:nvSpPr>
        <p:spPr>
          <a:xfrm>
            <a:off x="5982757" y="4742976"/>
            <a:ext cx="1714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استدل و بين </a:t>
            </a:r>
            <a:endParaRPr lang="fr-FR" sz="1600" b="1" dirty="0">
              <a:solidFill>
                <a:srgbClr val="FF0000"/>
              </a:solidFill>
            </a:endParaRPr>
          </a:p>
        </p:txBody>
      </p:sp>
      <p:sp>
        <p:nvSpPr>
          <p:cNvPr id="45" name="ZoneTexte 44"/>
          <p:cNvSpPr txBox="1">
            <a:spLocks noChangeArrowheads="1"/>
          </p:cNvSpPr>
          <p:nvPr/>
        </p:nvSpPr>
        <p:spPr bwMode="auto">
          <a:xfrm>
            <a:off x="5604798" y="4666164"/>
            <a:ext cx="5781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 smtClean="0">
                <a:latin typeface="Calibri"/>
                <a:cs typeface="Calibri"/>
              </a:rPr>
              <a:t>②</a:t>
            </a:r>
            <a:endParaRPr lang="fr-FR" sz="2000" dirty="0"/>
          </a:p>
        </p:txBody>
      </p:sp>
      <p:sp>
        <p:nvSpPr>
          <p:cNvPr id="46" name="ZoneTexte 45"/>
          <p:cNvSpPr txBox="1"/>
          <p:nvPr/>
        </p:nvSpPr>
        <p:spPr>
          <a:xfrm>
            <a:off x="4664403" y="4727587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يصادق</a:t>
            </a:r>
            <a:endParaRPr lang="fr-FR" b="1" dirty="0"/>
          </a:p>
        </p:txBody>
      </p:sp>
      <p:sp>
        <p:nvSpPr>
          <p:cNvPr id="48" name="ZoneTexte 47"/>
          <p:cNvSpPr txBox="1"/>
          <p:nvPr/>
        </p:nvSpPr>
        <p:spPr>
          <a:xfrm>
            <a:off x="1389592" y="4601263"/>
            <a:ext cx="2857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يستخرج معلومات من تحليل النتائج  يربط بينها ويعيد تنظيمها </a:t>
            </a:r>
            <a:endParaRPr lang="fr-FR" sz="1600" b="1" dirty="0"/>
          </a:p>
        </p:txBody>
      </p:sp>
      <p:sp>
        <p:nvSpPr>
          <p:cNvPr id="49" name="ZoneTexte 48"/>
          <p:cNvSpPr txBox="1"/>
          <p:nvPr/>
        </p:nvSpPr>
        <p:spPr>
          <a:xfrm>
            <a:off x="6135157" y="5210060"/>
            <a:ext cx="1714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استخرج </a:t>
            </a:r>
            <a:r>
              <a:rPr lang="ar-DZ" sz="1600" b="1" dirty="0" smtClean="0"/>
              <a:t>من الوثيقة</a:t>
            </a:r>
            <a:endParaRPr lang="fr-FR" sz="1600" b="1" dirty="0"/>
          </a:p>
        </p:txBody>
      </p:sp>
      <p:sp>
        <p:nvSpPr>
          <p:cNvPr id="50" name="ZoneTexte 49"/>
          <p:cNvSpPr txBox="1"/>
          <p:nvPr/>
        </p:nvSpPr>
        <p:spPr>
          <a:xfrm>
            <a:off x="4680442" y="5151851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يصادق</a:t>
            </a:r>
            <a:endParaRPr lang="fr-FR" b="1" dirty="0"/>
          </a:p>
        </p:txBody>
      </p:sp>
      <p:sp>
        <p:nvSpPr>
          <p:cNvPr id="52" name="ZoneTexte 51"/>
          <p:cNvSpPr txBox="1"/>
          <p:nvPr/>
        </p:nvSpPr>
        <p:spPr>
          <a:xfrm>
            <a:off x="1405631" y="5025527"/>
            <a:ext cx="2857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يستخرج معلومات من تحليل النتائج  يربط بينها ويعيد تنظيمها </a:t>
            </a:r>
            <a:endParaRPr lang="fr-FR" sz="1600" b="1" dirty="0"/>
          </a:p>
        </p:txBody>
      </p:sp>
      <p:sp>
        <p:nvSpPr>
          <p:cNvPr id="53" name="ZoneTexte 52"/>
          <p:cNvSpPr txBox="1">
            <a:spLocks noChangeArrowheads="1"/>
          </p:cNvSpPr>
          <p:nvPr/>
        </p:nvSpPr>
        <p:spPr bwMode="auto">
          <a:xfrm>
            <a:off x="5604798" y="5117859"/>
            <a:ext cx="5781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③</a:t>
            </a:r>
            <a:endParaRPr lang="fr-FR" sz="2000" dirty="0"/>
          </a:p>
        </p:txBody>
      </p:sp>
      <p:sp>
        <p:nvSpPr>
          <p:cNvPr id="54" name="ZoneTexte 53"/>
          <p:cNvSpPr txBox="1"/>
          <p:nvPr/>
        </p:nvSpPr>
        <p:spPr>
          <a:xfrm>
            <a:off x="6307932" y="5577901"/>
            <a:ext cx="1428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حلل </a:t>
            </a:r>
            <a:r>
              <a:rPr lang="ar-DZ" sz="1600" b="1" dirty="0" smtClean="0"/>
              <a:t>النتائج</a:t>
            </a:r>
            <a:endParaRPr lang="fr-FR" sz="1600" b="1" dirty="0"/>
          </a:p>
        </p:txBody>
      </p:sp>
      <p:sp>
        <p:nvSpPr>
          <p:cNvPr id="55" name="ZoneTexte 54"/>
          <p:cNvSpPr txBox="1">
            <a:spLocks noChangeArrowheads="1"/>
          </p:cNvSpPr>
          <p:nvPr/>
        </p:nvSpPr>
        <p:spPr bwMode="auto">
          <a:xfrm>
            <a:off x="5661424" y="5547123"/>
            <a:ext cx="494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②</a:t>
            </a:r>
            <a:endParaRPr lang="fr-FR" sz="2000" dirty="0"/>
          </a:p>
        </p:txBody>
      </p:sp>
      <p:sp>
        <p:nvSpPr>
          <p:cNvPr id="56" name="ZoneTexte 55"/>
          <p:cNvSpPr txBox="1"/>
          <p:nvPr/>
        </p:nvSpPr>
        <p:spPr>
          <a:xfrm>
            <a:off x="4593431" y="5547123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يحلل</a:t>
            </a:r>
            <a:endParaRPr lang="fr-FR" b="1" dirty="0"/>
          </a:p>
        </p:txBody>
      </p:sp>
      <p:sp>
        <p:nvSpPr>
          <p:cNvPr id="58" name="ZoneTexte 57"/>
          <p:cNvSpPr txBox="1"/>
          <p:nvPr/>
        </p:nvSpPr>
        <p:spPr>
          <a:xfrm>
            <a:off x="1775090" y="5571351"/>
            <a:ext cx="2439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يستغل وثيقة من أجل التحليل</a:t>
            </a:r>
            <a:endParaRPr lang="fr-FR" sz="1600" b="1" dirty="0"/>
          </a:p>
        </p:txBody>
      </p:sp>
      <p:sp>
        <p:nvSpPr>
          <p:cNvPr id="59" name="ZoneTexte 58"/>
          <p:cNvSpPr txBox="1"/>
          <p:nvPr/>
        </p:nvSpPr>
        <p:spPr>
          <a:xfrm>
            <a:off x="6064249" y="6080452"/>
            <a:ext cx="1714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يضع علاقة ، يتحقق</a:t>
            </a:r>
            <a:endParaRPr lang="fr-FR" sz="1600" b="1" dirty="0"/>
          </a:p>
        </p:txBody>
      </p:sp>
      <p:sp>
        <p:nvSpPr>
          <p:cNvPr id="60" name="ZoneTexte 59"/>
          <p:cNvSpPr txBox="1"/>
          <p:nvPr/>
        </p:nvSpPr>
        <p:spPr>
          <a:xfrm>
            <a:off x="4609534" y="6022243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يصادق</a:t>
            </a:r>
            <a:endParaRPr lang="fr-FR" b="1" dirty="0"/>
          </a:p>
        </p:txBody>
      </p:sp>
      <p:sp>
        <p:nvSpPr>
          <p:cNvPr id="62" name="ZoneTexte 61"/>
          <p:cNvSpPr txBox="1"/>
          <p:nvPr/>
        </p:nvSpPr>
        <p:spPr>
          <a:xfrm>
            <a:off x="1334723" y="5895919"/>
            <a:ext cx="2857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يستخرج معلومات من تحليل النتائج  يربط بينها ويعيد تنظيمها </a:t>
            </a:r>
            <a:endParaRPr lang="fr-FR" sz="1600" b="1" dirty="0"/>
          </a:p>
        </p:txBody>
      </p:sp>
      <p:sp>
        <p:nvSpPr>
          <p:cNvPr id="63" name="ZoneTexte 62"/>
          <p:cNvSpPr txBox="1">
            <a:spLocks noChangeArrowheads="1"/>
          </p:cNvSpPr>
          <p:nvPr/>
        </p:nvSpPr>
        <p:spPr bwMode="auto">
          <a:xfrm>
            <a:off x="5533890" y="5988251"/>
            <a:ext cx="5781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③</a:t>
            </a:r>
            <a:endParaRPr lang="fr-FR" sz="2000" dirty="0"/>
          </a:p>
        </p:txBody>
      </p:sp>
      <p:sp>
        <p:nvSpPr>
          <p:cNvPr id="64" name="ZoneTexte 63"/>
          <p:cNvSpPr txBox="1"/>
          <p:nvPr/>
        </p:nvSpPr>
        <p:spPr>
          <a:xfrm>
            <a:off x="6096000" y="6441750"/>
            <a:ext cx="1714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>
                <a:solidFill>
                  <a:srgbClr val="FF0000"/>
                </a:solidFill>
              </a:rPr>
              <a:t>وضح برسم تخطيطي</a:t>
            </a:r>
            <a:endParaRPr lang="fr-FR" sz="1600" b="1" dirty="0"/>
          </a:p>
        </p:txBody>
      </p:sp>
      <p:sp>
        <p:nvSpPr>
          <p:cNvPr id="65" name="ZoneTexte 64"/>
          <p:cNvSpPr txBox="1">
            <a:spLocks noChangeArrowheads="1"/>
          </p:cNvSpPr>
          <p:nvPr/>
        </p:nvSpPr>
        <p:spPr bwMode="auto">
          <a:xfrm>
            <a:off x="5604798" y="6388361"/>
            <a:ext cx="5781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000" dirty="0">
                <a:latin typeface="Calibri" pitchFamily="34" charset="0"/>
                <a:cs typeface="Calibri" pitchFamily="34" charset="0"/>
              </a:rPr>
              <a:t>③</a:t>
            </a:r>
            <a:endParaRPr lang="fr-FR" sz="2000" dirty="0"/>
          </a:p>
        </p:txBody>
      </p:sp>
      <p:sp>
        <p:nvSpPr>
          <p:cNvPr id="66" name="ZoneTexte 65"/>
          <p:cNvSpPr txBox="1"/>
          <p:nvPr/>
        </p:nvSpPr>
        <p:spPr>
          <a:xfrm>
            <a:off x="4589095" y="6403750"/>
            <a:ext cx="7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b="1" dirty="0" smtClean="0"/>
              <a:t>يبلغ</a:t>
            </a:r>
            <a:endParaRPr lang="fr-FR" b="1" dirty="0"/>
          </a:p>
        </p:txBody>
      </p:sp>
      <p:sp>
        <p:nvSpPr>
          <p:cNvPr id="68" name="ZoneTexte 67"/>
          <p:cNvSpPr txBox="1"/>
          <p:nvPr/>
        </p:nvSpPr>
        <p:spPr>
          <a:xfrm>
            <a:off x="1618357" y="6477205"/>
            <a:ext cx="2439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1600" b="1" dirty="0" smtClean="0"/>
              <a:t>يلخص في رسم </a:t>
            </a:r>
            <a:r>
              <a:rPr lang="ar-DZ" sz="1600" b="1" smtClean="0"/>
              <a:t>تخطيطي وظيفي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22528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3" grpId="0"/>
      <p:bldP spid="14" grpId="0"/>
      <p:bldP spid="15" grpId="0"/>
      <p:bldP spid="17" grpId="0"/>
      <p:bldP spid="18" grpId="0"/>
      <p:bldP spid="20" grpId="0"/>
      <p:bldP spid="21" grpId="0"/>
      <p:bldP spid="23" grpId="0"/>
      <p:bldP spid="24" grpId="0"/>
      <p:bldP spid="25" grpId="0"/>
      <p:bldP spid="26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8" grpId="0"/>
      <p:bldP spid="39" grpId="0"/>
      <p:bldP spid="40" grpId="0"/>
      <p:bldP spid="41" grpId="0"/>
      <p:bldP spid="43" grpId="0"/>
      <p:bldP spid="44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4" grpId="0"/>
      <p:bldP spid="55" grpId="0"/>
      <p:bldP spid="56" grpId="0"/>
      <p:bldP spid="58" grpId="0"/>
      <p:bldP spid="59" grpId="0"/>
      <p:bldP spid="60" grpId="0"/>
      <p:bldP spid="62" grpId="0"/>
      <p:bldP spid="63" grpId="0"/>
      <p:bldP spid="64" grpId="0"/>
      <p:bldP spid="65" grpId="0"/>
      <p:bldP spid="66" grpId="0"/>
      <p:bldP spid="6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4627067"/>
            <a:ext cx="847725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Times New Roman"/>
              </a:rPr>
              <a:t>Les tâches complexes proposées se déclinent selon une trame de variance : </a:t>
            </a:r>
          </a:p>
          <a:p>
            <a:r>
              <a:rPr lang="fr-FR" dirty="0">
                <a:solidFill>
                  <a:srgbClr val="000000"/>
                </a:solidFill>
                <a:latin typeface="Times New Roman"/>
              </a:rPr>
              <a:t>- Le nombre de savoirs et de savoir-faire à mobiliser. </a:t>
            </a:r>
          </a:p>
          <a:p>
            <a:r>
              <a:rPr lang="fr-FR" dirty="0">
                <a:solidFill>
                  <a:srgbClr val="000000"/>
                </a:solidFill>
                <a:latin typeface="Times New Roman"/>
              </a:rPr>
              <a:t>- La complexité de l’énoncé qui contraint le lecteur à exécuter un travail spécifique de tri des données. </a:t>
            </a:r>
          </a:p>
          <a:p>
            <a:r>
              <a:rPr lang="fr-FR" dirty="0">
                <a:solidFill>
                  <a:srgbClr val="000000"/>
                </a:solidFill>
                <a:latin typeface="Times New Roman"/>
              </a:rPr>
              <a:t>- La nécessité d’inférer les étapes intermédiaires </a:t>
            </a:r>
          </a:p>
          <a:p>
            <a:r>
              <a:rPr lang="fr-FR" dirty="0">
                <a:solidFill>
                  <a:srgbClr val="000000"/>
                </a:solidFill>
                <a:latin typeface="Times New Roman"/>
              </a:rPr>
              <a:t>- La recherche des informations sur différents supports (texte, graphique, schéma). </a:t>
            </a:r>
          </a:p>
          <a:p>
            <a:r>
              <a:rPr lang="fr-FR" dirty="0">
                <a:solidFill>
                  <a:srgbClr val="000000"/>
                </a:solidFill>
                <a:latin typeface="Times New Roman"/>
              </a:rPr>
              <a:t>- La forme de l’énoncé qui contraint l’élève à se représenter la situation 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2305050"/>
            <a:ext cx="9182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400" b="1" dirty="0" smtClean="0"/>
              <a:t>المهام المركبة </a:t>
            </a:r>
            <a:r>
              <a:rPr lang="ar-DZ" sz="2400" b="1" dirty="0"/>
              <a:t>المقترحة </a:t>
            </a:r>
            <a:r>
              <a:rPr lang="ar-DZ" sz="2400" b="1" dirty="0" smtClean="0"/>
              <a:t>تستند على عدة متغيرات:</a:t>
            </a:r>
            <a:endParaRPr lang="ar-DZ" sz="2400" b="1" dirty="0"/>
          </a:p>
          <a:p>
            <a:pPr algn="r" rtl="1"/>
            <a:r>
              <a:rPr lang="ar-DZ" sz="2400" b="1" dirty="0"/>
              <a:t>- عدد </a:t>
            </a:r>
            <a:r>
              <a:rPr lang="ar-DZ" sz="2400" b="1" dirty="0" smtClean="0"/>
              <a:t>الموارد (معرفية و منهجية) </a:t>
            </a:r>
            <a:r>
              <a:rPr lang="ar-DZ" sz="2400" b="1" dirty="0"/>
              <a:t>المطلوب </a:t>
            </a:r>
            <a:r>
              <a:rPr lang="ar-DZ" sz="2400" b="1" dirty="0" smtClean="0"/>
              <a:t>تجنيدها.</a:t>
            </a:r>
            <a:endParaRPr lang="ar-DZ" sz="2400" b="1" dirty="0"/>
          </a:p>
          <a:p>
            <a:pPr algn="r" rtl="1"/>
            <a:r>
              <a:rPr lang="ar-DZ" sz="2400" b="1" dirty="0"/>
              <a:t>- </a:t>
            </a:r>
            <a:r>
              <a:rPr lang="ar-DZ" sz="2400" b="1" dirty="0" smtClean="0"/>
              <a:t>تركيب العبارة </a:t>
            </a:r>
            <a:r>
              <a:rPr lang="ar-DZ" sz="2400" b="1" dirty="0"/>
              <a:t>التي تجبر </a:t>
            </a:r>
            <a:r>
              <a:rPr lang="ar-DZ" sz="2400" b="1" dirty="0" smtClean="0"/>
              <a:t>المتعلم </a:t>
            </a:r>
            <a:r>
              <a:rPr lang="ar-DZ" sz="2400" b="1" dirty="0"/>
              <a:t>على أداء مهمة محددة </a:t>
            </a:r>
            <a:r>
              <a:rPr lang="ar-DZ" sz="2400" b="1" dirty="0" smtClean="0"/>
              <a:t> بعد  فرز المعطيات.</a:t>
            </a:r>
            <a:endParaRPr lang="ar-DZ" sz="2400" b="1" dirty="0"/>
          </a:p>
          <a:p>
            <a:pPr algn="r" rtl="1"/>
            <a:r>
              <a:rPr lang="ar-DZ" sz="2400" b="1" dirty="0"/>
              <a:t>- </a:t>
            </a:r>
            <a:r>
              <a:rPr lang="ar-DZ" sz="2400" b="1" dirty="0" smtClean="0"/>
              <a:t>استنتاج </a:t>
            </a:r>
            <a:r>
              <a:rPr lang="ar-DZ" sz="2400" b="1" dirty="0"/>
              <a:t>الخطوات الوسيطة</a:t>
            </a:r>
          </a:p>
          <a:p>
            <a:pPr algn="r" rtl="1"/>
            <a:r>
              <a:rPr lang="ar-DZ" sz="2400" b="1" dirty="0"/>
              <a:t>- </a:t>
            </a:r>
            <a:r>
              <a:rPr lang="ar-DZ" sz="2400" b="1" dirty="0" smtClean="0"/>
              <a:t>البحث </a:t>
            </a:r>
            <a:r>
              <a:rPr lang="ar-DZ" sz="2400" b="1" dirty="0"/>
              <a:t>على </a:t>
            </a:r>
            <a:r>
              <a:rPr lang="ar-DZ" sz="2400" b="1" dirty="0" smtClean="0"/>
              <a:t>معلومات انطلاقا من أسناد  مختلفة (النص، الرسومات، </a:t>
            </a:r>
            <a:r>
              <a:rPr lang="ar-DZ" sz="2400" b="1" dirty="0"/>
              <a:t>المخطط).</a:t>
            </a:r>
          </a:p>
          <a:p>
            <a:pPr algn="r" rtl="1"/>
            <a:r>
              <a:rPr lang="ar-DZ" sz="2400" b="1" dirty="0"/>
              <a:t>- شكل </a:t>
            </a:r>
            <a:r>
              <a:rPr lang="ar-DZ" sz="2400" b="1" dirty="0" smtClean="0"/>
              <a:t>السياق الذي </a:t>
            </a:r>
            <a:r>
              <a:rPr lang="ar-DZ" sz="2400" b="1" dirty="0"/>
              <a:t>يجبر </a:t>
            </a:r>
            <a:r>
              <a:rPr lang="ar-DZ" sz="2400" b="1" dirty="0" smtClean="0"/>
              <a:t>المتعلم على وضع مخطط للوضعية.</a:t>
            </a:r>
            <a:endParaRPr lang="fr-FR" sz="2400" b="1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ar-DZ" dirty="0" smtClean="0"/>
              <a:t>بناء مهمات مركبة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489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78301"/>
              </p:ext>
            </p:extLst>
          </p:nvPr>
        </p:nvGraphicFramePr>
        <p:xfrm>
          <a:off x="247651" y="152400"/>
          <a:ext cx="9334498" cy="6659880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459133"/>
                <a:gridCol w="1098811"/>
                <a:gridCol w="2203596"/>
                <a:gridCol w="1933377"/>
                <a:gridCol w="1864031"/>
                <a:gridCol w="1775550"/>
              </a:tblGrid>
              <a:tr h="133859">
                <a:tc grid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effectLst/>
                        </a:rPr>
                        <a:t>Items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توضيحات حول </a:t>
                      </a:r>
                      <a:r>
                        <a:rPr lang="fr-FR" sz="2000" b="1" dirty="0">
                          <a:effectLst/>
                        </a:rPr>
                        <a:t>Items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مهمات بسيطة 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مهمات مركبة 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مهمات أكثر تركيبا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</a:tr>
              <a:tr h="84953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effectLst/>
                        </a:rPr>
                        <a:t>1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يبحث ،يستخرج وينظم المعلومات 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- ينتقي المعلومات المفيدة من الواقع أو ومن الوثائق.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- ينظم المعلومات وفق التعليمة (يستعملها في إعادة الصياغة، ترجمة أوفك الرموز)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ـ يستخرج معلومة من وثيقة </a:t>
                      </a:r>
                      <a:r>
                        <a:rPr lang="ar-DZ" sz="2000" b="1" dirty="0" smtClean="0">
                          <a:effectLst/>
                        </a:rPr>
                        <a:t>بسيطة( نمط بسيط).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- ينظم معلومة بسيطة في جدول حسب تعليمة بسيطة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</a:tr>
              <a:tr h="970895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effectLst/>
                        </a:rPr>
                        <a:t>2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ينجز ، يجرب ، يقيس ، يحسب ويطبق التعليمات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- يتبع البروتوكول</a:t>
                      </a:r>
                      <a:endParaRPr lang="fr-FR" sz="2000" b="1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 </a:t>
                      </a:r>
                      <a:endParaRPr lang="fr-FR" sz="2000" b="1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 </a:t>
                      </a:r>
                      <a:endParaRPr lang="fr-FR" sz="2000" b="1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 </a:t>
                      </a:r>
                      <a:endParaRPr lang="fr-FR" sz="2000" b="1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- يصمم مخططا، جدولا، رسما، منحنى 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- يتبع بروتوكول بسيط باحترام قواعد الأمن.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</a:endParaRPr>
                    </a:p>
                    <a:p>
                      <a:pPr marL="0" indent="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ar-DZ" sz="2000" b="1" dirty="0" smtClean="0">
                          <a:effectLst/>
                        </a:rPr>
                        <a:t>يكمل </a:t>
                      </a:r>
                      <a:r>
                        <a:rPr lang="ar-DZ" sz="2000" b="1" dirty="0">
                          <a:effectLst/>
                        </a:rPr>
                        <a:t>أو ينجز مخطط </a:t>
                      </a:r>
                      <a:r>
                        <a:rPr lang="ar-DZ" sz="2000" b="1" dirty="0" smtClean="0">
                          <a:effectLst/>
                        </a:rPr>
                        <a:t>بسيط، أو </a:t>
                      </a:r>
                      <a:r>
                        <a:rPr lang="ar-DZ" sz="2000" b="1" dirty="0">
                          <a:effectLst/>
                        </a:rPr>
                        <a:t>يبني جدول ذو </a:t>
                      </a:r>
                      <a:r>
                        <a:rPr lang="ar-DZ" sz="2000" b="1" dirty="0" smtClean="0">
                          <a:effectLst/>
                        </a:rPr>
                        <a:t>مدخلين.</a:t>
                      </a:r>
                    </a:p>
                    <a:p>
                      <a:pPr marL="0" indent="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- ينجز رسما تخطيطيا بسيطا باحترام الأبعاد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905000" y="438090"/>
            <a:ext cx="2014864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 rtl="1">
              <a:lnSpc>
                <a:spcPct val="115000"/>
              </a:lnSpc>
            </a:pPr>
            <a:r>
              <a:rPr lang="ar-DZ" sz="2000" b="1" dirty="0">
                <a:solidFill>
                  <a:prstClr val="black"/>
                </a:solidFill>
              </a:rPr>
              <a:t>ـ يستخرج </a:t>
            </a:r>
            <a:r>
              <a:rPr lang="ar-DZ" sz="2000" b="1" dirty="0" smtClean="0">
                <a:solidFill>
                  <a:prstClr val="black"/>
                </a:solidFill>
              </a:rPr>
              <a:t>معلومات </a:t>
            </a:r>
            <a:r>
              <a:rPr lang="ar-DZ" sz="2000" b="1" dirty="0">
                <a:solidFill>
                  <a:prstClr val="black"/>
                </a:solidFill>
              </a:rPr>
              <a:t>من </a:t>
            </a:r>
            <a:r>
              <a:rPr lang="ar-DZ" sz="2000" b="1" dirty="0" smtClean="0">
                <a:solidFill>
                  <a:prstClr val="black"/>
                </a:solidFill>
              </a:rPr>
              <a:t>وثيقتين من نمطين مختلفين ويضع علاقة بينهما.</a:t>
            </a:r>
            <a:endParaRPr lang="fr-FR" sz="2000" b="1" dirty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5886" y="443552"/>
            <a:ext cx="1824364" cy="14775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 rtl="1">
              <a:lnSpc>
                <a:spcPct val="115000"/>
              </a:lnSpc>
            </a:pPr>
            <a:r>
              <a:rPr lang="ar-DZ" sz="2000" b="1" dirty="0">
                <a:solidFill>
                  <a:prstClr val="black"/>
                </a:solidFill>
              </a:rPr>
              <a:t>ـ يستخرج </a:t>
            </a:r>
            <a:r>
              <a:rPr lang="ar-DZ" sz="2000" b="1" dirty="0" smtClean="0">
                <a:solidFill>
                  <a:prstClr val="black"/>
                </a:solidFill>
              </a:rPr>
              <a:t>معلومات </a:t>
            </a:r>
            <a:r>
              <a:rPr lang="ar-DZ" sz="2000" b="1" dirty="0">
                <a:solidFill>
                  <a:prstClr val="black"/>
                </a:solidFill>
              </a:rPr>
              <a:t>من </a:t>
            </a:r>
            <a:r>
              <a:rPr lang="ar-DZ" sz="2000" b="1" dirty="0" smtClean="0">
                <a:solidFill>
                  <a:prstClr val="black"/>
                </a:solidFill>
              </a:rPr>
              <a:t>عدة وثائق من أنماط مختلفة ويضع علاقة بينها </a:t>
            </a:r>
            <a:endParaRPr lang="fr-FR" sz="2000" b="1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52624" y="1825886"/>
            <a:ext cx="1919615" cy="1123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 rtl="1">
              <a:lnSpc>
                <a:spcPct val="115000"/>
              </a:lnSpc>
            </a:pPr>
            <a:r>
              <a:rPr lang="ar-DZ" sz="2000" b="1" dirty="0" smtClean="0">
                <a:solidFill>
                  <a:prstClr val="black"/>
                </a:solidFill>
              </a:rPr>
              <a:t>- يترجم معلومات مشفرة بسيطة حسب تعليمة مركبة</a:t>
            </a:r>
            <a:endParaRPr lang="fr-FR" sz="2000" b="1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634" y="1859090"/>
            <a:ext cx="1919615" cy="1123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 rtl="1">
              <a:lnSpc>
                <a:spcPct val="115000"/>
              </a:lnSpc>
            </a:pPr>
            <a:r>
              <a:rPr lang="ar-DZ" sz="2000" b="1" dirty="0" smtClean="0">
                <a:solidFill>
                  <a:prstClr val="black"/>
                </a:solidFill>
              </a:rPr>
              <a:t>- يترجم </a:t>
            </a:r>
            <a:r>
              <a:rPr lang="ar-DZ" sz="2000" b="1" dirty="0">
                <a:solidFill>
                  <a:prstClr val="black"/>
                </a:solidFill>
              </a:rPr>
              <a:t> </a:t>
            </a:r>
            <a:r>
              <a:rPr lang="ar-DZ" sz="2000" b="1" dirty="0" smtClean="0">
                <a:solidFill>
                  <a:prstClr val="black"/>
                </a:solidFill>
              </a:rPr>
              <a:t>معلومات مشفرة معقدة حسب تعليمة مركبة</a:t>
            </a:r>
            <a:endParaRPr lang="fr-FR" sz="2000" b="1" dirty="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00249" y="3282744"/>
            <a:ext cx="18140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prstClr val="black"/>
                </a:solidFill>
              </a:rPr>
              <a:t>- يتبع بروتوكول </a:t>
            </a:r>
            <a:r>
              <a:rPr lang="ar-DZ" sz="2000" b="1" dirty="0" smtClean="0">
                <a:solidFill>
                  <a:prstClr val="black"/>
                </a:solidFill>
              </a:rPr>
              <a:t>بسيط  في سياق جديد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171449" y="3282744"/>
            <a:ext cx="18140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prstClr val="black"/>
                </a:solidFill>
              </a:rPr>
              <a:t>- يتبع بروتوكول </a:t>
            </a:r>
            <a:r>
              <a:rPr lang="ar-DZ" sz="2000" b="1" dirty="0" smtClean="0">
                <a:solidFill>
                  <a:prstClr val="black"/>
                </a:solidFill>
              </a:rPr>
              <a:t>مركب  في سياق جديد</a:t>
            </a:r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2000250" y="4618548"/>
            <a:ext cx="1814086" cy="1020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lang="ar-DZ" b="1" dirty="0" smtClean="0"/>
              <a:t>- يكمل </a:t>
            </a:r>
            <a:r>
              <a:rPr lang="ar-DZ" b="1" dirty="0"/>
              <a:t>أو ينجز مخطط </a:t>
            </a:r>
            <a:r>
              <a:rPr lang="ar-DZ" b="1" dirty="0" err="1" smtClean="0"/>
              <a:t>مركب،أو</a:t>
            </a:r>
            <a:r>
              <a:rPr lang="ar-DZ" b="1" dirty="0" smtClean="0"/>
              <a:t> </a:t>
            </a:r>
            <a:r>
              <a:rPr lang="ar-DZ" b="1" dirty="0"/>
              <a:t>يبني جدول </a:t>
            </a:r>
            <a:r>
              <a:rPr lang="ar-DZ" b="1" dirty="0" smtClean="0"/>
              <a:t>لوحده بعدة خانات</a:t>
            </a:r>
            <a:endParaRPr lang="fr-FR" b="1" dirty="0"/>
          </a:p>
        </p:txBody>
      </p:sp>
      <p:sp>
        <p:nvSpPr>
          <p:cNvPr id="12" name="Rectangle 11"/>
          <p:cNvSpPr/>
          <p:nvPr/>
        </p:nvSpPr>
        <p:spPr>
          <a:xfrm>
            <a:off x="186164" y="4618548"/>
            <a:ext cx="1814086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lang="ar-DZ" b="1" dirty="0" smtClean="0"/>
              <a:t>- يكمل </a:t>
            </a:r>
            <a:r>
              <a:rPr lang="ar-DZ" b="1" dirty="0"/>
              <a:t>أو ينجز مخطط </a:t>
            </a:r>
            <a:r>
              <a:rPr lang="ar-DZ" b="1" dirty="0" smtClean="0"/>
              <a:t>مركب، أو </a:t>
            </a:r>
            <a:r>
              <a:rPr lang="ar-DZ" b="1" dirty="0"/>
              <a:t>يبني جدول </a:t>
            </a:r>
            <a:r>
              <a:rPr lang="ar-DZ" b="1" dirty="0" smtClean="0"/>
              <a:t>لوحده باختيار معيار التمثيل</a:t>
            </a:r>
            <a:endParaRPr lang="fr-FR" b="1" dirty="0"/>
          </a:p>
        </p:txBody>
      </p:sp>
      <p:sp>
        <p:nvSpPr>
          <p:cNvPr id="14" name="Rectangle 13"/>
          <p:cNvSpPr/>
          <p:nvPr/>
        </p:nvSpPr>
        <p:spPr>
          <a:xfrm>
            <a:off x="-171451" y="5991709"/>
            <a:ext cx="2118887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 rtl="1">
              <a:lnSpc>
                <a:spcPct val="115000"/>
              </a:lnSpc>
            </a:pPr>
            <a:r>
              <a:rPr lang="ar-DZ" sz="2000" b="1" dirty="0" smtClean="0">
                <a:solidFill>
                  <a:prstClr val="black"/>
                </a:solidFill>
              </a:rPr>
              <a:t>- ينجز </a:t>
            </a:r>
            <a:r>
              <a:rPr lang="ar-DZ" sz="2000" b="1" dirty="0">
                <a:solidFill>
                  <a:prstClr val="black"/>
                </a:solidFill>
              </a:rPr>
              <a:t>رسما </a:t>
            </a:r>
            <a:r>
              <a:rPr lang="ar-DZ" sz="2000" b="1" dirty="0" smtClean="0">
                <a:solidFill>
                  <a:prstClr val="black"/>
                </a:solidFill>
              </a:rPr>
              <a:t>وظيفي باحترام </a:t>
            </a:r>
            <a:r>
              <a:rPr lang="ar-DZ" sz="2000" b="1" dirty="0">
                <a:solidFill>
                  <a:prstClr val="black"/>
                </a:solidFill>
              </a:rPr>
              <a:t> </a:t>
            </a:r>
            <a:r>
              <a:rPr lang="ar-DZ" sz="2000" b="1" dirty="0" smtClean="0">
                <a:solidFill>
                  <a:prstClr val="black"/>
                </a:solidFill>
              </a:rPr>
              <a:t>رموز مناسبة</a:t>
            </a:r>
            <a:endParaRPr lang="fr-FR" sz="2000" b="1" dirty="0">
              <a:solidFill>
                <a:prstClr val="black"/>
              </a:solidFill>
              <a:latin typeface="Calibri"/>
              <a:ea typeface="Calibri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40516" y="5985076"/>
            <a:ext cx="1733551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defTabSz="457200" rtl="1">
              <a:lnSpc>
                <a:spcPct val="115000"/>
              </a:lnSpc>
              <a:buFontTx/>
              <a:buChar char="-"/>
            </a:pPr>
            <a:r>
              <a:rPr lang="ar-DZ" sz="2000" b="1" dirty="0" smtClean="0">
                <a:solidFill>
                  <a:prstClr val="black"/>
                </a:solidFill>
              </a:rPr>
              <a:t>ينجز </a:t>
            </a:r>
            <a:r>
              <a:rPr lang="ar-DZ" sz="2000" b="1" dirty="0">
                <a:solidFill>
                  <a:prstClr val="black"/>
                </a:solidFill>
              </a:rPr>
              <a:t>رسما </a:t>
            </a:r>
            <a:r>
              <a:rPr lang="ar-DZ" sz="2000" b="1" dirty="0" smtClean="0">
                <a:solidFill>
                  <a:prstClr val="black"/>
                </a:solidFill>
              </a:rPr>
              <a:t> </a:t>
            </a:r>
          </a:p>
          <a:p>
            <a:pPr lvl="0" algn="r" defTabSz="457200" rtl="1">
              <a:lnSpc>
                <a:spcPct val="115000"/>
              </a:lnSpc>
            </a:pPr>
            <a:r>
              <a:rPr lang="ar-DZ" sz="2000" b="1" dirty="0" smtClean="0">
                <a:solidFill>
                  <a:prstClr val="black"/>
                </a:solidFill>
              </a:rPr>
              <a:t>تخطيطيا تفسيريا</a:t>
            </a:r>
            <a:endParaRPr lang="fr-FR" sz="2000" b="1" dirty="0">
              <a:solidFill>
                <a:prstClr val="black"/>
              </a:solidFill>
              <a:latin typeface="Calibri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12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9" grpId="0"/>
      <p:bldP spid="10" grpId="0"/>
      <p:bldP spid="11" grpId="0"/>
      <p:bldP spid="12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868052"/>
              </p:ext>
            </p:extLst>
          </p:nvPr>
        </p:nvGraphicFramePr>
        <p:xfrm>
          <a:off x="8211" y="133350"/>
          <a:ext cx="9745389" cy="6659880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479343"/>
                <a:gridCol w="1147179"/>
                <a:gridCol w="2300595"/>
                <a:gridCol w="2018482"/>
                <a:gridCol w="1946083"/>
                <a:gridCol w="1853707"/>
              </a:tblGrid>
              <a:tr h="133859">
                <a:tc grid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effectLst/>
                        </a:rPr>
                        <a:t>Items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توضيحات حول </a:t>
                      </a:r>
                      <a:r>
                        <a:rPr lang="fr-FR" sz="2000" b="1">
                          <a:effectLst/>
                        </a:rPr>
                        <a:t>Items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مهمات بسيطة 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مهمات مركبة 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مهمات أكثر تركيبا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</a:tr>
              <a:tr h="218451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effectLst/>
                        </a:rPr>
                        <a:t>3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يستدل ، </a:t>
                      </a:r>
                      <a:r>
                        <a:rPr lang="ar-DZ" sz="2000" b="1" dirty="0" smtClean="0">
                          <a:effectLst/>
                        </a:rPr>
                        <a:t>يقدم حججا </a:t>
                      </a:r>
                      <a:r>
                        <a:rPr lang="ar-DZ" sz="2000" b="1" dirty="0">
                          <a:effectLst/>
                        </a:rPr>
                        <a:t>،ينتهج </a:t>
                      </a:r>
                      <a:r>
                        <a:rPr lang="ar-DZ" sz="2000" b="1" dirty="0" smtClean="0">
                          <a:effectLst/>
                        </a:rPr>
                        <a:t>مسعى </a:t>
                      </a:r>
                      <a:r>
                        <a:rPr lang="ar-DZ" sz="2000" b="1" dirty="0">
                          <a:effectLst/>
                        </a:rPr>
                        <a:t>علمي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- يصيغ المشكلة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effectLst/>
                        </a:rPr>
                        <a:t>- </a:t>
                      </a:r>
                      <a:r>
                        <a:rPr lang="ar-DZ" sz="2000" b="1" dirty="0">
                          <a:effectLst/>
                        </a:rPr>
                        <a:t>يقارن الوضعية بنموذج يعرفه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effectLst/>
                        </a:rPr>
                        <a:t>- </a:t>
                      </a:r>
                      <a:r>
                        <a:rPr lang="ar-DZ" sz="2000" b="1" dirty="0">
                          <a:effectLst/>
                        </a:rPr>
                        <a:t>يضع فرضية </a:t>
                      </a:r>
                      <a:r>
                        <a:rPr lang="ar-DZ" sz="2000" b="1" dirty="0" smtClean="0">
                          <a:effectLst/>
                        </a:rPr>
                        <a:t>،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effectLst/>
                        </a:rPr>
                        <a:t>- </a:t>
                      </a:r>
                      <a:r>
                        <a:rPr lang="ar-DZ" sz="2000" b="1" dirty="0">
                          <a:effectLst/>
                        </a:rPr>
                        <a:t>يقترح طريقة البحث، تجربة (بروتوكول).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- يستغل النتائج</a:t>
                      </a:r>
                      <a:r>
                        <a:rPr lang="fr-FR" sz="2000" b="1" dirty="0">
                          <a:effectLst/>
                        </a:rPr>
                        <a:t>:</a:t>
                      </a: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effectLst/>
                        </a:rPr>
                        <a:t>- </a:t>
                      </a:r>
                      <a:r>
                        <a:rPr lang="ar-DZ" sz="2000" b="1" dirty="0">
                          <a:effectLst/>
                        </a:rPr>
                        <a:t>يقارن النتيجة المحصل عليها مع النتيجة المتوقعة</a:t>
                      </a:r>
                      <a:r>
                        <a:rPr lang="fr-FR" sz="2000" b="1" dirty="0">
                          <a:effectLst/>
                        </a:rPr>
                        <a:t>.</a:t>
                      </a: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effectLst/>
                        </a:rPr>
                        <a:t>- </a:t>
                      </a:r>
                      <a:r>
                        <a:rPr lang="ar-DZ" sz="2000" b="1" dirty="0">
                          <a:effectLst/>
                        </a:rPr>
                        <a:t>يضع علاقات ؛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effectLst/>
                        </a:rPr>
                        <a:t>- </a:t>
                      </a:r>
                      <a:r>
                        <a:rPr lang="ar-DZ" sz="2000" b="1" dirty="0">
                          <a:effectLst/>
                        </a:rPr>
                        <a:t>يستنتج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effectLst/>
                        </a:rPr>
                        <a:t>- </a:t>
                      </a:r>
                      <a:r>
                        <a:rPr lang="ar-DZ" sz="2000" b="1" dirty="0">
                          <a:effectLst/>
                        </a:rPr>
                        <a:t>يتحقق من صحة أو عدم صحة الفرضية.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المشكل مطروح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- يختار فرضية من قائمة فرضيات.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ar-DZ" sz="2000" b="1" dirty="0" smtClean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- يرتب خطوات البروتوكول التجريبي أو يقترح البروتوكول 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- </a:t>
                      </a:r>
                      <a:r>
                        <a:rPr lang="ar-DZ" sz="2000" b="1" dirty="0" smtClean="0">
                          <a:effectLst/>
                        </a:rPr>
                        <a:t>يشرح </a:t>
                      </a:r>
                      <a:r>
                        <a:rPr lang="ar-DZ" sz="2000" b="1" dirty="0">
                          <a:effectLst/>
                        </a:rPr>
                        <a:t>النتائج </a:t>
                      </a:r>
                      <a:r>
                        <a:rPr lang="ar-DZ" sz="2000" b="1" dirty="0" smtClean="0">
                          <a:effectLst/>
                        </a:rPr>
                        <a:t>المحصل عليها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- يستغل النتائج للتحقق من صحة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أو عدم صحة الفرضية مع التعليل.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</a:endParaRPr>
                    </a:p>
                  </a:txBody>
                  <a:tcPr marL="22206" marR="2220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844825" y="582424"/>
            <a:ext cx="1877397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defTabSz="457200" rtl="1">
              <a:lnSpc>
                <a:spcPct val="115000"/>
              </a:lnSpc>
              <a:buFontTx/>
              <a:buChar char="-"/>
            </a:pPr>
            <a:r>
              <a:rPr lang="ar-DZ" sz="2000" b="1" dirty="0" smtClean="0">
                <a:solidFill>
                  <a:prstClr val="black"/>
                </a:solidFill>
              </a:rPr>
              <a:t>يصيغ المشكلة من وضعية مألوفة</a:t>
            </a:r>
          </a:p>
          <a:p>
            <a:pPr marL="342900" lvl="0" indent="-342900" algn="r" defTabSz="457200" rtl="1">
              <a:lnSpc>
                <a:spcPct val="115000"/>
              </a:lnSpc>
              <a:buFontTx/>
              <a:buChar char="-"/>
            </a:pPr>
            <a:r>
              <a:rPr lang="ar-DZ" sz="2000" b="1" dirty="0" smtClean="0">
                <a:solidFill>
                  <a:prstClr val="black"/>
                </a:solidFill>
              </a:rPr>
              <a:t>ويقرح فرضية </a:t>
            </a:r>
            <a:endParaRPr lang="fr-FR" sz="2000" b="1" dirty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12" y="667874"/>
            <a:ext cx="195519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defTabSz="457200" rtl="1">
              <a:lnSpc>
                <a:spcPct val="115000"/>
              </a:lnSpc>
              <a:buFontTx/>
              <a:buChar char="-"/>
            </a:pPr>
            <a:r>
              <a:rPr lang="ar-DZ" sz="2000" b="1" dirty="0" smtClean="0">
                <a:solidFill>
                  <a:prstClr val="black"/>
                </a:solidFill>
              </a:rPr>
              <a:t>يصيغ المشكلة من وضعية غير مألوفة </a:t>
            </a:r>
          </a:p>
          <a:p>
            <a:pPr marL="342900" lvl="0" indent="-342900" algn="r" defTabSz="457200" rtl="1">
              <a:lnSpc>
                <a:spcPct val="115000"/>
              </a:lnSpc>
              <a:buFontTx/>
              <a:buChar char="-"/>
            </a:pPr>
            <a:r>
              <a:rPr lang="ar-DZ" sz="2000" b="1" dirty="0" smtClean="0">
                <a:solidFill>
                  <a:prstClr val="black"/>
                </a:solidFill>
              </a:rPr>
              <a:t>ويقترح فرضيتين </a:t>
            </a:r>
          </a:p>
          <a:p>
            <a:pPr marL="342900" lvl="0" indent="-342900" algn="r" defTabSz="457200" rtl="1">
              <a:lnSpc>
                <a:spcPct val="115000"/>
              </a:lnSpc>
              <a:buFontTx/>
              <a:buChar char="-"/>
            </a:pPr>
            <a:r>
              <a:rPr lang="ar-DZ" sz="2000" b="1" dirty="0" smtClean="0">
                <a:solidFill>
                  <a:prstClr val="black"/>
                </a:solidFill>
              </a:rPr>
              <a:t>وطريقة التحقق من صحتها</a:t>
            </a:r>
            <a:endParaRPr lang="fr-FR" sz="2000" b="1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11499" y="3742353"/>
            <a:ext cx="1758815" cy="1123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 rtl="1">
              <a:lnSpc>
                <a:spcPct val="115000"/>
              </a:lnSpc>
            </a:pPr>
            <a:r>
              <a:rPr lang="ar-DZ" sz="2000" b="1" dirty="0">
                <a:solidFill>
                  <a:prstClr val="black"/>
                </a:solidFill>
              </a:rPr>
              <a:t>- يفسر </a:t>
            </a:r>
            <a:r>
              <a:rPr lang="ar-DZ" sz="2000" b="1" dirty="0" smtClean="0">
                <a:solidFill>
                  <a:prstClr val="black"/>
                </a:solidFill>
              </a:rPr>
              <a:t>النتائج المحصل عليها ويربطها بالمشكلة  </a:t>
            </a:r>
            <a:endParaRPr lang="fr-FR" sz="2000" b="1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30057" y="2715338"/>
            <a:ext cx="189216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 smtClean="0">
                <a:solidFill>
                  <a:prstClr val="black"/>
                </a:solidFill>
              </a:rPr>
              <a:t>- يعلل  بعض خطوات البروتوكول </a:t>
            </a:r>
            <a:r>
              <a:rPr lang="ar-DZ" sz="2000" b="1" dirty="0">
                <a:solidFill>
                  <a:prstClr val="black"/>
                </a:solidFill>
              </a:rPr>
              <a:t>التجريبي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-47339" y="2798050"/>
            <a:ext cx="18921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 smtClean="0">
                <a:solidFill>
                  <a:prstClr val="black"/>
                </a:solidFill>
              </a:rPr>
              <a:t>- يعلل  خطوات البروتوكول </a:t>
            </a:r>
            <a:r>
              <a:rPr lang="ar-DZ" sz="2000" b="1" dirty="0">
                <a:solidFill>
                  <a:prstClr val="black"/>
                </a:solidFill>
              </a:rPr>
              <a:t>التجريبي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-47339" y="3731001"/>
            <a:ext cx="1758815" cy="1123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 rtl="1">
              <a:lnSpc>
                <a:spcPct val="115000"/>
              </a:lnSpc>
            </a:pPr>
            <a:r>
              <a:rPr lang="ar-DZ" sz="2000" b="1" dirty="0">
                <a:solidFill>
                  <a:prstClr val="black"/>
                </a:solidFill>
              </a:rPr>
              <a:t>- </a:t>
            </a:r>
            <a:r>
              <a:rPr lang="ar-DZ" sz="2000" b="1" dirty="0" smtClean="0">
                <a:solidFill>
                  <a:prstClr val="black"/>
                </a:solidFill>
              </a:rPr>
              <a:t>يناقش النتائج المحصل عليها ويربطها بالمشكلة  </a:t>
            </a:r>
            <a:endParaRPr lang="fr-FR" sz="2000" b="1" dirty="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844825" y="5162491"/>
            <a:ext cx="1892165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 rtl="1">
              <a:lnSpc>
                <a:spcPct val="115000"/>
              </a:lnSpc>
            </a:pPr>
            <a:r>
              <a:rPr lang="ar-DZ" sz="2000" b="1" dirty="0" smtClean="0">
                <a:solidFill>
                  <a:prstClr val="black"/>
                </a:solidFill>
              </a:rPr>
              <a:t>- يستغل </a:t>
            </a:r>
            <a:r>
              <a:rPr lang="ar-DZ" sz="2000" b="1" dirty="0">
                <a:solidFill>
                  <a:prstClr val="black"/>
                </a:solidFill>
              </a:rPr>
              <a:t>النتائج للتحقق من صحة</a:t>
            </a:r>
            <a:endParaRPr lang="fr-FR" sz="2000" b="1" dirty="0">
              <a:solidFill>
                <a:prstClr val="black"/>
              </a:solidFill>
            </a:endParaRPr>
          </a:p>
          <a:p>
            <a:pPr lvl="0" algn="r" defTabSz="457200" rtl="1">
              <a:lnSpc>
                <a:spcPct val="115000"/>
              </a:lnSpc>
            </a:pPr>
            <a:r>
              <a:rPr lang="ar-DZ" sz="2000" b="1" dirty="0">
                <a:solidFill>
                  <a:prstClr val="black"/>
                </a:solidFill>
              </a:rPr>
              <a:t>أو عدم صحة </a:t>
            </a:r>
            <a:r>
              <a:rPr lang="ar-DZ" sz="2000" b="1" dirty="0" smtClean="0">
                <a:solidFill>
                  <a:prstClr val="black"/>
                </a:solidFill>
              </a:rPr>
              <a:t>الفرضية </a:t>
            </a:r>
            <a:r>
              <a:rPr lang="ar-DZ" sz="2000" b="1" dirty="0">
                <a:solidFill>
                  <a:prstClr val="black"/>
                </a:solidFill>
              </a:rPr>
              <a:t>مع التعليل.</a:t>
            </a:r>
            <a:endParaRPr lang="fr-FR" sz="2000" b="1" dirty="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114015" y="5162491"/>
            <a:ext cx="1892165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 rtl="1">
              <a:lnSpc>
                <a:spcPct val="115000"/>
              </a:lnSpc>
            </a:pPr>
            <a:r>
              <a:rPr lang="ar-DZ" sz="2000" b="1" dirty="0" smtClean="0">
                <a:solidFill>
                  <a:prstClr val="black"/>
                </a:solidFill>
              </a:rPr>
              <a:t>- يستغل </a:t>
            </a:r>
            <a:r>
              <a:rPr lang="ar-DZ" sz="2000" b="1" dirty="0">
                <a:solidFill>
                  <a:prstClr val="black"/>
                </a:solidFill>
              </a:rPr>
              <a:t>النتائج للتحقق من صحة</a:t>
            </a:r>
            <a:endParaRPr lang="fr-FR" sz="2000" b="1" dirty="0">
              <a:solidFill>
                <a:prstClr val="black"/>
              </a:solidFill>
            </a:endParaRPr>
          </a:p>
          <a:p>
            <a:pPr lvl="0" algn="r" defTabSz="457200" rtl="1">
              <a:lnSpc>
                <a:spcPct val="115000"/>
              </a:lnSpc>
            </a:pPr>
            <a:r>
              <a:rPr lang="ar-DZ" sz="2000" b="1" dirty="0">
                <a:solidFill>
                  <a:prstClr val="black"/>
                </a:solidFill>
              </a:rPr>
              <a:t>أو عدم صحة </a:t>
            </a:r>
            <a:r>
              <a:rPr lang="ar-DZ" sz="2000" b="1" dirty="0" smtClean="0">
                <a:solidFill>
                  <a:prstClr val="black"/>
                </a:solidFill>
              </a:rPr>
              <a:t>الفرضيتين مع </a:t>
            </a:r>
            <a:r>
              <a:rPr lang="ar-DZ" sz="2000" b="1" dirty="0">
                <a:solidFill>
                  <a:prstClr val="black"/>
                </a:solidFill>
              </a:rPr>
              <a:t>التعليل.</a:t>
            </a:r>
            <a:endParaRPr lang="fr-FR" sz="2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11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356804"/>
              </p:ext>
            </p:extLst>
          </p:nvPr>
        </p:nvGraphicFramePr>
        <p:xfrm>
          <a:off x="247651" y="285750"/>
          <a:ext cx="9334498" cy="5257800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459133"/>
                <a:gridCol w="1098811"/>
                <a:gridCol w="2203596"/>
                <a:gridCol w="1933377"/>
                <a:gridCol w="1864031"/>
                <a:gridCol w="1775550"/>
              </a:tblGrid>
              <a:tr h="133859">
                <a:tc grid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effectLst/>
                        </a:rPr>
                        <a:t>Items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توضيحات حول </a:t>
                      </a:r>
                      <a:r>
                        <a:rPr lang="fr-FR" sz="2000" b="1">
                          <a:effectLst/>
                        </a:rPr>
                        <a:t>Items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مهمات بسيطة 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مهمات مركبة 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مهمات أكثر تركيبا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</a:tr>
              <a:tr h="1092257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effectLst/>
                        </a:rPr>
                        <a:t>4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يعرض النتائج التي تم الحصول عليها، يبلغ  </a:t>
                      </a:r>
                      <a:endParaRPr lang="fr-FR" sz="2000" b="1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بلغة سليمة 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- يقدم النتائج، الإجابة بطريقة مكيفة </a:t>
                      </a:r>
                      <a:endParaRPr lang="fr-FR" sz="2000" b="1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بتعبير علمي ولغوي دقيق</a:t>
                      </a:r>
                      <a:endParaRPr lang="fr-FR" sz="2000" b="1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effectLst/>
                        </a:rPr>
                        <a:t> </a:t>
                      </a: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- يلخص في شكل نص أو رسم تخطيطي</a:t>
                      </a:r>
                      <a:endParaRPr lang="fr-FR" sz="2000" b="1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 </a:t>
                      </a:r>
                      <a:endParaRPr lang="fr-FR" sz="2000" b="1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>
                          <a:effectLst/>
                        </a:rPr>
                        <a:t>- يستعمل المفاهيم و المفردات العلمية المناسبة</a:t>
                      </a:r>
                      <a:endParaRPr lang="fr-FR" sz="2000" b="1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-يقدم الحل  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محترما التعليمات المقدمة على شكل جملة، فقرة ،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نص علمي قصير</a:t>
                      </a:r>
                      <a:endParaRPr lang="fr-FR" sz="2000" b="1" dirty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( عدد الكلمات بين 50 و 70 ) </a:t>
                      </a:r>
                      <a:r>
                        <a:rPr lang="ar-DZ" sz="2000" b="1" dirty="0" smtClean="0">
                          <a:effectLst/>
                        </a:rPr>
                        <a:t>أو على شكل رسم </a:t>
                      </a:r>
                      <a:r>
                        <a:rPr lang="ar-DZ" sz="2000" b="1" dirty="0">
                          <a:effectLst/>
                        </a:rPr>
                        <a:t>تخطيطي وظيفي </a:t>
                      </a:r>
                      <a:r>
                        <a:rPr lang="ar-DZ" sz="2000" b="1" dirty="0" smtClean="0">
                          <a:effectLst/>
                        </a:rPr>
                        <a:t>بسيط (عدد </a:t>
                      </a:r>
                      <a:r>
                        <a:rPr lang="ar-DZ" sz="2000" b="1" dirty="0">
                          <a:effectLst/>
                        </a:rPr>
                        <a:t>الكلمات العلمية في النص أو الرسم </a:t>
                      </a:r>
                      <a:endParaRPr lang="ar-DZ" sz="2000" b="1" dirty="0" smtClean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 smtClean="0">
                          <a:effectLst/>
                        </a:rPr>
                        <a:t>( </a:t>
                      </a:r>
                      <a:r>
                        <a:rPr lang="ar-DZ" sz="2000" b="1" dirty="0">
                          <a:effectLst/>
                        </a:rPr>
                        <a:t>بين 10 و 14</a:t>
                      </a:r>
                      <a:r>
                        <a:rPr lang="ar-DZ" sz="2000" b="1" dirty="0" smtClean="0">
                          <a:effectLst/>
                        </a:rPr>
                        <a:t>))</a:t>
                      </a: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ar-DZ" sz="2000" b="1" dirty="0" smtClean="0">
                        <a:effectLst/>
                      </a:endParaRPr>
                    </a:p>
                    <a:p>
                      <a:pPr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000" b="1" dirty="0">
                        <a:effectLst/>
                      </a:endParaRPr>
                    </a:p>
                  </a:txBody>
                  <a:tcPr marL="22206" marR="22206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effectLst/>
                        </a:rPr>
                        <a:t> </a:t>
                      </a:r>
                      <a:endParaRPr lang="fr-FR" sz="2000" b="1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2206" marR="22206" marT="0" marB="0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038350" y="549355"/>
            <a:ext cx="180975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 rtl="1">
              <a:lnSpc>
                <a:spcPct val="115000"/>
              </a:lnSpc>
            </a:pPr>
            <a:r>
              <a:rPr lang="ar-DZ" sz="2000" b="1" dirty="0" smtClean="0">
                <a:solidFill>
                  <a:prstClr val="black"/>
                </a:solidFill>
              </a:rPr>
              <a:t>- يقدم </a:t>
            </a:r>
            <a:r>
              <a:rPr lang="ar-DZ" sz="2000" b="1" dirty="0">
                <a:solidFill>
                  <a:prstClr val="black"/>
                </a:solidFill>
              </a:rPr>
              <a:t>الحل  </a:t>
            </a:r>
            <a:endParaRPr lang="fr-FR" sz="2000" b="1" dirty="0">
              <a:solidFill>
                <a:prstClr val="black"/>
              </a:solidFill>
            </a:endParaRPr>
          </a:p>
          <a:p>
            <a:pPr lvl="0" algn="r" defTabSz="457200" rtl="1">
              <a:lnSpc>
                <a:spcPct val="115000"/>
              </a:lnSpc>
            </a:pPr>
            <a:r>
              <a:rPr lang="ar-DZ" sz="2000" b="1" dirty="0">
                <a:solidFill>
                  <a:prstClr val="black"/>
                </a:solidFill>
              </a:rPr>
              <a:t>محترما التعليمات المقدمة على شكل </a:t>
            </a:r>
            <a:r>
              <a:rPr lang="ar-DZ" sz="2000" b="1" dirty="0" smtClean="0">
                <a:solidFill>
                  <a:prstClr val="black"/>
                </a:solidFill>
              </a:rPr>
              <a:t>نص علمي </a:t>
            </a:r>
            <a:r>
              <a:rPr lang="ar-DZ" sz="2000" b="1" dirty="0">
                <a:solidFill>
                  <a:prstClr val="black"/>
                </a:solidFill>
              </a:rPr>
              <a:t>عدد الكلمات بين </a:t>
            </a:r>
            <a:r>
              <a:rPr lang="ar-DZ" sz="2000" b="1" dirty="0" smtClean="0">
                <a:solidFill>
                  <a:prstClr val="black"/>
                </a:solidFill>
              </a:rPr>
              <a:t>70  </a:t>
            </a:r>
            <a:r>
              <a:rPr lang="ar-DZ" sz="2000" b="1" dirty="0">
                <a:solidFill>
                  <a:prstClr val="black"/>
                </a:solidFill>
              </a:rPr>
              <a:t>و </a:t>
            </a:r>
            <a:r>
              <a:rPr lang="ar-DZ" sz="2000" b="1" dirty="0" smtClean="0">
                <a:solidFill>
                  <a:prstClr val="black"/>
                </a:solidFill>
              </a:rPr>
              <a:t>100 </a:t>
            </a:r>
            <a:r>
              <a:rPr lang="ar-DZ" sz="2000" b="1" dirty="0">
                <a:solidFill>
                  <a:prstClr val="black"/>
                </a:solidFill>
              </a:rPr>
              <a:t>) </a:t>
            </a:r>
            <a:r>
              <a:rPr lang="ar-DZ" sz="2000" b="1" dirty="0" smtClean="0">
                <a:solidFill>
                  <a:prstClr val="black"/>
                </a:solidFill>
              </a:rPr>
              <a:t>أو على شكل رسم </a:t>
            </a:r>
            <a:r>
              <a:rPr lang="ar-DZ" sz="2000" b="1" dirty="0">
                <a:solidFill>
                  <a:prstClr val="black"/>
                </a:solidFill>
              </a:rPr>
              <a:t>تخطيطي وظيفي </a:t>
            </a:r>
            <a:r>
              <a:rPr lang="ar-DZ" sz="2000" b="1" dirty="0" smtClean="0">
                <a:solidFill>
                  <a:prstClr val="black"/>
                </a:solidFill>
              </a:rPr>
              <a:t> مركب أو </a:t>
            </a:r>
            <a:r>
              <a:rPr lang="ar-DZ" sz="2000" b="1" dirty="0">
                <a:solidFill>
                  <a:prstClr val="black"/>
                </a:solidFill>
              </a:rPr>
              <a:t>تفسيري </a:t>
            </a:r>
            <a:r>
              <a:rPr lang="ar-DZ" sz="2000" b="1" dirty="0" smtClean="0">
                <a:solidFill>
                  <a:prstClr val="black"/>
                </a:solidFill>
              </a:rPr>
              <a:t>بسيط (عدد </a:t>
            </a:r>
            <a:r>
              <a:rPr lang="ar-DZ" sz="2000" b="1" dirty="0">
                <a:solidFill>
                  <a:prstClr val="black"/>
                </a:solidFill>
              </a:rPr>
              <a:t>الكلمات العلمية في النص أو الرسم </a:t>
            </a:r>
          </a:p>
          <a:p>
            <a:pPr lvl="0" algn="r" defTabSz="457200" rtl="1">
              <a:lnSpc>
                <a:spcPct val="115000"/>
              </a:lnSpc>
            </a:pPr>
            <a:r>
              <a:rPr lang="ar-DZ" sz="2000" b="1" dirty="0">
                <a:solidFill>
                  <a:prstClr val="black"/>
                </a:solidFill>
              </a:rPr>
              <a:t>( بين </a:t>
            </a:r>
            <a:r>
              <a:rPr lang="ar-DZ" sz="2000" b="1" dirty="0" smtClean="0">
                <a:solidFill>
                  <a:prstClr val="black"/>
                </a:solidFill>
              </a:rPr>
              <a:t>15 </a:t>
            </a:r>
            <a:r>
              <a:rPr lang="ar-DZ" sz="2000" b="1" dirty="0">
                <a:solidFill>
                  <a:prstClr val="black"/>
                </a:solidFill>
              </a:rPr>
              <a:t>و </a:t>
            </a:r>
            <a:r>
              <a:rPr lang="ar-DZ" sz="2000" b="1" dirty="0" smtClean="0">
                <a:solidFill>
                  <a:prstClr val="black"/>
                </a:solidFill>
              </a:rPr>
              <a:t>20))،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228600" y="752060"/>
            <a:ext cx="1809750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 rtl="1">
              <a:lnSpc>
                <a:spcPct val="115000"/>
              </a:lnSpc>
            </a:pPr>
            <a:r>
              <a:rPr lang="ar-DZ" sz="2000" b="1" dirty="0" smtClean="0">
                <a:solidFill>
                  <a:prstClr val="black"/>
                </a:solidFill>
              </a:rPr>
              <a:t>- يقدم </a:t>
            </a:r>
            <a:r>
              <a:rPr lang="ar-DZ" sz="2000" b="1" dirty="0">
                <a:solidFill>
                  <a:prstClr val="black"/>
                </a:solidFill>
              </a:rPr>
              <a:t>الحل  </a:t>
            </a:r>
            <a:endParaRPr lang="fr-FR" sz="2000" b="1" dirty="0">
              <a:solidFill>
                <a:prstClr val="black"/>
              </a:solidFill>
            </a:endParaRPr>
          </a:p>
          <a:p>
            <a:pPr lvl="0" algn="r" defTabSz="457200" rtl="1">
              <a:lnSpc>
                <a:spcPct val="115000"/>
              </a:lnSpc>
            </a:pPr>
            <a:r>
              <a:rPr lang="ar-DZ" sz="2000" b="1" dirty="0">
                <a:solidFill>
                  <a:prstClr val="black"/>
                </a:solidFill>
              </a:rPr>
              <a:t>محترما التعليمات المقدمة على شكل </a:t>
            </a:r>
            <a:r>
              <a:rPr lang="ar-DZ" sz="2000" b="1" dirty="0" smtClean="0">
                <a:solidFill>
                  <a:prstClr val="black"/>
                </a:solidFill>
              </a:rPr>
              <a:t>نص علمي </a:t>
            </a:r>
            <a:r>
              <a:rPr lang="ar-DZ" sz="2000" b="1" dirty="0">
                <a:solidFill>
                  <a:prstClr val="black"/>
                </a:solidFill>
              </a:rPr>
              <a:t>عدد الكلمات </a:t>
            </a:r>
            <a:r>
              <a:rPr lang="ar-DZ" sz="2000" b="1" dirty="0" smtClean="0">
                <a:solidFill>
                  <a:prstClr val="black"/>
                </a:solidFill>
              </a:rPr>
              <a:t>يفوق 100 </a:t>
            </a:r>
            <a:r>
              <a:rPr lang="ar-DZ" sz="2000" b="1" dirty="0">
                <a:solidFill>
                  <a:prstClr val="black"/>
                </a:solidFill>
              </a:rPr>
              <a:t>) </a:t>
            </a:r>
            <a:r>
              <a:rPr lang="ar-DZ" sz="2000" b="1" dirty="0" smtClean="0">
                <a:solidFill>
                  <a:prstClr val="black"/>
                </a:solidFill>
              </a:rPr>
              <a:t>أو على شكل  رسم </a:t>
            </a:r>
            <a:r>
              <a:rPr lang="ar-DZ" sz="2000" b="1" dirty="0">
                <a:solidFill>
                  <a:prstClr val="black"/>
                </a:solidFill>
              </a:rPr>
              <a:t>تخطيطي وظيفي </a:t>
            </a:r>
            <a:r>
              <a:rPr lang="ar-DZ" sz="2000" b="1" dirty="0" smtClean="0">
                <a:solidFill>
                  <a:prstClr val="black"/>
                </a:solidFill>
              </a:rPr>
              <a:t> مركب أو </a:t>
            </a:r>
            <a:r>
              <a:rPr lang="ar-DZ" sz="2000" b="1" dirty="0">
                <a:solidFill>
                  <a:prstClr val="black"/>
                </a:solidFill>
              </a:rPr>
              <a:t>تفسيري </a:t>
            </a:r>
            <a:r>
              <a:rPr lang="ar-DZ" sz="2000" b="1" dirty="0" smtClean="0">
                <a:solidFill>
                  <a:prstClr val="black"/>
                </a:solidFill>
              </a:rPr>
              <a:t>مركب (عدد </a:t>
            </a:r>
            <a:r>
              <a:rPr lang="ar-DZ" sz="2000" b="1" dirty="0">
                <a:solidFill>
                  <a:prstClr val="black"/>
                </a:solidFill>
              </a:rPr>
              <a:t>الكلمات العلمية في النص أو الرسم </a:t>
            </a:r>
          </a:p>
          <a:p>
            <a:pPr lvl="0" algn="r" defTabSz="457200" rtl="1">
              <a:lnSpc>
                <a:spcPct val="115000"/>
              </a:lnSpc>
            </a:pPr>
            <a:r>
              <a:rPr lang="ar-DZ" sz="2000" b="1" dirty="0" smtClean="0">
                <a:solidFill>
                  <a:prstClr val="black"/>
                </a:solidFill>
              </a:rPr>
              <a:t>(أكتر من 20))،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205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2b4a9e9d833821e6d5d61d86df51fcaf4fd55baf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rection Ion">
  <a:themeElements>
    <a:clrScheme name="Direction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Direction 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rection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3473</TotalTime>
  <Words>1566</Words>
  <Application>Microsoft Office PowerPoint</Application>
  <PresentationFormat>Format A4 (210 x 297 mm)</PresentationFormat>
  <Paragraphs>661</Paragraphs>
  <Slides>16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Direction 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l’analyse de la consigne تحليل التعليمة</vt:lpstr>
      <vt:lpstr>المراحل الذهنية الواجب القيام بها لإنجاز المهمة</vt:lpstr>
      <vt:lpstr>Présentation PowerPoint</vt:lpstr>
      <vt:lpstr>Présentation PowerPoint</vt:lpstr>
      <vt:lpstr>بناء مهمات مركبة 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dj amri</dc:creator>
  <cp:lastModifiedBy>ASUS</cp:lastModifiedBy>
  <cp:revision>403</cp:revision>
  <dcterms:created xsi:type="dcterms:W3CDTF">2015-06-05T11:18:18Z</dcterms:created>
  <dcterms:modified xsi:type="dcterms:W3CDTF">2026-02-03T21:53:21Z</dcterms:modified>
</cp:coreProperties>
</file>